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13 of 25, K4. 180 min with two 10-minute breaks.
Timeline: 0:00 homework check (20) - 0:20 pull-ups (25) - break - 0:55 protocol on paper (30) - 1:25 wiring and scanner (15) - break - 1:50 lab by hand (50) - 2:40 library (15) - 2:55 summary (5).
Hardware: one AHT10 module per pair, instructor keeps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Point out that the last item comes back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0:00 - 20 min. Ask first: who got it running, who saw it freeze?
Let a student explain why: the answering side runs in the same loop(), so while loop() is stuck in the while, nobody answers.
replyComplete() is shorthand for the line assembly they already wrote.
The fix is the same IDLE / WAITING machine as in the session 12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start of the electrical block, 25 min including the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before showing card 3: if every device can only pull low or let go, what is the line when everybody lets go? Answer: undefined, it floats.
Value trade-off if asked: smaller resistor = faster rising edges but more current while low. 4.7k is the usual start at 100 kHz.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pairs, about 10 min. Collect the measured values on the board, one line per module.
Before class the instructor has measured all three (Open decision 7) - use that to check the students' numbers, do not hand them the answer.
If a module has no pull-ups: hand out 4.7k resistors, two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after the first break. 30 min including the paper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wires shared by everyone, each device has a 7-bit address. The master (the Pico) drives the clock and starts every transaction.
Walk through the waveform left to right: idle both high; SDA falls while SCL is high = START; then data bits, each one sampled while SCL is high; SDA rises while SCL is high = STOP.
Ask: why can a START never be mistaken for data? Because data never changes while SCL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shift on the board: 0x38 &lt;&lt; 1 = 0x70, OR 1 for read = 0x71.
The 0x70 notation is a classic source of 'my sensor is not found': someone passes 0x70 to Wire, which shifts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pull-ups: NACK is simply the absence of a pull. Without a pull-up, even that answer is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Register-based is theory today: the OPT4001 we planned for is gone, and the AHT10 does not use registers. They will meet register devices in final projects and in the analyzer session.
Ask: why is the repeated start needed? So no other master can grab the bus between setting the pointer and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(show on the board after 8 min):
Write: S | 0x70 A | 0xAC A | 0x33 A | 0x00 A | P
Read:  S | 0x71 A | status A | b1 A | b2 A | b3 A | b4 A | b5 N | P
In the write, the sensor ACKs every byte. In the read, the master ACKs bytes 0..4 and NACKs byte 5, then stops.
Common mistakes: 0x38 instead of 0x70 as the first byte; ACK after the last read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call to the paper exercise: beginTransmission + write + endTransmission = the whole write line; requestFrom = the whole read line including the final NACK and stop.
In student code the address and command bytes become named constants at the top of the file - the slide keeps literals for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1:25 - 15 min, pairs. The scanner is in the demo project; they run it as is.
Before showing the checklist in the callout, ask the class to build it themselves: what could make the scan come back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trap family as Arduino-ESP32 core 3.x vs 2.x.
If a module never reports calibrated after 0xE1: soft reset 0xBA, try again; if still not set, it may be an AHT20 sold as AHT10 - try 0xBE.
The state machine is the session 12 IDLE / WAITING pattern with one more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give the unpacking code: it is stage 3 of the lab.
For the instructor: hum = (b1 &lt;&lt; 12) | (b2 &lt;&lt; 4) | (b3 &gt;&gt; 4); temp = ((b3 &amp; 0x0F) &lt;&lt; 16) | (b4 &lt;&lt; 8) | b5. Cast to uint32_t before shifting.
Sanity values: room air 30..60 %RH, 20..25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1:50 - 50 min, pairs. Stage 1 about 10 min, stage 2 about 15, stage 3 about 20.
Stretch for fast pairs: integer hundredths instead of float (the RP2040 has no FPU). Watch the overflow: raw * 20000 does not fit in 32 bits.
If time runs short, stage 3 finishes as part of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2:40 - 15 min. Open the library source together (Adafruit_AHTX0.cpp) and find the busy loop - reading other people's drivers is part of the job.
Expected dt: about 80 ms. Same micros() method as session 11.
Compare the numbers with the by-hand version: they should agree within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2:55 - 5 min. Modules go home with the students who do the homework.
Next session: SPI and the Nokia 5110; the AHT10 reading goes on the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ADCFC"/>
          </a:solidFill>
          <a:ln/>
        </p:spPr>
      </p:sp>
      <p:sp>
        <p:nvSpPr>
          <p:cNvPr id="3" name="Shape 1"/>
          <p:cNvSpPr/>
          <p:nvPr/>
        </p:nvSpPr>
        <p:spPr>
          <a:xfrm>
            <a:off x="0" y="5088636"/>
            <a:ext cx="9144000" cy="54864"/>
          </a:xfrm>
          <a:prstGeom prst="rect">
            <a:avLst/>
          </a:prstGeom>
          <a:solidFill>
            <a:srgbClr val="CADCFC"/>
          </a:solidFill>
          <a:ln/>
        </p:spPr>
      </p:sp>
      <p:pic>
        <p:nvPicPr>
          <p:cNvPr id="4" name="Image 0" descr="preencoded.png">    </p:cNvPr>
          <p:cNvPicPr>
            <a:picLocks noChangeAspect="1"/>
          </p:cNvPicPr>
          <p:nvPr/>
        </p:nvPicPr>
        <p:blipFill>
          <a:blip r:embed="rId1"/>
          <a:stretch>
            <a:fillRect/>
          </a:stretch>
        </p:blipFill>
        <p:spPr>
          <a:xfrm>
            <a:off x="4114800" y="640080"/>
            <a:ext cx="914400" cy="914400"/>
          </a:xfrm>
          <a:prstGeom prst="rect">
            <a:avLst/>
          </a:prstGeom>
        </p:spPr>
      </p:pic>
      <p:sp>
        <p:nvSpPr>
          <p:cNvPr id="5" name="Text 2"/>
          <p:cNvSpPr/>
          <p:nvPr/>
        </p:nvSpPr>
        <p:spPr>
          <a:xfrm>
            <a:off x="457200" y="1691640"/>
            <a:ext cx="8229600" cy="365760"/>
          </a:xfrm>
          <a:prstGeom prst="rect">
            <a:avLst/>
          </a:prstGeom>
          <a:noFill/>
          <a:ln/>
        </p:spPr>
        <p:txBody>
          <a:bodyPr wrap="square" lIns="0" tIns="0" rIns="0" bIns="0" rtlCol="0" anchor="ctr"/>
          <a:lstStyle/>
          <a:p>
            <a:pPr algn="ctr" indent="0" marL="0">
              <a:buNone/>
            </a:pPr>
            <a:r>
              <a:rPr lang="en-US" sz="1300" b="1" spc="200" kern="0" dirty="0">
                <a:solidFill>
                  <a:srgbClr val="8892B0"/>
                </a:solidFill>
                <a:latin typeface="Calibri" pitchFamily="34" charset="0"/>
                <a:ea typeface="Calibri" pitchFamily="34" charset="-122"/>
                <a:cs typeface="Calibri" pitchFamily="34" charset="-120"/>
              </a:rPr>
              <a:t>LESSON 13</a:t>
            </a:r>
            <a:endParaRPr lang="en-US" sz="1300" dirty="0"/>
          </a:p>
        </p:txBody>
      </p:sp>
      <p:sp>
        <p:nvSpPr>
          <p:cNvPr id="6" name="Text 3"/>
          <p:cNvSpPr/>
          <p:nvPr/>
        </p:nvSpPr>
        <p:spPr>
          <a:xfrm>
            <a:off x="457200" y="2011680"/>
            <a:ext cx="822960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I2C and the AHT10</a:t>
            </a:r>
            <a:endParaRPr lang="en-US" sz="4000" dirty="0"/>
          </a:p>
        </p:txBody>
      </p:sp>
      <p:sp>
        <p:nvSpPr>
          <p:cNvPr id="7" name="Shape 4"/>
          <p:cNvSpPr/>
          <p:nvPr/>
        </p:nvSpPr>
        <p:spPr>
          <a:xfrm>
            <a:off x="3200400" y="2926080"/>
            <a:ext cx="2743200" cy="27432"/>
          </a:xfrm>
          <a:prstGeom prst="rect">
            <a:avLst/>
          </a:prstGeom>
          <a:solidFill>
            <a:srgbClr val="3A4A8A"/>
          </a:solidFill>
          <a:ln/>
        </p:spPr>
      </p:sp>
      <p:sp>
        <p:nvSpPr>
          <p:cNvPr id="8" name="Text 5"/>
          <p:cNvSpPr/>
          <p:nvPr/>
        </p:nvSpPr>
        <p:spPr>
          <a:xfrm>
            <a:off x="457200" y="3108960"/>
            <a:ext cx="8229600" cy="457200"/>
          </a:xfrm>
          <a:prstGeom prst="rect">
            <a:avLst/>
          </a:prstGeom>
          <a:noFill/>
          <a:ln/>
        </p:spPr>
        <p:txBody>
          <a:bodyPr wrap="square" lIns="0" tIns="0" rIns="0" bIns="0" rtlCol="0" anchor="ctr"/>
          <a:lstStyle/>
          <a:p>
            <a:pPr algn="ctr" indent="0" marL="0">
              <a:buNone/>
            </a:pPr>
            <a:r>
              <a:rPr lang="en-US" sz="1600" dirty="0">
                <a:solidFill>
                  <a:srgbClr val="CADCFC"/>
                </a:solidFill>
                <a:latin typeface="Trebuchet MS" pitchFamily="34" charset="0"/>
                <a:ea typeface="Trebuchet MS" pitchFamily="34" charset="-122"/>
                <a:cs typeface="Trebuchet MS" pitchFamily="34" charset="-120"/>
              </a:rPr>
              <a:t>Two wires, many devices, and a sensor that takes commands</a:t>
            </a:r>
            <a:endParaRPr lang="en-US" sz="1600" dirty="0"/>
          </a:p>
        </p:txBody>
      </p:sp>
      <p:sp>
        <p:nvSpPr>
          <p:cNvPr id="9" name="Text 6"/>
          <p:cNvSpPr/>
          <p:nvPr/>
        </p:nvSpPr>
        <p:spPr>
          <a:xfrm>
            <a:off x="457200" y="3611880"/>
            <a:ext cx="8229600" cy="365760"/>
          </a:xfrm>
          <a:prstGeom prst="rect">
            <a:avLst/>
          </a:prstGeom>
          <a:noFill/>
          <a:ln/>
        </p:spPr>
        <p:txBody>
          <a:bodyPr wrap="square"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Embedded Software Development in C/C++</a:t>
            </a:r>
            <a:endParaRPr lang="en-US" sz="1300" dirty="0"/>
          </a:p>
        </p:txBody>
      </p:sp>
      <p:sp>
        <p:nvSpPr>
          <p:cNvPr id="10" name="Text 7"/>
          <p:cNvSpPr/>
          <p:nvPr/>
        </p:nvSpPr>
        <p:spPr>
          <a:xfrm>
            <a:off x="457200" y="4023360"/>
            <a:ext cx="8229600" cy="365760"/>
          </a:xfrm>
          <a:prstGeom prst="rect">
            <a:avLst/>
          </a:prstGeom>
          <a:noFill/>
          <a:ln/>
        </p:spPr>
        <p:txBody>
          <a:bodyPr wrap="square" rtlCol="0" anchor="ctr"/>
          <a:lstStyle/>
          <a:p>
            <a:pPr algn="ctr" indent="0" marL="0">
              <a:buNone/>
            </a:pPr>
            <a:r>
              <a:rPr lang="en-US" sz="1100" dirty="0">
                <a:solidFill>
                  <a:srgbClr val="3A4A8A"/>
                </a:solidFill>
                <a:latin typeface="Calibri" pitchFamily="34" charset="0"/>
                <a:ea typeface="Calibri" pitchFamily="34" charset="-122"/>
                <a:cs typeface="Calibri" pitchFamily="34" charset="-120"/>
              </a:rPr>
              <a:t>Raspberry Pi Pico  |  Arduino-Pico  |  Session 13 of 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Today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457200" y="1188720"/>
            <a:ext cx="8229600" cy="3383280"/>
          </a:xfrm>
          <a:prstGeom prst="rect">
            <a:avLst/>
          </a:prstGeom>
          <a:noFill/>
          <a:ln/>
        </p:spPr>
        <p:txBody>
          <a:bodyPr wrap="square" rtlCol="0" anchor="t"/>
          <a:lstStyle/>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Why I2C lines are open-drain, and why the bus needs pull-ups</a:t>
            </a:r>
            <a:endParaRPr lang="en-US" sz="1800" dirty="0"/>
          </a:p>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Write out an I2C transaction byte by byte: start, address, ACK, data, stop</a:t>
            </a:r>
            <a:endParaRPr lang="en-US" sz="1800" dirty="0"/>
          </a:p>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Register-based vs command-based devices - the AHT10 is the second kind</a:t>
            </a:r>
            <a:endParaRPr lang="en-US" sz="1800" dirty="0"/>
          </a:p>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Find a device with an I2C scanner, and know what to check when it finds nothing</a:t>
            </a:r>
            <a:endParaRPr lang="en-US" sz="1800" dirty="0"/>
          </a:p>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Read the AHT10 by hand with Wire, waiting without delay()</a:t>
            </a:r>
            <a:endParaRPr lang="en-US" sz="1800" dirty="0"/>
          </a:p>
          <a:p>
            <a:pPr marL="342900" indent="-342900">
              <a:lnSpc>
                <a:spcPct val="135000"/>
              </a:lnSpc>
              <a:buSzPct val="100000"/>
              <a:buChar char="■"/>
            </a:pPr>
            <a:r>
              <a:rPr lang="en-US" sz="1800" dirty="0">
                <a:solidFill>
                  <a:srgbClr val="CADCFC"/>
                </a:solidFill>
                <a:latin typeface="Calibri" pitchFamily="34" charset="0"/>
                <a:ea typeface="Calibri" pitchFamily="34" charset="-122"/>
                <a:cs typeface="Calibri" pitchFamily="34" charset="-120"/>
              </a:rPr>
              <a:t>Use a library for the same job - and measure what it costs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Homework Recap: Why It Froze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051560"/>
            <a:ext cx="3931920" cy="2651760"/>
          </a:xfrm>
          <a:prstGeom prst="rect">
            <a:avLst/>
          </a:prstGeom>
          <a:solidFill>
            <a:srgbClr val="0D1117"/>
          </a:solidFill>
          <a:ln w="12700">
            <a:solidFill>
              <a:srgbClr val="3A4A8A"/>
            </a:solidFill>
            <a:prstDash val="solid"/>
          </a:ln>
        </p:spPr>
      </p:sp>
      <p:sp>
        <p:nvSpPr>
          <p:cNvPr id="7" name="Text 5"/>
          <p:cNvSpPr/>
          <p:nvPr/>
        </p:nvSpPr>
        <p:spPr>
          <a:xfrm>
            <a:off x="566928" y="1143000"/>
            <a:ext cx="3712464" cy="2468880"/>
          </a:xfrm>
          <a:prstGeom prst="rect">
            <a:avLst/>
          </a:prstGeom>
          <a:noFill/>
          <a:ln/>
        </p:spPr>
        <p:txBody>
          <a:bodyPr wrap="square" lIns="0" tIns="0" rIns="0" bIns="0" rtlCol="0" anchor="t"/>
          <a:lstStyle/>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Serial2.print("POT?\n");</a:t>
            </a:r>
            <a:endParaRPr lang="en-US" sz="1200" dirty="0"/>
          </a:p>
          <a:p>
            <a:pPr indent="0" marL="0">
              <a:lnSpc>
                <a:spcPct val="100000"/>
              </a:lnSpc>
              <a:buNone/>
            </a:pP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 wait for the answer</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while (!replyComplete()) {</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    // the pot side never runs:</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    // it lives in this same loop()</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a:t>
            </a:r>
            <a:endParaRPr lang="en-US" sz="1200" dirty="0"/>
          </a:p>
        </p:txBody>
      </p:sp>
      <p:sp>
        <p:nvSpPr>
          <p:cNvPr id="8" name="Text 6"/>
          <p:cNvSpPr/>
          <p:nvPr/>
        </p:nvSpPr>
        <p:spPr>
          <a:xfrm>
            <a:off x="457200" y="3749040"/>
            <a:ext cx="393192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Blocking wait: deadlock</a:t>
            </a:r>
            <a:endParaRPr lang="en-US" sz="1000" dirty="0"/>
          </a:p>
        </p:txBody>
      </p:sp>
      <p:sp>
        <p:nvSpPr>
          <p:cNvPr id="9" name="Shape 7"/>
          <p:cNvSpPr/>
          <p:nvPr/>
        </p:nvSpPr>
        <p:spPr>
          <a:xfrm>
            <a:off x="4754880" y="1051560"/>
            <a:ext cx="3931920" cy="2651760"/>
          </a:xfrm>
          <a:prstGeom prst="rect">
            <a:avLst/>
          </a:prstGeom>
          <a:solidFill>
            <a:srgbClr val="0D1117"/>
          </a:solidFill>
          <a:ln w="12700">
            <a:solidFill>
              <a:srgbClr val="3A4A8A"/>
            </a:solidFill>
            <a:prstDash val="solid"/>
          </a:ln>
        </p:spPr>
      </p:sp>
      <p:sp>
        <p:nvSpPr>
          <p:cNvPr id="10" name="Text 8"/>
          <p:cNvSpPr/>
          <p:nvPr/>
        </p:nvSpPr>
        <p:spPr>
          <a:xfrm>
            <a:off x="4864608" y="1143000"/>
            <a:ext cx="3712464" cy="2468880"/>
          </a:xfrm>
          <a:prstGeom prst="rect">
            <a:avLst/>
          </a:prstGeom>
          <a:noFill/>
          <a:ln/>
        </p:spPr>
        <p:txBody>
          <a:bodyPr wrap="square" lIns="0" tIns="0" rIns="0" bIns="0" rtlCol="0" anchor="t"/>
          <a:lstStyle/>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switch (state)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case State::IDLE:</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Serial2.print("POT?\n");</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sentAt = millis();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state = State::WAITING;</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break;</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case State::WAITING:</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if (replyComplete()) { /* use it */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break;</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a:t>
            </a:r>
            <a:endParaRPr lang="en-US" sz="1000" dirty="0"/>
          </a:p>
        </p:txBody>
      </p:sp>
      <p:sp>
        <p:nvSpPr>
          <p:cNvPr id="11" name="Text 9"/>
          <p:cNvSpPr/>
          <p:nvPr/>
        </p:nvSpPr>
        <p:spPr>
          <a:xfrm>
            <a:off x="4754880" y="3749040"/>
            <a:ext cx="393192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State machine: loop() keeps turning</a:t>
            </a:r>
            <a:endParaRPr lang="en-US" sz="1000" dirty="0"/>
          </a:p>
        </p:txBody>
      </p:sp>
      <p:sp>
        <p:nvSpPr>
          <p:cNvPr id="12" name="Shape 10"/>
          <p:cNvSpPr/>
          <p:nvPr/>
        </p:nvSpPr>
        <p:spPr>
          <a:xfrm>
            <a:off x="457200" y="4041648"/>
            <a:ext cx="8229600" cy="566928"/>
          </a:xfrm>
          <a:prstGeom prst="rect">
            <a:avLst/>
          </a:prstGeom>
          <a:solidFill>
            <a:srgbClr val="253270"/>
          </a:solidFill>
          <a:ln w="12700">
            <a:solidFill>
              <a:srgbClr val="CADCFC"/>
            </a:solidFill>
            <a:prstDash val="solid"/>
          </a:ln>
        </p:spPr>
      </p:sp>
      <p:sp>
        <p:nvSpPr>
          <p:cNvPr id="13" name="Shape 11"/>
          <p:cNvSpPr/>
          <p:nvPr/>
        </p:nvSpPr>
        <p:spPr>
          <a:xfrm>
            <a:off x="457200" y="4041648"/>
            <a:ext cx="64008" cy="566928"/>
          </a:xfrm>
          <a:prstGeom prst="rect">
            <a:avLst/>
          </a:prstGeom>
          <a:solidFill>
            <a:srgbClr val="CADCFC"/>
          </a:solidFill>
          <a:ln/>
        </p:spPr>
      </p:sp>
      <p:sp>
        <p:nvSpPr>
          <p:cNvPr id="14" name="Text 12"/>
          <p:cNvSpPr/>
          <p:nvPr/>
        </p:nvSpPr>
        <p:spPr>
          <a:xfrm>
            <a:off x="685800" y="4114800"/>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Keep this pattern in mind</a:t>
            </a:r>
            <a:endParaRPr lang="en-US" sz="1300" dirty="0"/>
          </a:p>
        </p:txBody>
      </p:sp>
      <p:sp>
        <p:nvSpPr>
          <p:cNvPr id="15" name="Text 13"/>
          <p:cNvSpPr/>
          <p:nvPr/>
        </p:nvSpPr>
        <p:spPr>
          <a:xfrm>
            <a:off x="685800" y="4389120"/>
            <a:ext cx="7863840" cy="155448"/>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AHT10 needs about 80 ms per measurement. Today we wait for it the same way.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Pull-ups</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Why a two-wire bus needs two resistors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Push-Pull vs Open-Drain</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457200" y="1188720"/>
            <a:ext cx="2590800" cy="2103120"/>
          </a:xfrm>
          <a:prstGeom prst="rect">
            <a:avLst/>
          </a:prstGeom>
          <a:solidFill>
            <a:srgbClr val="253270"/>
          </a:solidFill>
          <a:ln w="25400">
            <a:solidFill>
              <a:srgbClr val="FF5252"/>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Push-pull</a:t>
            </a:r>
            <a:endParaRPr lang="en-US" sz="1700" dirty="0"/>
          </a:p>
        </p:txBody>
      </p:sp>
      <p:sp>
        <p:nvSpPr>
          <p:cNvPr id="8" name="Text 6"/>
          <p:cNvSpPr/>
          <p:nvPr/>
        </p:nvSpPr>
        <p:spPr>
          <a:xfrm>
            <a:off x="5943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Drives HIGH and drives LOW. This is what digitalWrite() does.</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Two outputs on one wire, one HIGH and one LOW: a short circuit.</a:t>
            </a:r>
            <a:endParaRPr lang="en-US" sz="1200" dirty="0"/>
          </a:p>
        </p:txBody>
      </p:sp>
      <p:sp>
        <p:nvSpPr>
          <p:cNvPr id="9" name="Shape 7"/>
          <p:cNvSpPr/>
          <p:nvPr/>
        </p:nvSpPr>
        <p:spPr>
          <a:xfrm>
            <a:off x="3276600" y="1188720"/>
            <a:ext cx="2590800" cy="2103120"/>
          </a:xfrm>
          <a:prstGeom prst="rect">
            <a:avLst/>
          </a:prstGeom>
          <a:solidFill>
            <a:srgbClr val="253270"/>
          </a:solidFill>
          <a:ln w="25400">
            <a:solidFill>
              <a:srgbClr val="4CAF50"/>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32766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Open-drain</a:t>
            </a:r>
            <a:endParaRPr lang="en-US" sz="1700" dirty="0"/>
          </a:p>
        </p:txBody>
      </p:sp>
      <p:sp>
        <p:nvSpPr>
          <p:cNvPr id="11" name="Text 9"/>
          <p:cNvSpPr/>
          <p:nvPr/>
        </p:nvSpPr>
        <p:spPr>
          <a:xfrm>
            <a:off x="34137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Can only pull LOW, or let go.</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Any number of devices can share one wire. Nobody can fight.</a:t>
            </a:r>
            <a:endParaRPr lang="en-US" sz="1200" dirty="0"/>
          </a:p>
        </p:txBody>
      </p:sp>
      <p:sp>
        <p:nvSpPr>
          <p:cNvPr id="12" name="Shape 10"/>
          <p:cNvSpPr/>
          <p:nvPr/>
        </p:nvSpPr>
        <p:spPr>
          <a:xfrm>
            <a:off x="6096000" y="1188720"/>
            <a:ext cx="2590800" cy="2103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3" name="Text 11"/>
          <p:cNvSpPr/>
          <p:nvPr/>
        </p:nvSpPr>
        <p:spPr>
          <a:xfrm>
            <a:off x="60960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Let go = ?</a:t>
            </a:r>
            <a:endParaRPr lang="en-US" sz="1700" dirty="0"/>
          </a:p>
        </p:txBody>
      </p:sp>
      <p:sp>
        <p:nvSpPr>
          <p:cNvPr id="14" name="Text 12"/>
          <p:cNvSpPr/>
          <p:nvPr/>
        </p:nvSpPr>
        <p:spPr>
          <a:xfrm>
            <a:off x="62331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Nobody drives the line: it floats.</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A pull-up resistor makes "let go" mean HIGH.</a:t>
            </a:r>
            <a:endParaRPr lang="en-US" sz="1200" dirty="0"/>
          </a:p>
        </p:txBody>
      </p:sp>
      <p:sp>
        <p:nvSpPr>
          <p:cNvPr id="15" name="Shape 13"/>
          <p:cNvSpPr/>
          <p:nvPr/>
        </p:nvSpPr>
        <p:spPr>
          <a:xfrm>
            <a:off x="457200" y="3566160"/>
            <a:ext cx="8229600" cy="777240"/>
          </a:xfrm>
          <a:prstGeom prst="rect">
            <a:avLst/>
          </a:prstGeom>
          <a:solidFill>
            <a:srgbClr val="253270"/>
          </a:solidFill>
          <a:ln w="12700">
            <a:solidFill>
              <a:srgbClr val="CADCFC"/>
            </a:solidFill>
            <a:prstDash val="solid"/>
          </a:ln>
        </p:spPr>
      </p:sp>
      <p:sp>
        <p:nvSpPr>
          <p:cNvPr id="16" name="Shape 14"/>
          <p:cNvSpPr/>
          <p:nvPr/>
        </p:nvSpPr>
        <p:spPr>
          <a:xfrm>
            <a:off x="457200" y="3566160"/>
            <a:ext cx="64008" cy="777240"/>
          </a:xfrm>
          <a:prstGeom prst="rect">
            <a:avLst/>
          </a:prstGeom>
          <a:solidFill>
            <a:srgbClr val="CADCFC"/>
          </a:solidFill>
          <a:ln/>
        </p:spPr>
      </p:sp>
      <p:sp>
        <p:nvSpPr>
          <p:cNvPr id="17" name="Text 15"/>
          <p:cNvSpPr/>
          <p:nvPr/>
        </p:nvSpPr>
        <p:spPr>
          <a:xfrm>
            <a:off x="685800" y="363931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You have seen this before</a:t>
            </a:r>
            <a:endParaRPr lang="en-US" sz="1300" dirty="0"/>
          </a:p>
        </p:txBody>
      </p:sp>
      <p:sp>
        <p:nvSpPr>
          <p:cNvPr id="18" name="Text 16"/>
          <p:cNvSpPr/>
          <p:nvPr/>
        </p:nvSpPr>
        <p:spPr>
          <a:xfrm>
            <a:off x="685800" y="391363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INPUT_PULLUP on the K3 buttons: the button pulls LOW, the internal pull-up makes released = HIGH.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One Resistor per Line - Check Your Module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457200" y="1051560"/>
            <a:ext cx="548640" cy="274320"/>
          </a:xfrm>
          <a:prstGeom prst="rect">
            <a:avLst/>
          </a:prstGeom>
          <a:noFill/>
          <a:ln/>
        </p:spPr>
        <p:txBody>
          <a:bodyPr wrap="square" lIns="0" tIns="0" rIns="0" bIns="0" rtlCol="0" anchor="ctr"/>
          <a:lstStyle/>
          <a:p>
            <a:pPr algn="l" indent="0" marL="0">
              <a:buNone/>
            </a:pPr>
            <a:r>
              <a:rPr lang="en-US" sz="1200" b="1" dirty="0">
                <a:solidFill>
                  <a:srgbClr val="FFB300"/>
                </a:solidFill>
                <a:latin typeface="Calibri" pitchFamily="34" charset="0"/>
                <a:ea typeface="Calibri" pitchFamily="34" charset="-122"/>
                <a:cs typeface="Calibri" pitchFamily="34" charset="-120"/>
              </a:rPr>
              <a:t>3V3</a:t>
            </a:r>
            <a:endParaRPr lang="en-US" sz="1200" dirty="0"/>
          </a:p>
        </p:txBody>
      </p:sp>
      <p:sp>
        <p:nvSpPr>
          <p:cNvPr id="7" name="Shape 5"/>
          <p:cNvSpPr/>
          <p:nvPr/>
        </p:nvSpPr>
        <p:spPr>
          <a:xfrm>
            <a:off x="822960" y="1325880"/>
            <a:ext cx="3383280" cy="0"/>
          </a:xfrm>
          <a:prstGeom prst="line">
            <a:avLst/>
          </a:prstGeom>
          <a:noFill/>
          <a:ln w="25400">
            <a:solidFill>
              <a:srgbClr val="FFB300"/>
            </a:solidFill>
            <a:prstDash val="solid"/>
          </a:ln>
        </p:spPr>
      </p:sp>
      <p:sp>
        <p:nvSpPr>
          <p:cNvPr id="8" name="Shape 6"/>
          <p:cNvSpPr/>
          <p:nvPr/>
        </p:nvSpPr>
        <p:spPr>
          <a:xfrm>
            <a:off x="2446020" y="1325880"/>
            <a:ext cx="0" cy="182880"/>
          </a:xfrm>
          <a:prstGeom prst="line">
            <a:avLst/>
          </a:prstGeom>
          <a:noFill/>
          <a:ln w="19050">
            <a:solidFill>
              <a:srgbClr val="CADCFC"/>
            </a:solidFill>
            <a:prstDash val="solid"/>
          </a:ln>
        </p:spPr>
      </p:sp>
      <p:sp>
        <p:nvSpPr>
          <p:cNvPr id="9" name="Shape 7"/>
          <p:cNvSpPr/>
          <p:nvPr/>
        </p:nvSpPr>
        <p:spPr>
          <a:xfrm>
            <a:off x="2331720" y="1508760"/>
            <a:ext cx="228600" cy="594360"/>
          </a:xfrm>
          <a:prstGeom prst="rect">
            <a:avLst/>
          </a:prstGeom>
          <a:solidFill>
            <a:srgbClr val="1E2761"/>
          </a:solidFill>
          <a:ln w="19050">
            <a:solidFill>
              <a:srgbClr val="CADCFC"/>
            </a:solidFill>
            <a:prstDash val="solid"/>
          </a:ln>
        </p:spPr>
      </p:sp>
      <p:sp>
        <p:nvSpPr>
          <p:cNvPr id="10" name="Text 8"/>
          <p:cNvSpPr/>
          <p:nvPr/>
        </p:nvSpPr>
        <p:spPr>
          <a:xfrm>
            <a:off x="2651760" y="1600200"/>
            <a:ext cx="73152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4.7k</a:t>
            </a:r>
            <a:endParaRPr lang="en-US" sz="1300" dirty="0"/>
          </a:p>
        </p:txBody>
      </p:sp>
      <p:sp>
        <p:nvSpPr>
          <p:cNvPr id="11" name="Shape 9"/>
          <p:cNvSpPr/>
          <p:nvPr/>
        </p:nvSpPr>
        <p:spPr>
          <a:xfrm>
            <a:off x="2446020" y="2103120"/>
            <a:ext cx="0" cy="411480"/>
          </a:xfrm>
          <a:prstGeom prst="line">
            <a:avLst/>
          </a:prstGeom>
          <a:noFill/>
          <a:ln w="19050">
            <a:solidFill>
              <a:srgbClr val="CADCFC"/>
            </a:solidFill>
            <a:prstDash val="solid"/>
          </a:ln>
        </p:spPr>
      </p:sp>
      <p:sp>
        <p:nvSpPr>
          <p:cNvPr id="12" name="Shape 10"/>
          <p:cNvSpPr/>
          <p:nvPr/>
        </p:nvSpPr>
        <p:spPr>
          <a:xfrm>
            <a:off x="822960" y="2514600"/>
            <a:ext cx="3383280" cy="0"/>
          </a:xfrm>
          <a:prstGeom prst="line">
            <a:avLst/>
          </a:prstGeom>
          <a:noFill/>
          <a:ln w="31750">
            <a:solidFill>
              <a:srgbClr val="CADCFC"/>
            </a:solidFill>
            <a:prstDash val="solid"/>
          </a:ln>
        </p:spPr>
      </p:sp>
      <p:sp>
        <p:nvSpPr>
          <p:cNvPr id="13" name="Text 11"/>
          <p:cNvSpPr/>
          <p:nvPr/>
        </p:nvSpPr>
        <p:spPr>
          <a:xfrm>
            <a:off x="365760" y="2194560"/>
            <a:ext cx="54864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SDA</a:t>
            </a:r>
            <a:endParaRPr lang="en-US" sz="1200" dirty="0"/>
          </a:p>
        </p:txBody>
      </p:sp>
      <p:sp>
        <p:nvSpPr>
          <p:cNvPr id="14" name="Shape 12"/>
          <p:cNvSpPr/>
          <p:nvPr/>
        </p:nvSpPr>
        <p:spPr>
          <a:xfrm>
            <a:off x="1508760" y="2514600"/>
            <a:ext cx="0" cy="457200"/>
          </a:xfrm>
          <a:prstGeom prst="line">
            <a:avLst/>
          </a:prstGeom>
          <a:noFill/>
          <a:ln w="19050">
            <a:solidFill>
              <a:srgbClr val="CADCFC"/>
            </a:solidFill>
            <a:prstDash val="solid"/>
          </a:ln>
        </p:spPr>
      </p:sp>
      <p:sp>
        <p:nvSpPr>
          <p:cNvPr id="15" name="Shape 13"/>
          <p:cNvSpPr/>
          <p:nvPr/>
        </p:nvSpPr>
        <p:spPr>
          <a:xfrm>
            <a:off x="960120" y="2971800"/>
            <a:ext cx="1097280" cy="731520"/>
          </a:xfrm>
          <a:prstGeom prst="rect">
            <a:avLst/>
          </a:prstGeom>
          <a:solidFill>
            <a:srgbClr val="253270"/>
          </a:solidFill>
          <a:ln w="12700">
            <a:solidFill>
              <a:srgbClr val="3A4A8A"/>
            </a:solidFill>
            <a:prstDash val="solid"/>
          </a:ln>
        </p:spPr>
      </p:sp>
      <p:sp>
        <p:nvSpPr>
          <p:cNvPr id="16" name="Text 14"/>
          <p:cNvSpPr/>
          <p:nvPr/>
        </p:nvSpPr>
        <p:spPr>
          <a:xfrm>
            <a:off x="960120" y="2971800"/>
            <a:ext cx="1097280" cy="7315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Pico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pull LOW or let go</a:t>
            </a:r>
            <a:endParaRPr lang="en-US" sz="1100" dirty="0"/>
          </a:p>
        </p:txBody>
      </p:sp>
      <p:sp>
        <p:nvSpPr>
          <p:cNvPr id="17" name="Shape 15"/>
          <p:cNvSpPr/>
          <p:nvPr/>
        </p:nvSpPr>
        <p:spPr>
          <a:xfrm>
            <a:off x="3429000" y="2514600"/>
            <a:ext cx="0" cy="457200"/>
          </a:xfrm>
          <a:prstGeom prst="line">
            <a:avLst/>
          </a:prstGeom>
          <a:noFill/>
          <a:ln w="19050">
            <a:solidFill>
              <a:srgbClr val="CADCFC"/>
            </a:solidFill>
            <a:prstDash val="solid"/>
          </a:ln>
        </p:spPr>
      </p:sp>
      <p:sp>
        <p:nvSpPr>
          <p:cNvPr id="18" name="Shape 16"/>
          <p:cNvSpPr/>
          <p:nvPr/>
        </p:nvSpPr>
        <p:spPr>
          <a:xfrm>
            <a:off x="2880360" y="2971800"/>
            <a:ext cx="1097280" cy="731520"/>
          </a:xfrm>
          <a:prstGeom prst="rect">
            <a:avLst/>
          </a:prstGeom>
          <a:solidFill>
            <a:srgbClr val="253270"/>
          </a:solidFill>
          <a:ln w="12700">
            <a:solidFill>
              <a:srgbClr val="3A4A8A"/>
            </a:solidFill>
            <a:prstDash val="solid"/>
          </a:ln>
        </p:spPr>
      </p:sp>
      <p:sp>
        <p:nvSpPr>
          <p:cNvPr id="19" name="Text 17"/>
          <p:cNvSpPr/>
          <p:nvPr/>
        </p:nvSpPr>
        <p:spPr>
          <a:xfrm>
            <a:off x="2880360" y="2971800"/>
            <a:ext cx="1097280" cy="7315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AHT10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pull LOW or let go</a:t>
            </a:r>
            <a:endParaRPr lang="en-US" sz="1100" dirty="0"/>
          </a:p>
        </p:txBody>
      </p:sp>
      <p:sp>
        <p:nvSpPr>
          <p:cNvPr id="20" name="Text 18"/>
          <p:cNvSpPr/>
          <p:nvPr/>
        </p:nvSpPr>
        <p:spPr>
          <a:xfrm>
            <a:off x="822960" y="3794760"/>
            <a:ext cx="3383280" cy="274320"/>
          </a:xfrm>
          <a:prstGeom prst="rect">
            <a:avLst/>
          </a:prstGeom>
          <a:noFill/>
          <a:ln/>
        </p:spPr>
        <p:txBody>
          <a:bodyPr wrap="square" lIns="0" tIns="0" rIns="0" bIns="0" rtlCol="0" anchor="ctr"/>
          <a:lstStyle/>
          <a:p>
            <a:pPr algn="ctr" indent="0" marL="0">
              <a:buNone/>
            </a:pPr>
            <a:r>
              <a:rPr lang="en-US" sz="1200" i="1" dirty="0">
                <a:solidFill>
                  <a:srgbClr val="8892B0"/>
                </a:solidFill>
                <a:latin typeface="Calibri" pitchFamily="34" charset="0"/>
                <a:ea typeface="Calibri" pitchFamily="34" charset="-122"/>
                <a:cs typeface="Calibri" pitchFamily="34" charset="-120"/>
              </a:rPr>
              <a:t>Same again for SCL</a:t>
            </a:r>
            <a:endParaRPr lang="en-US" sz="1200" dirty="0"/>
          </a:p>
        </p:txBody>
      </p:sp>
      <p:sp>
        <p:nvSpPr>
          <p:cNvPr id="21" name="Text 19"/>
          <p:cNvSpPr/>
          <p:nvPr/>
        </p:nvSpPr>
        <p:spPr>
          <a:xfrm>
            <a:off x="4572000" y="1097280"/>
            <a:ext cx="4114800" cy="237744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Module unpowered, multimeter on ohms</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Measure SDA -&gt; VIN and SCL -&gt; VIN</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About 4.7k or 10k: pull-ups are on the module</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Open circuit: add 4.7k from each line to 3V3</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Small 3-pin part near the header? Maybe a regulator: pull-ups may go to its output</a:t>
            </a:r>
            <a:endParaRPr lang="en-US" sz="1300" dirty="0"/>
          </a:p>
        </p:txBody>
      </p:sp>
      <p:sp>
        <p:nvSpPr>
          <p:cNvPr id="22" name="Shape 20"/>
          <p:cNvSpPr/>
          <p:nvPr/>
        </p:nvSpPr>
        <p:spPr>
          <a:xfrm>
            <a:off x="4572000" y="3520440"/>
            <a:ext cx="4114800" cy="1005840"/>
          </a:xfrm>
          <a:prstGeom prst="rect">
            <a:avLst/>
          </a:prstGeom>
          <a:solidFill>
            <a:srgbClr val="253270"/>
          </a:solidFill>
          <a:ln w="12700">
            <a:solidFill>
              <a:srgbClr val="FF5252"/>
            </a:solidFill>
            <a:prstDash val="solid"/>
          </a:ln>
        </p:spPr>
      </p:sp>
      <p:sp>
        <p:nvSpPr>
          <p:cNvPr id="23" name="Shape 21"/>
          <p:cNvSpPr/>
          <p:nvPr/>
        </p:nvSpPr>
        <p:spPr>
          <a:xfrm>
            <a:off x="4572000" y="3520440"/>
            <a:ext cx="64008" cy="1005840"/>
          </a:xfrm>
          <a:prstGeom prst="rect">
            <a:avLst/>
          </a:prstGeom>
          <a:solidFill>
            <a:srgbClr val="FF5252"/>
          </a:solidFill>
          <a:ln/>
        </p:spPr>
      </p:sp>
      <p:sp>
        <p:nvSpPr>
          <p:cNvPr id="24" name="Text 22"/>
          <p:cNvSpPr/>
          <p:nvPr/>
        </p:nvSpPr>
        <p:spPr>
          <a:xfrm>
            <a:off x="4800600" y="3593592"/>
            <a:ext cx="3749040" cy="274320"/>
          </a:xfrm>
          <a:prstGeom prst="rect">
            <a:avLst/>
          </a:prstGeom>
          <a:noFill/>
          <a:ln/>
        </p:spPr>
        <p:txBody>
          <a:bodyPr wrap="square" lIns="0" tIns="0" rIns="0" bIns="0" rtlCol="0" anchor="ctr"/>
          <a:lstStyle/>
          <a:p>
            <a:pPr indent="0" marL="0">
              <a:buNone/>
            </a:pPr>
            <a:r>
              <a:rPr lang="en-US" sz="1300" b="1" dirty="0">
                <a:solidFill>
                  <a:srgbClr val="FF5252"/>
                </a:solidFill>
                <a:latin typeface="Trebuchet MS" pitchFamily="34" charset="0"/>
                <a:ea typeface="Trebuchet MS" pitchFamily="34" charset="-122"/>
                <a:cs typeface="Trebuchet MS" pitchFamily="34" charset="-120"/>
              </a:rPr>
              <a:t>3V3 OUT only - never VBUS</a:t>
            </a:r>
            <a:endParaRPr lang="en-US" sz="1300" dirty="0"/>
          </a:p>
        </p:txBody>
      </p:sp>
      <p:sp>
        <p:nvSpPr>
          <p:cNvPr id="25" name="Text 23"/>
          <p:cNvSpPr/>
          <p:nvPr/>
        </p:nvSpPr>
        <p:spPr>
          <a:xfrm>
            <a:off x="4800600" y="3867912"/>
            <a:ext cx="3749040" cy="5943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Pull-ups to VIN and 5 V on VIN put 5 V on GP4 / GP5. RP2040 pins are not 5 V tolerant.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The Protocol</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Start, address, ACK, data, stop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One Bus, Many Devices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1463040" y="1325880"/>
            <a:ext cx="7132320" cy="0"/>
          </a:xfrm>
          <a:prstGeom prst="line">
            <a:avLst/>
          </a:prstGeom>
          <a:noFill/>
          <a:ln w="25400">
            <a:solidFill>
              <a:srgbClr val="CADCFC"/>
            </a:solidFill>
            <a:prstDash val="solid"/>
          </a:ln>
        </p:spPr>
      </p:sp>
      <p:sp>
        <p:nvSpPr>
          <p:cNvPr id="7" name="Shape 5"/>
          <p:cNvSpPr/>
          <p:nvPr/>
        </p:nvSpPr>
        <p:spPr>
          <a:xfrm>
            <a:off x="1463040" y="1600200"/>
            <a:ext cx="7132320" cy="0"/>
          </a:xfrm>
          <a:prstGeom prst="line">
            <a:avLst/>
          </a:prstGeom>
          <a:noFill/>
          <a:ln w="25400">
            <a:solidFill>
              <a:srgbClr val="CADCFC"/>
            </a:solidFill>
            <a:prstDash val="solid"/>
          </a:ln>
        </p:spPr>
      </p:sp>
      <p:sp>
        <p:nvSpPr>
          <p:cNvPr id="8" name="Text 6"/>
          <p:cNvSpPr/>
          <p:nvPr/>
        </p:nvSpPr>
        <p:spPr>
          <a:xfrm>
            <a:off x="8641080" y="1207008"/>
            <a:ext cx="457200" cy="23774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SDA</a:t>
            </a:r>
            <a:endParaRPr lang="en-US" sz="1100" dirty="0"/>
          </a:p>
        </p:txBody>
      </p:sp>
      <p:sp>
        <p:nvSpPr>
          <p:cNvPr id="9" name="Text 7"/>
          <p:cNvSpPr/>
          <p:nvPr/>
        </p:nvSpPr>
        <p:spPr>
          <a:xfrm>
            <a:off x="8641080" y="1481328"/>
            <a:ext cx="457200" cy="23774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SCL</a:t>
            </a:r>
            <a:endParaRPr lang="en-US" sz="1100" dirty="0"/>
          </a:p>
        </p:txBody>
      </p:sp>
      <p:sp>
        <p:nvSpPr>
          <p:cNvPr id="10" name="Shape 8"/>
          <p:cNvSpPr/>
          <p:nvPr/>
        </p:nvSpPr>
        <p:spPr>
          <a:xfrm>
            <a:off x="457200" y="1143000"/>
            <a:ext cx="1005840" cy="640080"/>
          </a:xfrm>
          <a:prstGeom prst="rect">
            <a:avLst/>
          </a:prstGeom>
          <a:solidFill>
            <a:srgbClr val="253270"/>
          </a:solidFill>
          <a:ln w="12700">
            <a:solidFill>
              <a:srgbClr val="CADCFC"/>
            </a:solidFill>
            <a:prstDash val="solid"/>
          </a:ln>
        </p:spPr>
      </p:sp>
      <p:sp>
        <p:nvSpPr>
          <p:cNvPr id="11" name="Text 9"/>
          <p:cNvSpPr/>
          <p:nvPr/>
        </p:nvSpPr>
        <p:spPr>
          <a:xfrm>
            <a:off x="457200" y="1143000"/>
            <a:ext cx="100584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Pico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master</a:t>
            </a:r>
            <a:endParaRPr lang="en-US" sz="1100" dirty="0"/>
          </a:p>
        </p:txBody>
      </p:sp>
      <p:sp>
        <p:nvSpPr>
          <p:cNvPr id="12" name="Shape 10"/>
          <p:cNvSpPr/>
          <p:nvPr/>
        </p:nvSpPr>
        <p:spPr>
          <a:xfrm>
            <a:off x="2743200" y="1325880"/>
            <a:ext cx="0" cy="685800"/>
          </a:xfrm>
          <a:prstGeom prst="line">
            <a:avLst/>
          </a:prstGeom>
          <a:noFill/>
          <a:ln w="12700">
            <a:solidFill>
              <a:srgbClr val="CADCFC"/>
            </a:solidFill>
            <a:prstDash val="solid"/>
          </a:ln>
        </p:spPr>
      </p:sp>
      <p:sp>
        <p:nvSpPr>
          <p:cNvPr id="13" name="Shape 11"/>
          <p:cNvSpPr/>
          <p:nvPr/>
        </p:nvSpPr>
        <p:spPr>
          <a:xfrm>
            <a:off x="3108960" y="1600200"/>
            <a:ext cx="0" cy="411480"/>
          </a:xfrm>
          <a:prstGeom prst="line">
            <a:avLst/>
          </a:prstGeom>
          <a:noFill/>
          <a:ln w="12700">
            <a:solidFill>
              <a:srgbClr val="CADCFC"/>
            </a:solidFill>
            <a:prstDash val="solid"/>
          </a:ln>
        </p:spPr>
      </p:sp>
      <p:sp>
        <p:nvSpPr>
          <p:cNvPr id="14" name="Shape 12"/>
          <p:cNvSpPr/>
          <p:nvPr/>
        </p:nvSpPr>
        <p:spPr>
          <a:xfrm>
            <a:off x="2377440" y="2011680"/>
            <a:ext cx="1463040" cy="548640"/>
          </a:xfrm>
          <a:prstGeom prst="rect">
            <a:avLst/>
          </a:prstGeom>
          <a:solidFill>
            <a:srgbClr val="253270"/>
          </a:solidFill>
          <a:ln w="12700">
            <a:solidFill>
              <a:srgbClr val="3A4A8A"/>
            </a:solidFill>
            <a:prstDash val="solid"/>
          </a:ln>
        </p:spPr>
      </p:sp>
      <p:sp>
        <p:nvSpPr>
          <p:cNvPr id="15" name="Text 13"/>
          <p:cNvSpPr/>
          <p:nvPr/>
        </p:nvSpPr>
        <p:spPr>
          <a:xfrm>
            <a:off x="2377440" y="2011680"/>
            <a:ext cx="146304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AHT10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0x38</a:t>
            </a:r>
            <a:endParaRPr lang="en-US" sz="1100" dirty="0"/>
          </a:p>
        </p:txBody>
      </p:sp>
      <p:sp>
        <p:nvSpPr>
          <p:cNvPr id="16" name="Shape 14"/>
          <p:cNvSpPr/>
          <p:nvPr/>
        </p:nvSpPr>
        <p:spPr>
          <a:xfrm>
            <a:off x="4754880" y="1325880"/>
            <a:ext cx="0" cy="685800"/>
          </a:xfrm>
          <a:prstGeom prst="line">
            <a:avLst/>
          </a:prstGeom>
          <a:noFill/>
          <a:ln w="12700">
            <a:solidFill>
              <a:srgbClr val="CADCFC"/>
            </a:solidFill>
            <a:prstDash val="solid"/>
          </a:ln>
        </p:spPr>
      </p:sp>
      <p:sp>
        <p:nvSpPr>
          <p:cNvPr id="17" name="Shape 15"/>
          <p:cNvSpPr/>
          <p:nvPr/>
        </p:nvSpPr>
        <p:spPr>
          <a:xfrm>
            <a:off x="5120640" y="1600200"/>
            <a:ext cx="0" cy="411480"/>
          </a:xfrm>
          <a:prstGeom prst="line">
            <a:avLst/>
          </a:prstGeom>
          <a:noFill/>
          <a:ln w="12700">
            <a:solidFill>
              <a:srgbClr val="CADCFC"/>
            </a:solidFill>
            <a:prstDash val="solid"/>
          </a:ln>
        </p:spPr>
      </p:sp>
      <p:sp>
        <p:nvSpPr>
          <p:cNvPr id="18" name="Shape 16"/>
          <p:cNvSpPr/>
          <p:nvPr/>
        </p:nvSpPr>
        <p:spPr>
          <a:xfrm>
            <a:off x="4389120" y="2011680"/>
            <a:ext cx="1463040" cy="548640"/>
          </a:xfrm>
          <a:prstGeom prst="rect">
            <a:avLst/>
          </a:prstGeom>
          <a:solidFill>
            <a:srgbClr val="253270"/>
          </a:solidFill>
          <a:ln w="12700">
            <a:solidFill>
              <a:srgbClr val="3A4A8A"/>
            </a:solidFill>
            <a:prstDash val="solid"/>
          </a:ln>
        </p:spPr>
      </p:sp>
      <p:sp>
        <p:nvSpPr>
          <p:cNvPr id="19" name="Text 17"/>
          <p:cNvSpPr/>
          <p:nvPr/>
        </p:nvSpPr>
        <p:spPr>
          <a:xfrm>
            <a:off x="4389120" y="2011680"/>
            <a:ext cx="146304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another device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its own address</a:t>
            </a:r>
            <a:endParaRPr lang="en-US" sz="1100" dirty="0"/>
          </a:p>
        </p:txBody>
      </p:sp>
      <p:sp>
        <p:nvSpPr>
          <p:cNvPr id="20" name="Shape 18"/>
          <p:cNvSpPr/>
          <p:nvPr/>
        </p:nvSpPr>
        <p:spPr>
          <a:xfrm>
            <a:off x="6766560" y="1325880"/>
            <a:ext cx="0" cy="685800"/>
          </a:xfrm>
          <a:prstGeom prst="line">
            <a:avLst/>
          </a:prstGeom>
          <a:noFill/>
          <a:ln w="12700">
            <a:solidFill>
              <a:srgbClr val="CADCFC"/>
            </a:solidFill>
            <a:prstDash val="solid"/>
          </a:ln>
        </p:spPr>
      </p:sp>
      <p:sp>
        <p:nvSpPr>
          <p:cNvPr id="21" name="Shape 19"/>
          <p:cNvSpPr/>
          <p:nvPr/>
        </p:nvSpPr>
        <p:spPr>
          <a:xfrm>
            <a:off x="7132320" y="1600200"/>
            <a:ext cx="0" cy="411480"/>
          </a:xfrm>
          <a:prstGeom prst="line">
            <a:avLst/>
          </a:prstGeom>
          <a:noFill/>
          <a:ln w="12700">
            <a:solidFill>
              <a:srgbClr val="CADCFC"/>
            </a:solidFill>
            <a:prstDash val="solid"/>
          </a:ln>
        </p:spPr>
      </p:sp>
      <p:sp>
        <p:nvSpPr>
          <p:cNvPr id="22" name="Shape 20"/>
          <p:cNvSpPr/>
          <p:nvPr/>
        </p:nvSpPr>
        <p:spPr>
          <a:xfrm>
            <a:off x="6400800" y="2011680"/>
            <a:ext cx="1463040" cy="548640"/>
          </a:xfrm>
          <a:prstGeom prst="rect">
            <a:avLst/>
          </a:prstGeom>
          <a:solidFill>
            <a:srgbClr val="253270"/>
          </a:solidFill>
          <a:ln w="12700">
            <a:solidFill>
              <a:srgbClr val="3A4A8A"/>
            </a:solidFill>
            <a:prstDash val="solid"/>
          </a:ln>
        </p:spPr>
      </p:sp>
      <p:sp>
        <p:nvSpPr>
          <p:cNvPr id="23" name="Text 21"/>
          <p:cNvSpPr/>
          <p:nvPr/>
        </p:nvSpPr>
        <p:spPr>
          <a:xfrm>
            <a:off x="6400800" y="2011680"/>
            <a:ext cx="146304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and more: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the same two wires</a:t>
            </a:r>
            <a:endParaRPr lang="en-US" sz="1100" dirty="0"/>
          </a:p>
        </p:txBody>
      </p:sp>
      <p:sp>
        <p:nvSpPr>
          <p:cNvPr id="24" name="Shape 22"/>
          <p:cNvSpPr/>
          <p:nvPr/>
        </p:nvSpPr>
        <p:spPr>
          <a:xfrm>
            <a:off x="1783080" y="2816352"/>
            <a:ext cx="502920" cy="1097280"/>
          </a:xfrm>
          <a:prstGeom prst="rect">
            <a:avLst/>
          </a:prstGeom>
          <a:solidFill>
            <a:srgbClr val="1E2761">
              <a:alpha val="0"/>
            </a:srgbClr>
          </a:solidFill>
          <a:ln w="19050">
            <a:solidFill>
              <a:srgbClr val="FFB300"/>
            </a:solidFill>
            <a:prstDash val="dash"/>
          </a:ln>
        </p:spPr>
      </p:sp>
      <p:sp>
        <p:nvSpPr>
          <p:cNvPr id="25" name="Shape 23"/>
          <p:cNvSpPr/>
          <p:nvPr/>
        </p:nvSpPr>
        <p:spPr>
          <a:xfrm>
            <a:off x="7315200" y="2816352"/>
            <a:ext cx="502920" cy="1097280"/>
          </a:xfrm>
          <a:prstGeom prst="rect">
            <a:avLst/>
          </a:prstGeom>
          <a:solidFill>
            <a:srgbClr val="1E2761">
              <a:alpha val="0"/>
            </a:srgbClr>
          </a:solidFill>
          <a:ln w="19050">
            <a:solidFill>
              <a:srgbClr val="FFB300"/>
            </a:solidFill>
            <a:prstDash val="dash"/>
          </a:ln>
        </p:spPr>
      </p:sp>
      <p:sp>
        <p:nvSpPr>
          <p:cNvPr id="26" name="Shape 24"/>
          <p:cNvSpPr/>
          <p:nvPr/>
        </p:nvSpPr>
        <p:spPr>
          <a:xfrm>
            <a:off x="1280160" y="2926080"/>
            <a:ext cx="502920" cy="0"/>
          </a:xfrm>
          <a:prstGeom prst="line">
            <a:avLst/>
          </a:prstGeom>
          <a:noFill/>
          <a:ln w="25400">
            <a:solidFill>
              <a:srgbClr val="CADCFC"/>
            </a:solidFill>
            <a:prstDash val="solid"/>
          </a:ln>
        </p:spPr>
      </p:sp>
      <p:sp>
        <p:nvSpPr>
          <p:cNvPr id="27" name="Shape 25"/>
          <p:cNvSpPr/>
          <p:nvPr/>
        </p:nvSpPr>
        <p:spPr>
          <a:xfrm>
            <a:off x="1783080" y="2926080"/>
            <a:ext cx="502920" cy="0"/>
          </a:xfrm>
          <a:prstGeom prst="line">
            <a:avLst/>
          </a:prstGeom>
          <a:noFill/>
          <a:ln w="25400">
            <a:solidFill>
              <a:srgbClr val="CADCFC"/>
            </a:solidFill>
            <a:prstDash val="solid"/>
          </a:ln>
        </p:spPr>
      </p:sp>
      <p:sp>
        <p:nvSpPr>
          <p:cNvPr id="28" name="Shape 26"/>
          <p:cNvSpPr/>
          <p:nvPr/>
        </p:nvSpPr>
        <p:spPr>
          <a:xfrm>
            <a:off x="2286000" y="3246120"/>
            <a:ext cx="502920" cy="0"/>
          </a:xfrm>
          <a:prstGeom prst="line">
            <a:avLst/>
          </a:prstGeom>
          <a:noFill/>
          <a:ln w="25400">
            <a:solidFill>
              <a:srgbClr val="CADCFC"/>
            </a:solidFill>
            <a:prstDash val="solid"/>
          </a:ln>
        </p:spPr>
      </p:sp>
      <p:sp>
        <p:nvSpPr>
          <p:cNvPr id="29" name="Shape 27"/>
          <p:cNvSpPr/>
          <p:nvPr/>
        </p:nvSpPr>
        <p:spPr>
          <a:xfrm>
            <a:off x="2286000" y="2926080"/>
            <a:ext cx="0" cy="320040"/>
          </a:xfrm>
          <a:prstGeom prst="line">
            <a:avLst/>
          </a:prstGeom>
          <a:noFill/>
          <a:ln w="25400">
            <a:solidFill>
              <a:srgbClr val="CADCFC"/>
            </a:solidFill>
            <a:prstDash val="solid"/>
          </a:ln>
        </p:spPr>
      </p:sp>
      <p:sp>
        <p:nvSpPr>
          <p:cNvPr id="30" name="Shape 28"/>
          <p:cNvSpPr/>
          <p:nvPr/>
        </p:nvSpPr>
        <p:spPr>
          <a:xfrm>
            <a:off x="2788920" y="3246120"/>
            <a:ext cx="502920" cy="0"/>
          </a:xfrm>
          <a:prstGeom prst="line">
            <a:avLst/>
          </a:prstGeom>
          <a:noFill/>
          <a:ln w="25400">
            <a:solidFill>
              <a:srgbClr val="CADCFC"/>
            </a:solidFill>
            <a:prstDash val="solid"/>
          </a:ln>
        </p:spPr>
      </p:sp>
      <p:sp>
        <p:nvSpPr>
          <p:cNvPr id="31" name="Shape 29"/>
          <p:cNvSpPr/>
          <p:nvPr/>
        </p:nvSpPr>
        <p:spPr>
          <a:xfrm>
            <a:off x="3291840" y="2926080"/>
            <a:ext cx="502920" cy="0"/>
          </a:xfrm>
          <a:prstGeom prst="line">
            <a:avLst/>
          </a:prstGeom>
          <a:noFill/>
          <a:ln w="25400">
            <a:solidFill>
              <a:srgbClr val="CADCFC"/>
            </a:solidFill>
            <a:prstDash val="solid"/>
          </a:ln>
        </p:spPr>
      </p:sp>
      <p:sp>
        <p:nvSpPr>
          <p:cNvPr id="32" name="Shape 30"/>
          <p:cNvSpPr/>
          <p:nvPr/>
        </p:nvSpPr>
        <p:spPr>
          <a:xfrm>
            <a:off x="3291840" y="2926080"/>
            <a:ext cx="0" cy="320040"/>
          </a:xfrm>
          <a:prstGeom prst="line">
            <a:avLst/>
          </a:prstGeom>
          <a:noFill/>
          <a:ln w="25400">
            <a:solidFill>
              <a:srgbClr val="CADCFC"/>
            </a:solidFill>
            <a:prstDash val="solid"/>
          </a:ln>
        </p:spPr>
      </p:sp>
      <p:sp>
        <p:nvSpPr>
          <p:cNvPr id="33" name="Shape 31"/>
          <p:cNvSpPr/>
          <p:nvPr/>
        </p:nvSpPr>
        <p:spPr>
          <a:xfrm>
            <a:off x="3794760" y="3246120"/>
            <a:ext cx="502920" cy="0"/>
          </a:xfrm>
          <a:prstGeom prst="line">
            <a:avLst/>
          </a:prstGeom>
          <a:noFill/>
          <a:ln w="25400">
            <a:solidFill>
              <a:srgbClr val="CADCFC"/>
            </a:solidFill>
            <a:prstDash val="solid"/>
          </a:ln>
        </p:spPr>
      </p:sp>
      <p:sp>
        <p:nvSpPr>
          <p:cNvPr id="34" name="Shape 32"/>
          <p:cNvSpPr/>
          <p:nvPr/>
        </p:nvSpPr>
        <p:spPr>
          <a:xfrm>
            <a:off x="3794760" y="2926080"/>
            <a:ext cx="0" cy="320040"/>
          </a:xfrm>
          <a:prstGeom prst="line">
            <a:avLst/>
          </a:prstGeom>
          <a:noFill/>
          <a:ln w="25400">
            <a:solidFill>
              <a:srgbClr val="CADCFC"/>
            </a:solidFill>
            <a:prstDash val="solid"/>
          </a:ln>
        </p:spPr>
      </p:sp>
      <p:sp>
        <p:nvSpPr>
          <p:cNvPr id="35" name="Shape 33"/>
          <p:cNvSpPr/>
          <p:nvPr/>
        </p:nvSpPr>
        <p:spPr>
          <a:xfrm>
            <a:off x="4297680" y="3246120"/>
            <a:ext cx="502920" cy="0"/>
          </a:xfrm>
          <a:prstGeom prst="line">
            <a:avLst/>
          </a:prstGeom>
          <a:noFill/>
          <a:ln w="25400">
            <a:solidFill>
              <a:srgbClr val="CADCFC"/>
            </a:solidFill>
            <a:prstDash val="solid"/>
          </a:ln>
        </p:spPr>
      </p:sp>
      <p:sp>
        <p:nvSpPr>
          <p:cNvPr id="36" name="Shape 34"/>
          <p:cNvSpPr/>
          <p:nvPr/>
        </p:nvSpPr>
        <p:spPr>
          <a:xfrm>
            <a:off x="4800600" y="2926080"/>
            <a:ext cx="502920" cy="0"/>
          </a:xfrm>
          <a:prstGeom prst="line">
            <a:avLst/>
          </a:prstGeom>
          <a:noFill/>
          <a:ln w="25400">
            <a:solidFill>
              <a:srgbClr val="CADCFC"/>
            </a:solidFill>
            <a:prstDash val="solid"/>
          </a:ln>
        </p:spPr>
      </p:sp>
      <p:sp>
        <p:nvSpPr>
          <p:cNvPr id="37" name="Shape 35"/>
          <p:cNvSpPr/>
          <p:nvPr/>
        </p:nvSpPr>
        <p:spPr>
          <a:xfrm>
            <a:off x="4800600" y="2926080"/>
            <a:ext cx="0" cy="320040"/>
          </a:xfrm>
          <a:prstGeom prst="line">
            <a:avLst/>
          </a:prstGeom>
          <a:noFill/>
          <a:ln w="25400">
            <a:solidFill>
              <a:srgbClr val="CADCFC"/>
            </a:solidFill>
            <a:prstDash val="solid"/>
          </a:ln>
        </p:spPr>
      </p:sp>
      <p:sp>
        <p:nvSpPr>
          <p:cNvPr id="38" name="Shape 36"/>
          <p:cNvSpPr/>
          <p:nvPr/>
        </p:nvSpPr>
        <p:spPr>
          <a:xfrm>
            <a:off x="5303520" y="3246120"/>
            <a:ext cx="502920" cy="0"/>
          </a:xfrm>
          <a:prstGeom prst="line">
            <a:avLst/>
          </a:prstGeom>
          <a:noFill/>
          <a:ln w="25400">
            <a:solidFill>
              <a:srgbClr val="CADCFC"/>
            </a:solidFill>
            <a:prstDash val="solid"/>
          </a:ln>
        </p:spPr>
      </p:sp>
      <p:sp>
        <p:nvSpPr>
          <p:cNvPr id="39" name="Shape 37"/>
          <p:cNvSpPr/>
          <p:nvPr/>
        </p:nvSpPr>
        <p:spPr>
          <a:xfrm>
            <a:off x="5303520" y="2926080"/>
            <a:ext cx="0" cy="320040"/>
          </a:xfrm>
          <a:prstGeom prst="line">
            <a:avLst/>
          </a:prstGeom>
          <a:noFill/>
          <a:ln w="25400">
            <a:solidFill>
              <a:srgbClr val="CADCFC"/>
            </a:solidFill>
            <a:prstDash val="solid"/>
          </a:ln>
        </p:spPr>
      </p:sp>
      <p:sp>
        <p:nvSpPr>
          <p:cNvPr id="40" name="Shape 38"/>
          <p:cNvSpPr/>
          <p:nvPr/>
        </p:nvSpPr>
        <p:spPr>
          <a:xfrm>
            <a:off x="5806440" y="2926080"/>
            <a:ext cx="502920" cy="0"/>
          </a:xfrm>
          <a:prstGeom prst="line">
            <a:avLst/>
          </a:prstGeom>
          <a:noFill/>
          <a:ln w="25400">
            <a:solidFill>
              <a:srgbClr val="CADCFC"/>
            </a:solidFill>
            <a:prstDash val="solid"/>
          </a:ln>
        </p:spPr>
      </p:sp>
      <p:sp>
        <p:nvSpPr>
          <p:cNvPr id="41" name="Shape 39"/>
          <p:cNvSpPr/>
          <p:nvPr/>
        </p:nvSpPr>
        <p:spPr>
          <a:xfrm>
            <a:off x="5806440" y="2926080"/>
            <a:ext cx="0" cy="320040"/>
          </a:xfrm>
          <a:prstGeom prst="line">
            <a:avLst/>
          </a:prstGeom>
          <a:noFill/>
          <a:ln w="25400">
            <a:solidFill>
              <a:srgbClr val="CADCFC"/>
            </a:solidFill>
            <a:prstDash val="solid"/>
          </a:ln>
        </p:spPr>
      </p:sp>
      <p:sp>
        <p:nvSpPr>
          <p:cNvPr id="42" name="Shape 40"/>
          <p:cNvSpPr/>
          <p:nvPr/>
        </p:nvSpPr>
        <p:spPr>
          <a:xfrm>
            <a:off x="6309360" y="3246120"/>
            <a:ext cx="502920" cy="0"/>
          </a:xfrm>
          <a:prstGeom prst="line">
            <a:avLst/>
          </a:prstGeom>
          <a:noFill/>
          <a:ln w="25400">
            <a:solidFill>
              <a:srgbClr val="CADCFC"/>
            </a:solidFill>
            <a:prstDash val="solid"/>
          </a:ln>
        </p:spPr>
      </p:sp>
      <p:sp>
        <p:nvSpPr>
          <p:cNvPr id="43" name="Shape 41"/>
          <p:cNvSpPr/>
          <p:nvPr/>
        </p:nvSpPr>
        <p:spPr>
          <a:xfrm>
            <a:off x="6309360" y="2926080"/>
            <a:ext cx="0" cy="320040"/>
          </a:xfrm>
          <a:prstGeom prst="line">
            <a:avLst/>
          </a:prstGeom>
          <a:noFill/>
          <a:ln w="25400">
            <a:solidFill>
              <a:srgbClr val="CADCFC"/>
            </a:solidFill>
            <a:prstDash val="solid"/>
          </a:ln>
        </p:spPr>
      </p:sp>
      <p:sp>
        <p:nvSpPr>
          <p:cNvPr id="44" name="Shape 42"/>
          <p:cNvSpPr/>
          <p:nvPr/>
        </p:nvSpPr>
        <p:spPr>
          <a:xfrm>
            <a:off x="6812280" y="2926080"/>
            <a:ext cx="502920" cy="0"/>
          </a:xfrm>
          <a:prstGeom prst="line">
            <a:avLst/>
          </a:prstGeom>
          <a:noFill/>
          <a:ln w="25400">
            <a:solidFill>
              <a:srgbClr val="CADCFC"/>
            </a:solidFill>
            <a:prstDash val="solid"/>
          </a:ln>
        </p:spPr>
      </p:sp>
      <p:sp>
        <p:nvSpPr>
          <p:cNvPr id="45" name="Shape 43"/>
          <p:cNvSpPr/>
          <p:nvPr/>
        </p:nvSpPr>
        <p:spPr>
          <a:xfrm>
            <a:off x="6812280" y="2926080"/>
            <a:ext cx="0" cy="320040"/>
          </a:xfrm>
          <a:prstGeom prst="line">
            <a:avLst/>
          </a:prstGeom>
          <a:noFill/>
          <a:ln w="25400">
            <a:solidFill>
              <a:srgbClr val="CADCFC"/>
            </a:solidFill>
            <a:prstDash val="solid"/>
          </a:ln>
        </p:spPr>
      </p:sp>
      <p:sp>
        <p:nvSpPr>
          <p:cNvPr id="46" name="Shape 44"/>
          <p:cNvSpPr/>
          <p:nvPr/>
        </p:nvSpPr>
        <p:spPr>
          <a:xfrm>
            <a:off x="7315200" y="2926080"/>
            <a:ext cx="502920" cy="0"/>
          </a:xfrm>
          <a:prstGeom prst="line">
            <a:avLst/>
          </a:prstGeom>
          <a:noFill/>
          <a:ln w="25400">
            <a:solidFill>
              <a:srgbClr val="CADCFC"/>
            </a:solidFill>
            <a:prstDash val="solid"/>
          </a:ln>
        </p:spPr>
      </p:sp>
      <p:sp>
        <p:nvSpPr>
          <p:cNvPr id="47" name="Shape 45"/>
          <p:cNvSpPr/>
          <p:nvPr/>
        </p:nvSpPr>
        <p:spPr>
          <a:xfrm>
            <a:off x="7818120" y="2926080"/>
            <a:ext cx="502920" cy="0"/>
          </a:xfrm>
          <a:prstGeom prst="line">
            <a:avLst/>
          </a:prstGeom>
          <a:noFill/>
          <a:ln w="25400">
            <a:solidFill>
              <a:srgbClr val="CADCFC"/>
            </a:solidFill>
            <a:prstDash val="solid"/>
          </a:ln>
        </p:spPr>
      </p:sp>
      <p:sp>
        <p:nvSpPr>
          <p:cNvPr id="48" name="Shape 46"/>
          <p:cNvSpPr/>
          <p:nvPr/>
        </p:nvSpPr>
        <p:spPr>
          <a:xfrm>
            <a:off x="1280160" y="3520440"/>
            <a:ext cx="502920" cy="0"/>
          </a:xfrm>
          <a:prstGeom prst="line">
            <a:avLst/>
          </a:prstGeom>
          <a:noFill/>
          <a:ln w="25400">
            <a:solidFill>
              <a:srgbClr val="4CAF50"/>
            </a:solidFill>
            <a:prstDash val="solid"/>
          </a:ln>
        </p:spPr>
      </p:sp>
      <p:sp>
        <p:nvSpPr>
          <p:cNvPr id="49" name="Shape 47"/>
          <p:cNvSpPr/>
          <p:nvPr/>
        </p:nvSpPr>
        <p:spPr>
          <a:xfrm>
            <a:off x="1783080" y="3840480"/>
            <a:ext cx="502920" cy="0"/>
          </a:xfrm>
          <a:prstGeom prst="line">
            <a:avLst/>
          </a:prstGeom>
          <a:noFill/>
          <a:ln w="25400">
            <a:solidFill>
              <a:srgbClr val="4CAF50"/>
            </a:solidFill>
            <a:prstDash val="solid"/>
          </a:ln>
        </p:spPr>
      </p:sp>
      <p:sp>
        <p:nvSpPr>
          <p:cNvPr id="50" name="Shape 48"/>
          <p:cNvSpPr/>
          <p:nvPr/>
        </p:nvSpPr>
        <p:spPr>
          <a:xfrm>
            <a:off x="1783080" y="3520440"/>
            <a:ext cx="0" cy="320040"/>
          </a:xfrm>
          <a:prstGeom prst="line">
            <a:avLst/>
          </a:prstGeom>
          <a:noFill/>
          <a:ln w="25400">
            <a:solidFill>
              <a:srgbClr val="4CAF50"/>
            </a:solidFill>
            <a:prstDash val="solid"/>
          </a:ln>
        </p:spPr>
      </p:sp>
      <p:sp>
        <p:nvSpPr>
          <p:cNvPr id="51" name="Shape 49"/>
          <p:cNvSpPr/>
          <p:nvPr/>
        </p:nvSpPr>
        <p:spPr>
          <a:xfrm>
            <a:off x="2286000" y="3840480"/>
            <a:ext cx="502920" cy="0"/>
          </a:xfrm>
          <a:prstGeom prst="line">
            <a:avLst/>
          </a:prstGeom>
          <a:noFill/>
          <a:ln w="25400">
            <a:solidFill>
              <a:srgbClr val="4CAF50"/>
            </a:solidFill>
            <a:prstDash val="solid"/>
          </a:ln>
        </p:spPr>
      </p:sp>
      <p:sp>
        <p:nvSpPr>
          <p:cNvPr id="52" name="Shape 50"/>
          <p:cNvSpPr/>
          <p:nvPr/>
        </p:nvSpPr>
        <p:spPr>
          <a:xfrm>
            <a:off x="2788920" y="3520440"/>
            <a:ext cx="502920" cy="0"/>
          </a:xfrm>
          <a:prstGeom prst="line">
            <a:avLst/>
          </a:prstGeom>
          <a:noFill/>
          <a:ln w="25400">
            <a:solidFill>
              <a:srgbClr val="4CAF50"/>
            </a:solidFill>
            <a:prstDash val="solid"/>
          </a:ln>
        </p:spPr>
      </p:sp>
      <p:sp>
        <p:nvSpPr>
          <p:cNvPr id="53" name="Shape 51"/>
          <p:cNvSpPr/>
          <p:nvPr/>
        </p:nvSpPr>
        <p:spPr>
          <a:xfrm>
            <a:off x="2788920" y="3520440"/>
            <a:ext cx="0" cy="320040"/>
          </a:xfrm>
          <a:prstGeom prst="line">
            <a:avLst/>
          </a:prstGeom>
          <a:noFill/>
          <a:ln w="25400">
            <a:solidFill>
              <a:srgbClr val="4CAF50"/>
            </a:solidFill>
            <a:prstDash val="solid"/>
          </a:ln>
        </p:spPr>
      </p:sp>
      <p:sp>
        <p:nvSpPr>
          <p:cNvPr id="54" name="Shape 52"/>
          <p:cNvSpPr/>
          <p:nvPr/>
        </p:nvSpPr>
        <p:spPr>
          <a:xfrm>
            <a:off x="3291840" y="3520440"/>
            <a:ext cx="502920" cy="0"/>
          </a:xfrm>
          <a:prstGeom prst="line">
            <a:avLst/>
          </a:prstGeom>
          <a:noFill/>
          <a:ln w="25400">
            <a:solidFill>
              <a:srgbClr val="4CAF50"/>
            </a:solidFill>
            <a:prstDash val="solid"/>
          </a:ln>
        </p:spPr>
      </p:sp>
      <p:sp>
        <p:nvSpPr>
          <p:cNvPr id="55" name="Shape 53"/>
          <p:cNvSpPr/>
          <p:nvPr/>
        </p:nvSpPr>
        <p:spPr>
          <a:xfrm>
            <a:off x="3794760" y="3520440"/>
            <a:ext cx="502920" cy="0"/>
          </a:xfrm>
          <a:prstGeom prst="line">
            <a:avLst/>
          </a:prstGeom>
          <a:noFill/>
          <a:ln w="25400">
            <a:solidFill>
              <a:srgbClr val="4CAF50"/>
            </a:solidFill>
            <a:prstDash val="solid"/>
          </a:ln>
        </p:spPr>
      </p:sp>
      <p:sp>
        <p:nvSpPr>
          <p:cNvPr id="56" name="Shape 54"/>
          <p:cNvSpPr/>
          <p:nvPr/>
        </p:nvSpPr>
        <p:spPr>
          <a:xfrm>
            <a:off x="4297680" y="3840480"/>
            <a:ext cx="502920" cy="0"/>
          </a:xfrm>
          <a:prstGeom prst="line">
            <a:avLst/>
          </a:prstGeom>
          <a:noFill/>
          <a:ln w="25400">
            <a:solidFill>
              <a:srgbClr val="4CAF50"/>
            </a:solidFill>
            <a:prstDash val="solid"/>
          </a:ln>
        </p:spPr>
      </p:sp>
      <p:sp>
        <p:nvSpPr>
          <p:cNvPr id="57" name="Shape 55"/>
          <p:cNvSpPr/>
          <p:nvPr/>
        </p:nvSpPr>
        <p:spPr>
          <a:xfrm>
            <a:off x="4297680" y="3520440"/>
            <a:ext cx="0" cy="320040"/>
          </a:xfrm>
          <a:prstGeom prst="line">
            <a:avLst/>
          </a:prstGeom>
          <a:noFill/>
          <a:ln w="25400">
            <a:solidFill>
              <a:srgbClr val="4CAF50"/>
            </a:solidFill>
            <a:prstDash val="solid"/>
          </a:ln>
        </p:spPr>
      </p:sp>
      <p:sp>
        <p:nvSpPr>
          <p:cNvPr id="58" name="Shape 56"/>
          <p:cNvSpPr/>
          <p:nvPr/>
        </p:nvSpPr>
        <p:spPr>
          <a:xfrm>
            <a:off x="4800600" y="3840480"/>
            <a:ext cx="502920" cy="0"/>
          </a:xfrm>
          <a:prstGeom prst="line">
            <a:avLst/>
          </a:prstGeom>
          <a:noFill/>
          <a:ln w="25400">
            <a:solidFill>
              <a:srgbClr val="4CAF50"/>
            </a:solidFill>
            <a:prstDash val="solid"/>
          </a:ln>
        </p:spPr>
      </p:sp>
      <p:sp>
        <p:nvSpPr>
          <p:cNvPr id="59" name="Shape 57"/>
          <p:cNvSpPr/>
          <p:nvPr/>
        </p:nvSpPr>
        <p:spPr>
          <a:xfrm>
            <a:off x="5303520" y="3840480"/>
            <a:ext cx="502920" cy="0"/>
          </a:xfrm>
          <a:prstGeom prst="line">
            <a:avLst/>
          </a:prstGeom>
          <a:noFill/>
          <a:ln w="25400">
            <a:solidFill>
              <a:srgbClr val="4CAF50"/>
            </a:solidFill>
            <a:prstDash val="solid"/>
          </a:ln>
        </p:spPr>
      </p:sp>
      <p:sp>
        <p:nvSpPr>
          <p:cNvPr id="60" name="Shape 58"/>
          <p:cNvSpPr/>
          <p:nvPr/>
        </p:nvSpPr>
        <p:spPr>
          <a:xfrm>
            <a:off x="5806440" y="3840480"/>
            <a:ext cx="502920" cy="0"/>
          </a:xfrm>
          <a:prstGeom prst="line">
            <a:avLst/>
          </a:prstGeom>
          <a:noFill/>
          <a:ln w="25400">
            <a:solidFill>
              <a:srgbClr val="4CAF50"/>
            </a:solidFill>
            <a:prstDash val="solid"/>
          </a:ln>
        </p:spPr>
      </p:sp>
      <p:sp>
        <p:nvSpPr>
          <p:cNvPr id="61" name="Shape 59"/>
          <p:cNvSpPr/>
          <p:nvPr/>
        </p:nvSpPr>
        <p:spPr>
          <a:xfrm>
            <a:off x="6309360" y="3840480"/>
            <a:ext cx="502920" cy="0"/>
          </a:xfrm>
          <a:prstGeom prst="line">
            <a:avLst/>
          </a:prstGeom>
          <a:noFill/>
          <a:ln w="25400">
            <a:solidFill>
              <a:srgbClr val="4CAF50"/>
            </a:solidFill>
            <a:prstDash val="solid"/>
          </a:ln>
        </p:spPr>
      </p:sp>
      <p:sp>
        <p:nvSpPr>
          <p:cNvPr id="62" name="Shape 60"/>
          <p:cNvSpPr/>
          <p:nvPr/>
        </p:nvSpPr>
        <p:spPr>
          <a:xfrm>
            <a:off x="6812280" y="3840480"/>
            <a:ext cx="502920" cy="0"/>
          </a:xfrm>
          <a:prstGeom prst="line">
            <a:avLst/>
          </a:prstGeom>
          <a:noFill/>
          <a:ln w="25400">
            <a:solidFill>
              <a:srgbClr val="4CAF50"/>
            </a:solidFill>
            <a:prstDash val="solid"/>
          </a:ln>
        </p:spPr>
      </p:sp>
      <p:sp>
        <p:nvSpPr>
          <p:cNvPr id="63" name="Shape 61"/>
          <p:cNvSpPr/>
          <p:nvPr/>
        </p:nvSpPr>
        <p:spPr>
          <a:xfrm>
            <a:off x="7315200" y="3520440"/>
            <a:ext cx="502920" cy="0"/>
          </a:xfrm>
          <a:prstGeom prst="line">
            <a:avLst/>
          </a:prstGeom>
          <a:noFill/>
          <a:ln w="25400">
            <a:solidFill>
              <a:srgbClr val="4CAF50"/>
            </a:solidFill>
            <a:prstDash val="solid"/>
          </a:ln>
        </p:spPr>
      </p:sp>
      <p:sp>
        <p:nvSpPr>
          <p:cNvPr id="64" name="Shape 62"/>
          <p:cNvSpPr/>
          <p:nvPr/>
        </p:nvSpPr>
        <p:spPr>
          <a:xfrm>
            <a:off x="7315200" y="3520440"/>
            <a:ext cx="0" cy="320040"/>
          </a:xfrm>
          <a:prstGeom prst="line">
            <a:avLst/>
          </a:prstGeom>
          <a:noFill/>
          <a:ln w="25400">
            <a:solidFill>
              <a:srgbClr val="4CAF50"/>
            </a:solidFill>
            <a:prstDash val="solid"/>
          </a:ln>
        </p:spPr>
      </p:sp>
      <p:sp>
        <p:nvSpPr>
          <p:cNvPr id="65" name="Shape 63"/>
          <p:cNvSpPr/>
          <p:nvPr/>
        </p:nvSpPr>
        <p:spPr>
          <a:xfrm>
            <a:off x="7818120" y="3520440"/>
            <a:ext cx="502920" cy="0"/>
          </a:xfrm>
          <a:prstGeom prst="line">
            <a:avLst/>
          </a:prstGeom>
          <a:noFill/>
          <a:ln w="25400">
            <a:solidFill>
              <a:srgbClr val="4CAF50"/>
            </a:solidFill>
            <a:prstDash val="solid"/>
          </a:ln>
        </p:spPr>
      </p:sp>
      <p:sp>
        <p:nvSpPr>
          <p:cNvPr id="66" name="Text 64"/>
          <p:cNvSpPr/>
          <p:nvPr/>
        </p:nvSpPr>
        <p:spPr>
          <a:xfrm>
            <a:off x="457200" y="2926080"/>
            <a:ext cx="64008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SCL</a:t>
            </a:r>
            <a:endParaRPr lang="en-US" sz="1100" dirty="0"/>
          </a:p>
        </p:txBody>
      </p:sp>
      <p:sp>
        <p:nvSpPr>
          <p:cNvPr id="67" name="Text 65"/>
          <p:cNvSpPr/>
          <p:nvPr/>
        </p:nvSpPr>
        <p:spPr>
          <a:xfrm>
            <a:off x="457200" y="3520440"/>
            <a:ext cx="640080" cy="3200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SDA</a:t>
            </a:r>
            <a:endParaRPr lang="en-US" sz="1100" dirty="0"/>
          </a:p>
        </p:txBody>
      </p:sp>
      <p:sp>
        <p:nvSpPr>
          <p:cNvPr id="68" name="Text 66"/>
          <p:cNvSpPr/>
          <p:nvPr/>
        </p:nvSpPr>
        <p:spPr>
          <a:xfrm>
            <a:off x="1581912" y="3959352"/>
            <a:ext cx="1097280" cy="228600"/>
          </a:xfrm>
          <a:prstGeom prst="rect">
            <a:avLst/>
          </a:prstGeom>
          <a:noFill/>
          <a:ln/>
        </p:spPr>
        <p:txBody>
          <a:bodyPr wrap="square" lIns="0" tIns="0" rIns="0" bIns="0" rtlCol="0" anchor="ctr"/>
          <a:lstStyle/>
          <a:p>
            <a:pPr algn="l" indent="0" marL="0">
              <a:buNone/>
            </a:pPr>
            <a:r>
              <a:rPr lang="en-US" sz="1000" b="1" dirty="0">
                <a:solidFill>
                  <a:srgbClr val="FFB300"/>
                </a:solidFill>
                <a:latin typeface="Calibri" pitchFamily="34" charset="0"/>
                <a:ea typeface="Calibri" pitchFamily="34" charset="-122"/>
                <a:cs typeface="Calibri" pitchFamily="34" charset="-120"/>
              </a:rPr>
              <a:t>START</a:t>
            </a:r>
            <a:endParaRPr lang="en-US" sz="1000" dirty="0"/>
          </a:p>
        </p:txBody>
      </p:sp>
      <p:sp>
        <p:nvSpPr>
          <p:cNvPr id="69" name="Text 67"/>
          <p:cNvSpPr/>
          <p:nvPr/>
        </p:nvSpPr>
        <p:spPr>
          <a:xfrm>
            <a:off x="7189470" y="3959352"/>
            <a:ext cx="1097280" cy="228600"/>
          </a:xfrm>
          <a:prstGeom prst="rect">
            <a:avLst/>
          </a:prstGeom>
          <a:noFill/>
          <a:ln/>
        </p:spPr>
        <p:txBody>
          <a:bodyPr wrap="square" lIns="0" tIns="0" rIns="0" bIns="0" rtlCol="0" anchor="ctr"/>
          <a:lstStyle/>
          <a:p>
            <a:pPr algn="l" indent="0" marL="0">
              <a:buNone/>
            </a:pPr>
            <a:r>
              <a:rPr lang="en-US" sz="1000" b="1" dirty="0">
                <a:solidFill>
                  <a:srgbClr val="FFB300"/>
                </a:solidFill>
                <a:latin typeface="Calibri" pitchFamily="34" charset="0"/>
                <a:ea typeface="Calibri" pitchFamily="34" charset="-122"/>
                <a:cs typeface="Calibri" pitchFamily="34" charset="-120"/>
              </a:rPr>
              <a:t>STOP</a:t>
            </a:r>
            <a:endParaRPr lang="en-US" sz="1000" dirty="0"/>
          </a:p>
        </p:txBody>
      </p:sp>
      <p:sp>
        <p:nvSpPr>
          <p:cNvPr id="70" name="Text 68"/>
          <p:cNvSpPr/>
          <p:nvPr/>
        </p:nvSpPr>
        <p:spPr>
          <a:xfrm>
            <a:off x="3200400" y="2633472"/>
            <a:ext cx="685800" cy="2286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bit 1</a:t>
            </a:r>
            <a:endParaRPr lang="en-US" sz="1000" dirty="0"/>
          </a:p>
        </p:txBody>
      </p:sp>
      <p:sp>
        <p:nvSpPr>
          <p:cNvPr id="71" name="Text 69"/>
          <p:cNvSpPr/>
          <p:nvPr/>
        </p:nvSpPr>
        <p:spPr>
          <a:xfrm>
            <a:off x="4709160" y="2633472"/>
            <a:ext cx="685800" cy="2286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bit 0</a:t>
            </a:r>
            <a:endParaRPr lang="en-US" sz="1000" dirty="0"/>
          </a:p>
        </p:txBody>
      </p:sp>
      <p:sp>
        <p:nvSpPr>
          <p:cNvPr id="72" name="Text 70"/>
          <p:cNvSpPr/>
          <p:nvPr/>
        </p:nvSpPr>
        <p:spPr>
          <a:xfrm>
            <a:off x="5715000" y="2633472"/>
            <a:ext cx="685800" cy="2286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bit 0</a:t>
            </a:r>
            <a:endParaRPr lang="en-US" sz="1000" dirty="0"/>
          </a:p>
        </p:txBody>
      </p:sp>
      <p:sp>
        <p:nvSpPr>
          <p:cNvPr id="73" name="Text 71"/>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Data changes only while SCL is LOW. SDA changing while SCL is HIGH means START or STOP.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First Byte: Address + R/W</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2103120"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A6</a:t>
            </a:r>
            <a:endParaRPr lang="en-US" sz="1100" dirty="0"/>
          </a:p>
        </p:txBody>
      </p:sp>
      <p:sp>
        <p:nvSpPr>
          <p:cNvPr id="7" name="Text 5"/>
          <p:cNvSpPr/>
          <p:nvPr/>
        </p:nvSpPr>
        <p:spPr>
          <a:xfrm>
            <a:off x="2724912"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A5</a:t>
            </a:r>
            <a:endParaRPr lang="en-US" sz="1100" dirty="0"/>
          </a:p>
        </p:txBody>
      </p:sp>
      <p:sp>
        <p:nvSpPr>
          <p:cNvPr id="8" name="Text 6"/>
          <p:cNvSpPr/>
          <p:nvPr/>
        </p:nvSpPr>
        <p:spPr>
          <a:xfrm>
            <a:off x="3346704"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A4</a:t>
            </a:r>
            <a:endParaRPr lang="en-US" sz="1100" dirty="0"/>
          </a:p>
        </p:txBody>
      </p:sp>
      <p:sp>
        <p:nvSpPr>
          <p:cNvPr id="9" name="Text 7"/>
          <p:cNvSpPr/>
          <p:nvPr/>
        </p:nvSpPr>
        <p:spPr>
          <a:xfrm>
            <a:off x="3968496"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A3</a:t>
            </a:r>
            <a:endParaRPr lang="en-US" sz="1100" dirty="0"/>
          </a:p>
        </p:txBody>
      </p:sp>
      <p:sp>
        <p:nvSpPr>
          <p:cNvPr id="10" name="Text 8"/>
          <p:cNvSpPr/>
          <p:nvPr/>
        </p:nvSpPr>
        <p:spPr>
          <a:xfrm>
            <a:off x="4590288"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A2</a:t>
            </a:r>
            <a:endParaRPr lang="en-US" sz="1100" dirty="0"/>
          </a:p>
        </p:txBody>
      </p:sp>
      <p:sp>
        <p:nvSpPr>
          <p:cNvPr id="11" name="Text 9"/>
          <p:cNvSpPr/>
          <p:nvPr/>
        </p:nvSpPr>
        <p:spPr>
          <a:xfrm>
            <a:off x="5212080"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A1</a:t>
            </a:r>
            <a:endParaRPr lang="en-US" sz="1100" dirty="0"/>
          </a:p>
        </p:txBody>
      </p:sp>
      <p:sp>
        <p:nvSpPr>
          <p:cNvPr id="12" name="Text 10"/>
          <p:cNvSpPr/>
          <p:nvPr/>
        </p:nvSpPr>
        <p:spPr>
          <a:xfrm>
            <a:off x="5833872"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A0</a:t>
            </a:r>
            <a:endParaRPr lang="en-US" sz="1100" dirty="0"/>
          </a:p>
        </p:txBody>
      </p:sp>
      <p:sp>
        <p:nvSpPr>
          <p:cNvPr id="13" name="Text 11"/>
          <p:cNvSpPr/>
          <p:nvPr/>
        </p:nvSpPr>
        <p:spPr>
          <a:xfrm>
            <a:off x="6455664" y="1188720"/>
            <a:ext cx="566928"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R/W</a:t>
            </a:r>
            <a:endParaRPr lang="en-US" sz="1100" dirty="0"/>
          </a:p>
        </p:txBody>
      </p:sp>
      <p:sp>
        <p:nvSpPr>
          <p:cNvPr id="14" name="Text 12"/>
          <p:cNvSpPr/>
          <p:nvPr/>
        </p:nvSpPr>
        <p:spPr>
          <a:xfrm>
            <a:off x="457200" y="1508760"/>
            <a:ext cx="1463040" cy="50292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Write</a:t>
            </a:r>
            <a:endParaRPr lang="en-US" sz="1500" dirty="0"/>
          </a:p>
        </p:txBody>
      </p:sp>
      <p:sp>
        <p:nvSpPr>
          <p:cNvPr id="15" name="Shape 13"/>
          <p:cNvSpPr/>
          <p:nvPr/>
        </p:nvSpPr>
        <p:spPr>
          <a:xfrm>
            <a:off x="2103120" y="1508760"/>
            <a:ext cx="566928" cy="502920"/>
          </a:xfrm>
          <a:prstGeom prst="rect">
            <a:avLst/>
          </a:prstGeom>
          <a:solidFill>
            <a:srgbClr val="253270"/>
          </a:solidFill>
          <a:ln w="12700">
            <a:solidFill>
              <a:srgbClr val="CADCFC"/>
            </a:solidFill>
            <a:prstDash val="solid"/>
          </a:ln>
        </p:spPr>
      </p:sp>
      <p:sp>
        <p:nvSpPr>
          <p:cNvPr id="16" name="Text 14"/>
          <p:cNvSpPr/>
          <p:nvPr/>
        </p:nvSpPr>
        <p:spPr>
          <a:xfrm>
            <a:off x="2103120"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17" name="Shape 15"/>
          <p:cNvSpPr/>
          <p:nvPr/>
        </p:nvSpPr>
        <p:spPr>
          <a:xfrm>
            <a:off x="2724912" y="1508760"/>
            <a:ext cx="566928" cy="502920"/>
          </a:xfrm>
          <a:prstGeom prst="rect">
            <a:avLst/>
          </a:prstGeom>
          <a:solidFill>
            <a:srgbClr val="253270"/>
          </a:solidFill>
          <a:ln w="12700">
            <a:solidFill>
              <a:srgbClr val="CADCFC"/>
            </a:solidFill>
            <a:prstDash val="solid"/>
          </a:ln>
        </p:spPr>
      </p:sp>
      <p:sp>
        <p:nvSpPr>
          <p:cNvPr id="18" name="Text 16"/>
          <p:cNvSpPr/>
          <p:nvPr/>
        </p:nvSpPr>
        <p:spPr>
          <a:xfrm>
            <a:off x="2724912"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19" name="Shape 17"/>
          <p:cNvSpPr/>
          <p:nvPr/>
        </p:nvSpPr>
        <p:spPr>
          <a:xfrm>
            <a:off x="3346704" y="1508760"/>
            <a:ext cx="566928" cy="502920"/>
          </a:xfrm>
          <a:prstGeom prst="rect">
            <a:avLst/>
          </a:prstGeom>
          <a:solidFill>
            <a:srgbClr val="253270"/>
          </a:solidFill>
          <a:ln w="12700">
            <a:solidFill>
              <a:srgbClr val="CADCFC"/>
            </a:solidFill>
            <a:prstDash val="solid"/>
          </a:ln>
        </p:spPr>
      </p:sp>
      <p:sp>
        <p:nvSpPr>
          <p:cNvPr id="20" name="Text 18"/>
          <p:cNvSpPr/>
          <p:nvPr/>
        </p:nvSpPr>
        <p:spPr>
          <a:xfrm>
            <a:off x="3346704"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21" name="Shape 19"/>
          <p:cNvSpPr/>
          <p:nvPr/>
        </p:nvSpPr>
        <p:spPr>
          <a:xfrm>
            <a:off x="3968496" y="1508760"/>
            <a:ext cx="566928" cy="502920"/>
          </a:xfrm>
          <a:prstGeom prst="rect">
            <a:avLst/>
          </a:prstGeom>
          <a:solidFill>
            <a:srgbClr val="253270"/>
          </a:solidFill>
          <a:ln w="12700">
            <a:solidFill>
              <a:srgbClr val="CADCFC"/>
            </a:solidFill>
            <a:prstDash val="solid"/>
          </a:ln>
        </p:spPr>
      </p:sp>
      <p:sp>
        <p:nvSpPr>
          <p:cNvPr id="22" name="Text 20"/>
          <p:cNvSpPr/>
          <p:nvPr/>
        </p:nvSpPr>
        <p:spPr>
          <a:xfrm>
            <a:off x="3968496"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23" name="Shape 21"/>
          <p:cNvSpPr/>
          <p:nvPr/>
        </p:nvSpPr>
        <p:spPr>
          <a:xfrm>
            <a:off x="4590288" y="1508760"/>
            <a:ext cx="566928" cy="502920"/>
          </a:xfrm>
          <a:prstGeom prst="rect">
            <a:avLst/>
          </a:prstGeom>
          <a:solidFill>
            <a:srgbClr val="253270"/>
          </a:solidFill>
          <a:ln w="12700">
            <a:solidFill>
              <a:srgbClr val="CADCFC"/>
            </a:solidFill>
            <a:prstDash val="solid"/>
          </a:ln>
        </p:spPr>
      </p:sp>
      <p:sp>
        <p:nvSpPr>
          <p:cNvPr id="24" name="Text 22"/>
          <p:cNvSpPr/>
          <p:nvPr/>
        </p:nvSpPr>
        <p:spPr>
          <a:xfrm>
            <a:off x="4590288"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25" name="Shape 23"/>
          <p:cNvSpPr/>
          <p:nvPr/>
        </p:nvSpPr>
        <p:spPr>
          <a:xfrm>
            <a:off x="5212080" y="1508760"/>
            <a:ext cx="566928" cy="502920"/>
          </a:xfrm>
          <a:prstGeom prst="rect">
            <a:avLst/>
          </a:prstGeom>
          <a:solidFill>
            <a:srgbClr val="253270"/>
          </a:solidFill>
          <a:ln w="12700">
            <a:solidFill>
              <a:srgbClr val="CADCFC"/>
            </a:solidFill>
            <a:prstDash val="solid"/>
          </a:ln>
        </p:spPr>
      </p:sp>
      <p:sp>
        <p:nvSpPr>
          <p:cNvPr id="26" name="Text 24"/>
          <p:cNvSpPr/>
          <p:nvPr/>
        </p:nvSpPr>
        <p:spPr>
          <a:xfrm>
            <a:off x="5212080"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27" name="Shape 25"/>
          <p:cNvSpPr/>
          <p:nvPr/>
        </p:nvSpPr>
        <p:spPr>
          <a:xfrm>
            <a:off x="5833872" y="1508760"/>
            <a:ext cx="566928" cy="502920"/>
          </a:xfrm>
          <a:prstGeom prst="rect">
            <a:avLst/>
          </a:prstGeom>
          <a:solidFill>
            <a:srgbClr val="253270"/>
          </a:solidFill>
          <a:ln w="12700">
            <a:solidFill>
              <a:srgbClr val="CADCFC"/>
            </a:solidFill>
            <a:prstDash val="solid"/>
          </a:ln>
        </p:spPr>
      </p:sp>
      <p:sp>
        <p:nvSpPr>
          <p:cNvPr id="28" name="Text 26"/>
          <p:cNvSpPr/>
          <p:nvPr/>
        </p:nvSpPr>
        <p:spPr>
          <a:xfrm>
            <a:off x="5833872" y="150876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29" name="Shape 27"/>
          <p:cNvSpPr/>
          <p:nvPr/>
        </p:nvSpPr>
        <p:spPr>
          <a:xfrm>
            <a:off x="6455664" y="1508760"/>
            <a:ext cx="566928" cy="502920"/>
          </a:xfrm>
          <a:prstGeom prst="rect">
            <a:avLst/>
          </a:prstGeom>
          <a:solidFill>
            <a:srgbClr val="1E2761"/>
          </a:solidFill>
          <a:ln w="12700">
            <a:solidFill>
              <a:srgbClr val="FFB300"/>
            </a:solidFill>
            <a:prstDash val="solid"/>
          </a:ln>
        </p:spPr>
      </p:sp>
      <p:sp>
        <p:nvSpPr>
          <p:cNvPr id="30" name="Text 28"/>
          <p:cNvSpPr/>
          <p:nvPr/>
        </p:nvSpPr>
        <p:spPr>
          <a:xfrm>
            <a:off x="6455664" y="1508760"/>
            <a:ext cx="566928" cy="502920"/>
          </a:xfrm>
          <a:prstGeom prst="rect">
            <a:avLst/>
          </a:prstGeom>
          <a:noFill/>
          <a:ln/>
        </p:spPr>
        <p:txBody>
          <a:bodyPr wrap="square" lIns="0" tIns="0" rIns="0" bIns="0" rtlCol="0" anchor="ctr"/>
          <a:lstStyle/>
          <a:p>
            <a:pPr algn="ctr" indent="0" marL="0">
              <a:buNone/>
            </a:pPr>
            <a:r>
              <a:rPr lang="en-US" sz="1600" b="1" dirty="0">
                <a:solidFill>
                  <a:srgbClr val="FFB300"/>
                </a:solidFill>
                <a:latin typeface="Consolas" pitchFamily="34" charset="0"/>
                <a:ea typeface="Consolas" pitchFamily="34" charset="-122"/>
                <a:cs typeface="Consolas" pitchFamily="34" charset="-120"/>
              </a:rPr>
              <a:t>0</a:t>
            </a:r>
            <a:endParaRPr lang="en-US" sz="1600" dirty="0"/>
          </a:p>
        </p:txBody>
      </p:sp>
      <p:sp>
        <p:nvSpPr>
          <p:cNvPr id="31" name="Text 29"/>
          <p:cNvSpPr/>
          <p:nvPr/>
        </p:nvSpPr>
        <p:spPr>
          <a:xfrm>
            <a:off x="7214616" y="1508760"/>
            <a:ext cx="1097280" cy="502920"/>
          </a:xfrm>
          <a:prstGeom prst="rect">
            <a:avLst/>
          </a:prstGeom>
          <a:noFill/>
          <a:ln/>
        </p:spPr>
        <p:txBody>
          <a:bodyPr wrap="square" lIns="0" tIns="0" rIns="0" bIns="0" rtlCol="0" anchor="ctr"/>
          <a:lstStyle/>
          <a:p>
            <a:pPr algn="l" indent="0" marL="0">
              <a:buNone/>
            </a:pPr>
            <a:r>
              <a:rPr lang="en-US" sz="1800" b="1" dirty="0">
                <a:solidFill>
                  <a:srgbClr val="FFB300"/>
                </a:solidFill>
                <a:latin typeface="Consolas" pitchFamily="34" charset="0"/>
                <a:ea typeface="Consolas" pitchFamily="34" charset="-122"/>
                <a:cs typeface="Consolas" pitchFamily="34" charset="-120"/>
              </a:rPr>
              <a:t>= 0x70</a:t>
            </a:r>
            <a:endParaRPr lang="en-US" sz="1800" dirty="0"/>
          </a:p>
        </p:txBody>
      </p:sp>
      <p:sp>
        <p:nvSpPr>
          <p:cNvPr id="32" name="Text 30"/>
          <p:cNvSpPr/>
          <p:nvPr/>
        </p:nvSpPr>
        <p:spPr>
          <a:xfrm>
            <a:off x="457200" y="2148840"/>
            <a:ext cx="1463040" cy="50292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Read</a:t>
            </a:r>
            <a:endParaRPr lang="en-US" sz="1500" dirty="0"/>
          </a:p>
        </p:txBody>
      </p:sp>
      <p:sp>
        <p:nvSpPr>
          <p:cNvPr id="33" name="Shape 31"/>
          <p:cNvSpPr/>
          <p:nvPr/>
        </p:nvSpPr>
        <p:spPr>
          <a:xfrm>
            <a:off x="2103120" y="2148840"/>
            <a:ext cx="566928" cy="502920"/>
          </a:xfrm>
          <a:prstGeom prst="rect">
            <a:avLst/>
          </a:prstGeom>
          <a:solidFill>
            <a:srgbClr val="253270"/>
          </a:solidFill>
          <a:ln w="12700">
            <a:solidFill>
              <a:srgbClr val="CADCFC"/>
            </a:solidFill>
            <a:prstDash val="solid"/>
          </a:ln>
        </p:spPr>
      </p:sp>
      <p:sp>
        <p:nvSpPr>
          <p:cNvPr id="34" name="Text 32"/>
          <p:cNvSpPr/>
          <p:nvPr/>
        </p:nvSpPr>
        <p:spPr>
          <a:xfrm>
            <a:off x="2103120"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35" name="Shape 33"/>
          <p:cNvSpPr/>
          <p:nvPr/>
        </p:nvSpPr>
        <p:spPr>
          <a:xfrm>
            <a:off x="2724912" y="2148840"/>
            <a:ext cx="566928" cy="502920"/>
          </a:xfrm>
          <a:prstGeom prst="rect">
            <a:avLst/>
          </a:prstGeom>
          <a:solidFill>
            <a:srgbClr val="253270"/>
          </a:solidFill>
          <a:ln w="12700">
            <a:solidFill>
              <a:srgbClr val="CADCFC"/>
            </a:solidFill>
            <a:prstDash val="solid"/>
          </a:ln>
        </p:spPr>
      </p:sp>
      <p:sp>
        <p:nvSpPr>
          <p:cNvPr id="36" name="Text 34"/>
          <p:cNvSpPr/>
          <p:nvPr/>
        </p:nvSpPr>
        <p:spPr>
          <a:xfrm>
            <a:off x="2724912"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37" name="Shape 35"/>
          <p:cNvSpPr/>
          <p:nvPr/>
        </p:nvSpPr>
        <p:spPr>
          <a:xfrm>
            <a:off x="3346704" y="2148840"/>
            <a:ext cx="566928" cy="502920"/>
          </a:xfrm>
          <a:prstGeom prst="rect">
            <a:avLst/>
          </a:prstGeom>
          <a:solidFill>
            <a:srgbClr val="253270"/>
          </a:solidFill>
          <a:ln w="12700">
            <a:solidFill>
              <a:srgbClr val="CADCFC"/>
            </a:solidFill>
            <a:prstDash val="solid"/>
          </a:ln>
        </p:spPr>
      </p:sp>
      <p:sp>
        <p:nvSpPr>
          <p:cNvPr id="38" name="Text 36"/>
          <p:cNvSpPr/>
          <p:nvPr/>
        </p:nvSpPr>
        <p:spPr>
          <a:xfrm>
            <a:off x="3346704"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39" name="Shape 37"/>
          <p:cNvSpPr/>
          <p:nvPr/>
        </p:nvSpPr>
        <p:spPr>
          <a:xfrm>
            <a:off x="3968496" y="2148840"/>
            <a:ext cx="566928" cy="502920"/>
          </a:xfrm>
          <a:prstGeom prst="rect">
            <a:avLst/>
          </a:prstGeom>
          <a:solidFill>
            <a:srgbClr val="253270"/>
          </a:solidFill>
          <a:ln w="12700">
            <a:solidFill>
              <a:srgbClr val="CADCFC"/>
            </a:solidFill>
            <a:prstDash val="solid"/>
          </a:ln>
        </p:spPr>
      </p:sp>
      <p:sp>
        <p:nvSpPr>
          <p:cNvPr id="40" name="Text 38"/>
          <p:cNvSpPr/>
          <p:nvPr/>
        </p:nvSpPr>
        <p:spPr>
          <a:xfrm>
            <a:off x="3968496"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41" name="Shape 39"/>
          <p:cNvSpPr/>
          <p:nvPr/>
        </p:nvSpPr>
        <p:spPr>
          <a:xfrm>
            <a:off x="4590288" y="2148840"/>
            <a:ext cx="566928" cy="502920"/>
          </a:xfrm>
          <a:prstGeom prst="rect">
            <a:avLst/>
          </a:prstGeom>
          <a:solidFill>
            <a:srgbClr val="253270"/>
          </a:solidFill>
          <a:ln w="12700">
            <a:solidFill>
              <a:srgbClr val="CADCFC"/>
            </a:solidFill>
            <a:prstDash val="solid"/>
          </a:ln>
        </p:spPr>
      </p:sp>
      <p:sp>
        <p:nvSpPr>
          <p:cNvPr id="42" name="Text 40"/>
          <p:cNvSpPr/>
          <p:nvPr/>
        </p:nvSpPr>
        <p:spPr>
          <a:xfrm>
            <a:off x="4590288"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43" name="Shape 41"/>
          <p:cNvSpPr/>
          <p:nvPr/>
        </p:nvSpPr>
        <p:spPr>
          <a:xfrm>
            <a:off x="5212080" y="2148840"/>
            <a:ext cx="566928" cy="502920"/>
          </a:xfrm>
          <a:prstGeom prst="rect">
            <a:avLst/>
          </a:prstGeom>
          <a:solidFill>
            <a:srgbClr val="253270"/>
          </a:solidFill>
          <a:ln w="12700">
            <a:solidFill>
              <a:srgbClr val="CADCFC"/>
            </a:solidFill>
            <a:prstDash val="solid"/>
          </a:ln>
        </p:spPr>
      </p:sp>
      <p:sp>
        <p:nvSpPr>
          <p:cNvPr id="44" name="Text 42"/>
          <p:cNvSpPr/>
          <p:nvPr/>
        </p:nvSpPr>
        <p:spPr>
          <a:xfrm>
            <a:off x="5212080"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45" name="Shape 43"/>
          <p:cNvSpPr/>
          <p:nvPr/>
        </p:nvSpPr>
        <p:spPr>
          <a:xfrm>
            <a:off x="5833872" y="2148840"/>
            <a:ext cx="566928" cy="502920"/>
          </a:xfrm>
          <a:prstGeom prst="rect">
            <a:avLst/>
          </a:prstGeom>
          <a:solidFill>
            <a:srgbClr val="253270"/>
          </a:solidFill>
          <a:ln w="12700">
            <a:solidFill>
              <a:srgbClr val="CADCFC"/>
            </a:solidFill>
            <a:prstDash val="solid"/>
          </a:ln>
        </p:spPr>
      </p:sp>
      <p:sp>
        <p:nvSpPr>
          <p:cNvPr id="46" name="Text 44"/>
          <p:cNvSpPr/>
          <p:nvPr/>
        </p:nvSpPr>
        <p:spPr>
          <a:xfrm>
            <a:off x="5833872" y="2148840"/>
            <a:ext cx="566928"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0</a:t>
            </a:r>
            <a:endParaRPr lang="en-US" sz="1600" dirty="0"/>
          </a:p>
        </p:txBody>
      </p:sp>
      <p:sp>
        <p:nvSpPr>
          <p:cNvPr id="47" name="Shape 45"/>
          <p:cNvSpPr/>
          <p:nvPr/>
        </p:nvSpPr>
        <p:spPr>
          <a:xfrm>
            <a:off x="6455664" y="2148840"/>
            <a:ext cx="566928" cy="502920"/>
          </a:xfrm>
          <a:prstGeom prst="rect">
            <a:avLst/>
          </a:prstGeom>
          <a:solidFill>
            <a:srgbClr val="1E2761"/>
          </a:solidFill>
          <a:ln w="12700">
            <a:solidFill>
              <a:srgbClr val="FFB300"/>
            </a:solidFill>
            <a:prstDash val="solid"/>
          </a:ln>
        </p:spPr>
      </p:sp>
      <p:sp>
        <p:nvSpPr>
          <p:cNvPr id="48" name="Text 46"/>
          <p:cNvSpPr/>
          <p:nvPr/>
        </p:nvSpPr>
        <p:spPr>
          <a:xfrm>
            <a:off x="6455664" y="2148840"/>
            <a:ext cx="566928" cy="502920"/>
          </a:xfrm>
          <a:prstGeom prst="rect">
            <a:avLst/>
          </a:prstGeom>
          <a:noFill/>
          <a:ln/>
        </p:spPr>
        <p:txBody>
          <a:bodyPr wrap="square" lIns="0" tIns="0" rIns="0" bIns="0" rtlCol="0" anchor="ctr"/>
          <a:lstStyle/>
          <a:p>
            <a:pPr algn="ctr" indent="0" marL="0">
              <a:buNone/>
            </a:pPr>
            <a:r>
              <a:rPr lang="en-US" sz="1600" b="1" dirty="0">
                <a:solidFill>
                  <a:srgbClr val="FFB300"/>
                </a:solidFill>
                <a:latin typeface="Consolas" pitchFamily="34" charset="0"/>
                <a:ea typeface="Consolas" pitchFamily="34" charset="-122"/>
                <a:cs typeface="Consolas" pitchFamily="34" charset="-120"/>
              </a:rPr>
              <a:t>1</a:t>
            </a:r>
            <a:endParaRPr lang="en-US" sz="1600" dirty="0"/>
          </a:p>
        </p:txBody>
      </p:sp>
      <p:sp>
        <p:nvSpPr>
          <p:cNvPr id="49" name="Text 47"/>
          <p:cNvSpPr/>
          <p:nvPr/>
        </p:nvSpPr>
        <p:spPr>
          <a:xfrm>
            <a:off x="7214616" y="2148840"/>
            <a:ext cx="1097280" cy="502920"/>
          </a:xfrm>
          <a:prstGeom prst="rect">
            <a:avLst/>
          </a:prstGeom>
          <a:noFill/>
          <a:ln/>
        </p:spPr>
        <p:txBody>
          <a:bodyPr wrap="square" lIns="0" tIns="0" rIns="0" bIns="0" rtlCol="0" anchor="ctr"/>
          <a:lstStyle/>
          <a:p>
            <a:pPr algn="l" indent="0" marL="0">
              <a:buNone/>
            </a:pPr>
            <a:r>
              <a:rPr lang="en-US" sz="1800" b="1" dirty="0">
                <a:solidFill>
                  <a:srgbClr val="FFB300"/>
                </a:solidFill>
                <a:latin typeface="Consolas" pitchFamily="34" charset="0"/>
                <a:ea typeface="Consolas" pitchFamily="34" charset="-122"/>
                <a:cs typeface="Consolas" pitchFamily="34" charset="-120"/>
              </a:rPr>
              <a:t>= 0x71</a:t>
            </a:r>
            <a:endParaRPr lang="en-US" sz="1800" dirty="0"/>
          </a:p>
        </p:txBody>
      </p:sp>
      <p:sp>
        <p:nvSpPr>
          <p:cNvPr id="50" name="Text 48"/>
          <p:cNvSpPr/>
          <p:nvPr/>
        </p:nvSpPr>
        <p:spPr>
          <a:xfrm>
            <a:off x="2103120" y="2743200"/>
            <a:ext cx="4352544" cy="27432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address 0x38 = 0111000</a:t>
            </a:r>
            <a:endParaRPr lang="en-US" sz="1200" dirty="0"/>
          </a:p>
        </p:txBody>
      </p:sp>
      <p:sp>
        <p:nvSpPr>
          <p:cNvPr id="51" name="Text 49"/>
          <p:cNvSpPr/>
          <p:nvPr/>
        </p:nvSpPr>
        <p:spPr>
          <a:xfrm>
            <a:off x="457200" y="3017520"/>
            <a:ext cx="8229600" cy="822960"/>
          </a:xfrm>
          <a:prstGeom prst="rect">
            <a:avLst/>
          </a:prstGeom>
          <a:noFill/>
          <a:ln/>
        </p:spPr>
        <p:txBody>
          <a:bodyPr wrap="square" rtlCol="0" anchor="t"/>
          <a:lstStyle/>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Wire takes the 7-bit address (0x38) and adds the R/W bit for you</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Some datasheets and forum posts write 0x70 / 0x71 - same device, 8-bit notation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9th Clock: ACK and NACK</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188720"/>
            <a:ext cx="2590800" cy="2194560"/>
          </a:xfrm>
          <a:prstGeom prst="rect">
            <a:avLst/>
          </a:prstGeom>
          <a:solidFill>
            <a:srgbClr val="253270"/>
          </a:solidFill>
          <a:ln w="25400">
            <a:solidFill>
              <a:srgbClr val="4CAF50"/>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ACK</a:t>
            </a:r>
            <a:endParaRPr lang="en-US" sz="1700" dirty="0"/>
          </a:p>
        </p:txBody>
      </p:sp>
      <p:sp>
        <p:nvSpPr>
          <p:cNvPr id="8" name="Text 6"/>
          <p:cNvSpPr/>
          <p:nvPr/>
        </p:nvSpPr>
        <p:spPr>
          <a:xfrm>
            <a:off x="594360" y="1920240"/>
            <a:ext cx="2316480" cy="13258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After every byte, the receiver pulls SDA LOW for one clock.</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"Got it, go on."</a:t>
            </a:r>
            <a:endParaRPr lang="en-US" sz="1200" dirty="0"/>
          </a:p>
        </p:txBody>
      </p:sp>
      <p:sp>
        <p:nvSpPr>
          <p:cNvPr id="9" name="Shape 7"/>
          <p:cNvSpPr/>
          <p:nvPr/>
        </p:nvSpPr>
        <p:spPr>
          <a:xfrm>
            <a:off x="3276600" y="1188720"/>
            <a:ext cx="2590800" cy="2194560"/>
          </a:xfrm>
          <a:prstGeom prst="rect">
            <a:avLst/>
          </a:prstGeom>
          <a:solidFill>
            <a:srgbClr val="253270"/>
          </a:solidFill>
          <a:ln w="25400">
            <a:solidFill>
              <a:srgbClr val="FF5252"/>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32766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NACK on the address</a:t>
            </a:r>
            <a:endParaRPr lang="en-US" sz="1700" dirty="0"/>
          </a:p>
        </p:txBody>
      </p:sp>
      <p:sp>
        <p:nvSpPr>
          <p:cNvPr id="11" name="Text 9"/>
          <p:cNvSpPr/>
          <p:nvPr/>
        </p:nvSpPr>
        <p:spPr>
          <a:xfrm>
            <a:off x="3413760" y="1920240"/>
            <a:ext cx="2316480" cy="13258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Nobody pulled SDA low: the pull-up wins, the line stays HIGH.</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No device at that address - or a loose wire.</a:t>
            </a:r>
            <a:endParaRPr lang="en-US" sz="1200" dirty="0"/>
          </a:p>
        </p:txBody>
      </p:sp>
      <p:sp>
        <p:nvSpPr>
          <p:cNvPr id="12" name="Shape 10"/>
          <p:cNvSpPr/>
          <p:nvPr/>
        </p:nvSpPr>
        <p:spPr>
          <a:xfrm>
            <a:off x="6096000" y="1188720"/>
            <a:ext cx="2590800" cy="219456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3" name="Text 11"/>
          <p:cNvSpPr/>
          <p:nvPr/>
        </p:nvSpPr>
        <p:spPr>
          <a:xfrm>
            <a:off x="60960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NACK at the end</a:t>
            </a:r>
            <a:endParaRPr lang="en-US" sz="1700" dirty="0"/>
          </a:p>
        </p:txBody>
      </p:sp>
      <p:sp>
        <p:nvSpPr>
          <p:cNvPr id="14" name="Text 12"/>
          <p:cNvSpPr/>
          <p:nvPr/>
        </p:nvSpPr>
        <p:spPr>
          <a:xfrm>
            <a:off x="6233160" y="1920240"/>
            <a:ext cx="2316480" cy="132588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Reading: the master takes the last byte and does not ACK it.</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"That is enough, stop sending."</a:t>
            </a:r>
            <a:endParaRPr lang="en-US" sz="1200" dirty="0"/>
          </a:p>
        </p:txBody>
      </p:sp>
      <p:sp>
        <p:nvSpPr>
          <p:cNvPr id="15" name="Shape 13"/>
          <p:cNvSpPr/>
          <p:nvPr/>
        </p:nvSpPr>
        <p:spPr>
          <a:xfrm>
            <a:off x="457200" y="3611880"/>
            <a:ext cx="8229600" cy="731520"/>
          </a:xfrm>
          <a:prstGeom prst="rect">
            <a:avLst/>
          </a:prstGeom>
          <a:solidFill>
            <a:srgbClr val="253270"/>
          </a:solidFill>
          <a:ln w="12700">
            <a:solidFill>
              <a:srgbClr val="CADCFC"/>
            </a:solidFill>
            <a:prstDash val="solid"/>
          </a:ln>
        </p:spPr>
      </p:sp>
      <p:sp>
        <p:nvSpPr>
          <p:cNvPr id="16" name="Shape 14"/>
          <p:cNvSpPr/>
          <p:nvPr/>
        </p:nvSpPr>
        <p:spPr>
          <a:xfrm>
            <a:off x="457200" y="3611880"/>
            <a:ext cx="64008" cy="731520"/>
          </a:xfrm>
          <a:prstGeom prst="rect">
            <a:avLst/>
          </a:prstGeom>
          <a:solidFill>
            <a:srgbClr val="CADCFC"/>
          </a:solidFill>
          <a:ln/>
        </p:spPr>
      </p:sp>
      <p:sp>
        <p:nvSpPr>
          <p:cNvPr id="17" name="Text 15"/>
          <p:cNvSpPr/>
          <p:nvPr/>
        </p:nvSpPr>
        <p:spPr>
          <a:xfrm>
            <a:off x="685800" y="368503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A missing device and a cut wire look the same</a:t>
            </a:r>
            <a:endParaRPr lang="en-US" sz="1300" dirty="0"/>
          </a:p>
        </p:txBody>
      </p:sp>
      <p:sp>
        <p:nvSpPr>
          <p:cNvPr id="18" name="Text 16"/>
          <p:cNvSpPr/>
          <p:nvPr/>
        </p:nvSpPr>
        <p:spPr>
          <a:xfrm>
            <a:off x="685800" y="39593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Both give NACK. That is why the scanner is the first test, and why the analyzer comes in session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Two Kinds of Devices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457200" y="1097280"/>
            <a:ext cx="393192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Trebuchet MS" pitchFamily="34" charset="0"/>
                <a:ea typeface="Trebuchet MS" pitchFamily="34" charset="-122"/>
                <a:cs typeface="Trebuchet MS" pitchFamily="34" charset="-120"/>
              </a:rPr>
              <a:t>Register-based (most sensors)</a:t>
            </a:r>
            <a:endParaRPr lang="en-US" sz="1500" dirty="0"/>
          </a:p>
        </p:txBody>
      </p:sp>
      <p:sp>
        <p:nvSpPr>
          <p:cNvPr id="7" name="Shape 5"/>
          <p:cNvSpPr/>
          <p:nvPr/>
        </p:nvSpPr>
        <p:spPr>
          <a:xfrm>
            <a:off x="457200" y="1463040"/>
            <a:ext cx="3931920" cy="868680"/>
          </a:xfrm>
          <a:prstGeom prst="rect">
            <a:avLst/>
          </a:prstGeom>
          <a:solidFill>
            <a:srgbClr val="0D1117"/>
          </a:solidFill>
          <a:ln w="12700">
            <a:solidFill>
              <a:srgbClr val="3A4A8A"/>
            </a:solidFill>
            <a:prstDash val="solid"/>
          </a:ln>
        </p:spPr>
      </p:sp>
      <p:sp>
        <p:nvSpPr>
          <p:cNvPr id="8" name="Text 6"/>
          <p:cNvSpPr/>
          <p:nvPr/>
        </p:nvSpPr>
        <p:spPr>
          <a:xfrm>
            <a:off x="566928" y="1554480"/>
            <a:ext cx="3712464" cy="685800"/>
          </a:xfrm>
          <a:prstGeom prst="rect">
            <a:avLst/>
          </a:prstGeom>
          <a:noFill/>
          <a:ln/>
        </p:spPr>
        <p:txBody>
          <a:bodyPr wrap="square" lIns="0" tIns="0" rIns="0" bIns="0" rtlCol="0" anchor="t"/>
          <a:lstStyle/>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S  addr+W A  reg A</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Sr addr+R A  data A  data N  P</a:t>
            </a:r>
            <a:endParaRPr lang="en-US" sz="1200" dirty="0"/>
          </a:p>
        </p:txBody>
      </p:sp>
      <p:sp>
        <p:nvSpPr>
          <p:cNvPr id="9" name="Text 7"/>
          <p:cNvSpPr/>
          <p:nvPr/>
        </p:nvSpPr>
        <p:spPr>
          <a:xfrm>
            <a:off x="457200" y="2560320"/>
            <a:ext cx="3931920" cy="109728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Write a register pointer, then read from it</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Sr = repeated start: turn around without releasing the bus</a:t>
            </a:r>
            <a:endParaRPr lang="en-US" sz="1300" dirty="0"/>
          </a:p>
        </p:txBody>
      </p:sp>
      <p:sp>
        <p:nvSpPr>
          <p:cNvPr id="10" name="Text 8"/>
          <p:cNvSpPr/>
          <p:nvPr/>
        </p:nvSpPr>
        <p:spPr>
          <a:xfrm>
            <a:off x="4754880" y="1097280"/>
            <a:ext cx="3931920" cy="320040"/>
          </a:xfrm>
          <a:prstGeom prst="rect">
            <a:avLst/>
          </a:prstGeom>
          <a:noFill/>
          <a:ln/>
        </p:spPr>
        <p:txBody>
          <a:bodyPr wrap="square" lIns="0" tIns="0" rIns="0" bIns="0" rtlCol="0" anchor="ctr"/>
          <a:lstStyle/>
          <a:p>
            <a:pPr algn="l" indent="0" marL="0">
              <a:buNone/>
            </a:pPr>
            <a:r>
              <a:rPr lang="en-US" sz="1500" b="1" dirty="0">
                <a:solidFill>
                  <a:srgbClr val="FFB300"/>
                </a:solidFill>
                <a:latin typeface="Trebuchet MS" pitchFamily="34" charset="0"/>
                <a:ea typeface="Trebuchet MS" pitchFamily="34" charset="-122"/>
                <a:cs typeface="Trebuchet MS" pitchFamily="34" charset="-120"/>
              </a:rPr>
              <a:t>Command-based (the AHT10)</a:t>
            </a:r>
            <a:endParaRPr lang="en-US" sz="1500" dirty="0"/>
          </a:p>
        </p:txBody>
      </p:sp>
      <p:sp>
        <p:nvSpPr>
          <p:cNvPr id="11" name="Shape 9"/>
          <p:cNvSpPr/>
          <p:nvPr/>
        </p:nvSpPr>
        <p:spPr>
          <a:xfrm>
            <a:off x="4754880" y="1463040"/>
            <a:ext cx="3931920" cy="1143000"/>
          </a:xfrm>
          <a:prstGeom prst="rect">
            <a:avLst/>
          </a:prstGeom>
          <a:solidFill>
            <a:srgbClr val="0D1117"/>
          </a:solidFill>
          <a:ln w="12700">
            <a:solidFill>
              <a:srgbClr val="3A4A8A"/>
            </a:solidFill>
            <a:prstDash val="solid"/>
          </a:ln>
        </p:spPr>
      </p:sp>
      <p:sp>
        <p:nvSpPr>
          <p:cNvPr id="12" name="Text 10"/>
          <p:cNvSpPr/>
          <p:nvPr/>
        </p:nvSpPr>
        <p:spPr>
          <a:xfrm>
            <a:off x="4864608" y="1554480"/>
            <a:ext cx="3712464" cy="960120"/>
          </a:xfrm>
          <a:prstGeom prst="rect">
            <a:avLst/>
          </a:prstGeom>
          <a:noFill/>
          <a:ln/>
        </p:spPr>
        <p:txBody>
          <a:bodyPr wrap="square" lIns="0" tIns="0" rIns="0" bIns="0" rtlCol="0" anchor="t"/>
          <a:lstStyle/>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S addr+W A  cmd A  arg A  arg A  P</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    ... wait ...</a:t>
            </a:r>
            <a:endParaRPr lang="en-US" sz="1200" dirty="0"/>
          </a:p>
          <a:p>
            <a:pPr indent="0" marL="0">
              <a:lnSpc>
                <a:spcPct val="100000"/>
              </a:lnSpc>
              <a:buNone/>
            </a:pPr>
            <a:r>
              <a:rPr lang="en-US" sz="1200" dirty="0">
                <a:solidFill>
                  <a:srgbClr val="A8D8FF"/>
                </a:solidFill>
                <a:latin typeface="Consolas" pitchFamily="34" charset="0"/>
                <a:ea typeface="Consolas" pitchFamily="34" charset="-122"/>
                <a:cs typeface="Consolas" pitchFamily="34" charset="-120"/>
              </a:rPr>
              <a:t>S addr+R A  b0 A  ...  b5 N  P</a:t>
            </a:r>
            <a:endParaRPr lang="en-US" sz="1200" dirty="0"/>
          </a:p>
        </p:txBody>
      </p:sp>
      <p:sp>
        <p:nvSpPr>
          <p:cNvPr id="13" name="Text 11"/>
          <p:cNvSpPr/>
          <p:nvPr/>
        </p:nvSpPr>
        <p:spPr>
          <a:xfrm>
            <a:off x="4754880" y="2743200"/>
            <a:ext cx="3931920" cy="91440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Write a command, wait, read the raw result</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No register pointer, no repeated start</a:t>
            </a:r>
            <a:endParaRPr lang="en-US" sz="1300" dirty="0"/>
          </a:p>
        </p:txBody>
      </p:sp>
      <p:sp>
        <p:nvSpPr>
          <p:cNvPr id="14" name="Shape 12"/>
          <p:cNvSpPr/>
          <p:nvPr/>
        </p:nvSpPr>
        <p:spPr>
          <a:xfrm>
            <a:off x="457200" y="3840480"/>
            <a:ext cx="8229600" cy="731520"/>
          </a:xfrm>
          <a:prstGeom prst="rect">
            <a:avLst/>
          </a:prstGeom>
          <a:solidFill>
            <a:srgbClr val="253270"/>
          </a:solidFill>
          <a:ln w="12700">
            <a:solidFill>
              <a:srgbClr val="CADCFC"/>
            </a:solidFill>
            <a:prstDash val="solid"/>
          </a:ln>
        </p:spPr>
      </p:sp>
      <p:sp>
        <p:nvSpPr>
          <p:cNvPr id="15" name="Shape 13"/>
          <p:cNvSpPr/>
          <p:nvPr/>
        </p:nvSpPr>
        <p:spPr>
          <a:xfrm>
            <a:off x="457200" y="3840480"/>
            <a:ext cx="64008" cy="731520"/>
          </a:xfrm>
          <a:prstGeom prst="rect">
            <a:avLst/>
          </a:prstGeom>
          <a:solidFill>
            <a:srgbClr val="CADCFC"/>
          </a:solidFill>
          <a:ln/>
        </p:spPr>
      </p:sp>
      <p:sp>
        <p:nvSpPr>
          <p:cNvPr id="16" name="Text 14"/>
          <p:cNvSpPr/>
          <p:nvPr/>
        </p:nvSpPr>
        <p:spPr>
          <a:xfrm>
            <a:off x="685800" y="391363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Notation for today</a:t>
            </a:r>
            <a:endParaRPr lang="en-US" sz="1300" dirty="0"/>
          </a:p>
        </p:txBody>
      </p:sp>
      <p:sp>
        <p:nvSpPr>
          <p:cNvPr id="17" name="Text 15"/>
          <p:cNvSpPr/>
          <p:nvPr/>
        </p:nvSpPr>
        <p:spPr>
          <a:xfrm>
            <a:off x="685800" y="41879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 start   Sr repeated start   P stop   A ack   N nack   addr+W / addr+R = the first byte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On Paper: Write Out What Goes Over the Wire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188720"/>
            <a:ext cx="4000500" cy="2103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1732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1. Start a measurement</a:t>
            </a:r>
            <a:endParaRPr lang="en-US" sz="1700" dirty="0"/>
          </a:p>
        </p:txBody>
      </p:sp>
      <p:sp>
        <p:nvSpPr>
          <p:cNvPr id="8" name="Text 6"/>
          <p:cNvSpPr/>
          <p:nvPr/>
        </p:nvSpPr>
        <p:spPr>
          <a:xfrm>
            <a:off x="594360" y="1920240"/>
            <a:ext cx="37261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Device 0x38.</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Command bytes: 0xAC 0x33 0x00.</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Write every byte, every A or N, start and stop.</a:t>
            </a:r>
            <a:endParaRPr lang="en-US" sz="1200" dirty="0"/>
          </a:p>
        </p:txBody>
      </p:sp>
      <p:sp>
        <p:nvSpPr>
          <p:cNvPr id="9" name="Shape 7"/>
          <p:cNvSpPr/>
          <p:nvPr/>
        </p:nvSpPr>
        <p:spPr>
          <a:xfrm>
            <a:off x="4686300" y="1188720"/>
            <a:ext cx="4000500" cy="2103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4686300" y="141732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2. Read the result</a:t>
            </a:r>
            <a:endParaRPr lang="en-US" sz="1700" dirty="0"/>
          </a:p>
        </p:txBody>
      </p:sp>
      <p:sp>
        <p:nvSpPr>
          <p:cNvPr id="11" name="Text 9"/>
          <p:cNvSpPr/>
          <p:nvPr/>
        </p:nvSpPr>
        <p:spPr>
          <a:xfrm>
            <a:off x="4823460" y="1920240"/>
            <a:ext cx="37261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Device 0x38.</a:t>
            </a: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The sensor sends 6 bytes.</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Who ACKs each byte? What happens after the last one?</a:t>
            </a:r>
            <a:endParaRPr lang="en-US" sz="1200" dirty="0"/>
          </a:p>
        </p:txBody>
      </p:sp>
      <p:sp>
        <p:nvSpPr>
          <p:cNvPr id="12" name="Shape 10"/>
          <p:cNvSpPr/>
          <p:nvPr/>
        </p:nvSpPr>
        <p:spPr>
          <a:xfrm>
            <a:off x="457200" y="3566160"/>
            <a:ext cx="8229600" cy="777240"/>
          </a:xfrm>
          <a:prstGeom prst="rect">
            <a:avLst/>
          </a:prstGeom>
          <a:solidFill>
            <a:srgbClr val="253270"/>
          </a:solidFill>
          <a:ln w="12700">
            <a:solidFill>
              <a:srgbClr val="FFB300"/>
            </a:solidFill>
            <a:prstDash val="solid"/>
          </a:ln>
        </p:spPr>
      </p:sp>
      <p:sp>
        <p:nvSpPr>
          <p:cNvPr id="13" name="Shape 11"/>
          <p:cNvSpPr/>
          <p:nvPr/>
        </p:nvSpPr>
        <p:spPr>
          <a:xfrm>
            <a:off x="457200" y="3566160"/>
            <a:ext cx="64008" cy="777240"/>
          </a:xfrm>
          <a:prstGeom prst="rect">
            <a:avLst/>
          </a:prstGeom>
          <a:solidFill>
            <a:srgbClr val="FFB300"/>
          </a:solidFill>
          <a:ln/>
        </p:spPr>
      </p:sp>
      <p:sp>
        <p:nvSpPr>
          <p:cNvPr id="14" name="Text 12"/>
          <p:cNvSpPr/>
          <p:nvPr/>
        </p:nvSpPr>
        <p:spPr>
          <a:xfrm>
            <a:off x="685800" y="36393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Pairs, 8 minutes</a:t>
            </a:r>
            <a:endParaRPr lang="en-US" sz="1300" dirty="0"/>
          </a:p>
        </p:txBody>
      </p:sp>
      <p:sp>
        <p:nvSpPr>
          <p:cNvPr id="15" name="Text 13"/>
          <p:cNvSpPr/>
          <p:nvPr/>
        </p:nvSpPr>
        <p:spPr>
          <a:xfrm>
            <a:off x="685800" y="391363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Use the notation from the previous slide. First byte in hex, not as addr+W.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Wire API in Six Calls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097280"/>
            <a:ext cx="5029200" cy="2926080"/>
          </a:xfrm>
          <a:prstGeom prst="rect">
            <a:avLst/>
          </a:prstGeom>
          <a:solidFill>
            <a:srgbClr val="0D1117"/>
          </a:solidFill>
          <a:ln w="12700">
            <a:solidFill>
              <a:srgbClr val="3A4A8A"/>
            </a:solidFill>
            <a:prstDash val="solid"/>
          </a:ln>
        </p:spPr>
      </p:sp>
      <p:sp>
        <p:nvSpPr>
          <p:cNvPr id="7" name="Text 5"/>
          <p:cNvSpPr/>
          <p:nvPr/>
        </p:nvSpPr>
        <p:spPr>
          <a:xfrm>
            <a:off x="566928" y="1188720"/>
            <a:ext cx="4809744" cy="274320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Wire.begin();                    // GP4 SDA, GP5 SCL</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Wire.beginTransmission(0x38);    // start a write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Wire.write(0xAC);                // queue bytes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uint8_t err = Wire.endTransmission();</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 send; 0 = all ACKed</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uint8_t got = Wire.requestFrom(0x38, 6);</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 read 6 bytes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uint8_t b0 = Wire.read();        // one byte at a time</a:t>
            </a:r>
            <a:endParaRPr lang="en-US" sz="1100" dirty="0"/>
          </a:p>
        </p:txBody>
      </p:sp>
      <p:sp>
        <p:nvSpPr>
          <p:cNvPr id="8" name="Text 6"/>
          <p:cNvSpPr/>
          <p:nvPr/>
        </p:nvSpPr>
        <p:spPr>
          <a:xfrm>
            <a:off x="5669280" y="1097280"/>
            <a:ext cx="3017520" cy="292608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Nothing goes on the wire until endTransmission()</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err != 0 means a NACK or a bus error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requestFrom() returns how many bytes arrived. Check that too</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Always the 7-bit address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Wiring and the I2C Scanner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3291840" cy="914400"/>
        </p:xfrm>
        <a:graphic>
          <a:graphicData uri="http://schemas.openxmlformats.org/drawingml/2006/table">
            <a:tbl>
              <a:tblPr/>
              <a:tblGrid>
                <a:gridCol w="1097280"/>
                <a:gridCol w="2194560"/>
              </a:tblGrid>
              <a:tr h="3200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AHT10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Pico</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VIN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3V3 OUT (pin 36)</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GND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GND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SDA</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GP4 (pin 6)</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SCL</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GP5 (pin 7)</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Shape 4"/>
          <p:cNvSpPr/>
          <p:nvPr/>
        </p:nvSpPr>
        <p:spPr>
          <a:xfrm>
            <a:off x="4023360" y="1143000"/>
            <a:ext cx="4663440" cy="1874520"/>
          </a:xfrm>
          <a:prstGeom prst="rect">
            <a:avLst/>
          </a:prstGeom>
          <a:solidFill>
            <a:srgbClr val="0D1117"/>
          </a:solidFill>
          <a:ln w="12700">
            <a:solidFill>
              <a:srgbClr val="3A4A8A"/>
            </a:solidFill>
            <a:prstDash val="solid"/>
          </a:ln>
        </p:spPr>
      </p:sp>
      <p:sp>
        <p:nvSpPr>
          <p:cNvPr id="8" name="Text 5"/>
          <p:cNvSpPr/>
          <p:nvPr/>
        </p:nvSpPr>
        <p:spPr>
          <a:xfrm>
            <a:off x="4133088" y="1234440"/>
            <a:ext cx="4443984" cy="169164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for (uint8_t a = 1U; a &lt; 127U; a++)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Wire.beginTransmission(a);</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if (Wire.endTransmission() == 0U)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Serial.printf("found 0x%02X\n", a);</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t>
            </a:r>
            <a:endParaRPr lang="en-US" sz="1100" dirty="0"/>
          </a:p>
        </p:txBody>
      </p:sp>
      <p:sp>
        <p:nvSpPr>
          <p:cNvPr id="9" name="Text 6"/>
          <p:cNvSpPr/>
          <p:nvPr/>
        </p:nvSpPr>
        <p:spPr>
          <a:xfrm>
            <a:off x="4023360" y="3063240"/>
            <a:ext cx="466344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Address only, no data: who answers with ACK?</a:t>
            </a:r>
            <a:endParaRPr lang="en-US" sz="1000" dirty="0"/>
          </a:p>
        </p:txBody>
      </p:sp>
      <p:sp>
        <p:nvSpPr>
          <p:cNvPr id="10" name="Shape 7"/>
          <p:cNvSpPr/>
          <p:nvPr/>
        </p:nvSpPr>
        <p:spPr>
          <a:xfrm>
            <a:off x="457200" y="3520440"/>
            <a:ext cx="8229600" cy="914400"/>
          </a:xfrm>
          <a:prstGeom prst="rect">
            <a:avLst/>
          </a:prstGeom>
          <a:solidFill>
            <a:srgbClr val="253270"/>
          </a:solidFill>
          <a:ln w="12700">
            <a:solidFill>
              <a:srgbClr val="4CAF50"/>
            </a:solidFill>
            <a:prstDash val="solid"/>
          </a:ln>
        </p:spPr>
      </p:sp>
      <p:sp>
        <p:nvSpPr>
          <p:cNvPr id="11" name="Shape 8"/>
          <p:cNvSpPr/>
          <p:nvPr/>
        </p:nvSpPr>
        <p:spPr>
          <a:xfrm>
            <a:off x="457200" y="3520440"/>
            <a:ext cx="64008" cy="914400"/>
          </a:xfrm>
          <a:prstGeom prst="rect">
            <a:avLst/>
          </a:prstGeom>
          <a:solidFill>
            <a:srgbClr val="4CAF50"/>
          </a:solidFill>
          <a:ln/>
        </p:spPr>
      </p:sp>
      <p:sp>
        <p:nvSpPr>
          <p:cNvPr id="12" name="Text 9"/>
          <p:cNvSpPr/>
          <p:nvPr/>
        </p:nvSpPr>
        <p:spPr>
          <a:xfrm>
            <a:off x="685800" y="3593592"/>
            <a:ext cx="7863840" cy="274320"/>
          </a:xfrm>
          <a:prstGeom prst="rect">
            <a:avLst/>
          </a:prstGeom>
          <a:noFill/>
          <a:ln/>
        </p:spPr>
        <p:txBody>
          <a:bodyPr wrap="square" lIns="0" tIns="0" rIns="0" bIns="0" rtlCol="0" anchor="ctr"/>
          <a:lstStyle/>
          <a:p>
            <a:pPr indent="0" marL="0">
              <a:buNone/>
            </a:pPr>
            <a:r>
              <a:rPr lang="en-US" sz="1300" b="1" dirty="0">
                <a:solidFill>
                  <a:srgbClr val="4CAF50"/>
                </a:solidFill>
                <a:latin typeface="Trebuchet MS" pitchFamily="34" charset="0"/>
                <a:ea typeface="Trebuchet MS" pitchFamily="34" charset="-122"/>
                <a:cs typeface="Trebuchet MS" pitchFamily="34" charset="-120"/>
              </a:rPr>
              <a:t>Expected: found 0x38</a:t>
            </a:r>
            <a:endParaRPr lang="en-US" sz="1300" dirty="0"/>
          </a:p>
        </p:txBody>
      </p:sp>
      <p:sp>
        <p:nvSpPr>
          <p:cNvPr id="13" name="Text 10"/>
          <p:cNvSpPr/>
          <p:nvPr/>
        </p:nvSpPr>
        <p:spPr>
          <a:xfrm>
            <a:off x="685800" y="3867912"/>
            <a:ext cx="7863840" cy="502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Empty scan? Check, in this order: 3.3 V at VIN, shared GND, SDA / SCL swapped, pull-ups, pins in code.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AHT10: A Sensor That Takes Commands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2468880"/>
                <a:gridCol w="3383280"/>
              </a:tblGrid>
              <a:tr h="3200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Bytes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Then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Init / calibrate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0xE1 0x08 0x00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status bit 3 = calibrated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Trigger measurement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0xAC 0x33 0x00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wait about 80 ms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Soft reset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0xBA</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wait 20 ms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Shape 4"/>
          <p:cNvSpPr/>
          <p:nvPr/>
        </p:nvSpPr>
        <p:spPr>
          <a:xfrm>
            <a:off x="640080" y="2834640"/>
            <a:ext cx="1737360" cy="548640"/>
          </a:xfrm>
          <a:prstGeom prst="rect">
            <a:avLst/>
          </a:prstGeom>
          <a:solidFill>
            <a:srgbClr val="253270"/>
          </a:solidFill>
          <a:ln w="25400">
            <a:solidFill>
              <a:srgbClr val="CADCFC"/>
            </a:solidFill>
            <a:prstDash val="solid"/>
          </a:ln>
        </p:spPr>
      </p:sp>
      <p:sp>
        <p:nvSpPr>
          <p:cNvPr id="8" name="Text 5"/>
          <p:cNvSpPr/>
          <p:nvPr/>
        </p:nvSpPr>
        <p:spPr>
          <a:xfrm>
            <a:off x="640080" y="283464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IDLE</a:t>
            </a:r>
            <a:endParaRPr lang="en-US" sz="1300" dirty="0"/>
          </a:p>
        </p:txBody>
      </p:sp>
      <p:sp>
        <p:nvSpPr>
          <p:cNvPr id="9" name="Shape 6"/>
          <p:cNvSpPr/>
          <p:nvPr/>
        </p:nvSpPr>
        <p:spPr>
          <a:xfrm>
            <a:off x="2423160" y="3108960"/>
            <a:ext cx="960120" cy="0"/>
          </a:xfrm>
          <a:prstGeom prst="line">
            <a:avLst/>
          </a:prstGeom>
          <a:noFill/>
          <a:ln w="19050">
            <a:solidFill>
              <a:srgbClr val="CADCFC"/>
            </a:solidFill>
            <a:prstDash val="solid"/>
            <a:tailEnd type="triangle"/>
          </a:ln>
        </p:spPr>
      </p:sp>
      <p:sp>
        <p:nvSpPr>
          <p:cNvPr id="10" name="Text 7"/>
          <p:cNvSpPr/>
          <p:nvPr/>
        </p:nvSpPr>
        <p:spPr>
          <a:xfrm>
            <a:off x="2377440" y="2423160"/>
            <a:ext cx="1051560" cy="384048"/>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send 0xAC</a:t>
            </a:r>
            <a:endParaRPr lang="en-US" sz="1000" dirty="0"/>
          </a:p>
        </p:txBody>
      </p:sp>
      <p:sp>
        <p:nvSpPr>
          <p:cNvPr id="11" name="Shape 8"/>
          <p:cNvSpPr/>
          <p:nvPr/>
        </p:nvSpPr>
        <p:spPr>
          <a:xfrm>
            <a:off x="3429000" y="2834640"/>
            <a:ext cx="1737360" cy="548640"/>
          </a:xfrm>
          <a:prstGeom prst="rect">
            <a:avLst/>
          </a:prstGeom>
          <a:solidFill>
            <a:srgbClr val="253270"/>
          </a:solidFill>
          <a:ln w="25400">
            <a:solidFill>
              <a:srgbClr val="FFB300"/>
            </a:solidFill>
            <a:prstDash val="solid"/>
          </a:ln>
        </p:spPr>
      </p:sp>
      <p:sp>
        <p:nvSpPr>
          <p:cNvPr id="12" name="Text 9"/>
          <p:cNvSpPr/>
          <p:nvPr/>
        </p:nvSpPr>
        <p:spPr>
          <a:xfrm>
            <a:off x="3429000" y="283464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MEASURING</a:t>
            </a:r>
            <a:endParaRPr lang="en-US" sz="1300" dirty="0"/>
          </a:p>
        </p:txBody>
      </p:sp>
      <p:sp>
        <p:nvSpPr>
          <p:cNvPr id="13" name="Shape 10"/>
          <p:cNvSpPr/>
          <p:nvPr/>
        </p:nvSpPr>
        <p:spPr>
          <a:xfrm>
            <a:off x="5212080" y="3108960"/>
            <a:ext cx="960120" cy="0"/>
          </a:xfrm>
          <a:prstGeom prst="line">
            <a:avLst/>
          </a:prstGeom>
          <a:noFill/>
          <a:ln w="19050">
            <a:solidFill>
              <a:srgbClr val="CADCFC"/>
            </a:solidFill>
            <a:prstDash val="solid"/>
            <a:tailEnd type="triangle"/>
          </a:ln>
        </p:spPr>
      </p:sp>
      <p:sp>
        <p:nvSpPr>
          <p:cNvPr id="14" name="Text 11"/>
          <p:cNvSpPr/>
          <p:nvPr/>
        </p:nvSpPr>
        <p:spPr>
          <a:xfrm>
            <a:off x="5166360" y="2423160"/>
            <a:ext cx="1051560" cy="384048"/>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80 ms passed,</a:t>
            </a:r>
            <a:endParaRPr lang="en-US" sz="1000" dirty="0"/>
          </a:p>
          <a:p>
            <a:pPr algn="ctr" indent="0" marL="0">
              <a:buNone/>
            </a:pPr>
            <a:r>
              <a:rPr lang="en-US" sz="1000" dirty="0">
                <a:solidFill>
                  <a:srgbClr val="8892B0"/>
                </a:solidFill>
                <a:latin typeface="Calibri" pitchFamily="34" charset="0"/>
                <a:ea typeface="Calibri" pitchFamily="34" charset="-122"/>
                <a:cs typeface="Calibri" pitchFamily="34" charset="-120"/>
              </a:rPr>
              <a:t>busy bit clear</a:t>
            </a:r>
            <a:endParaRPr lang="en-US" sz="1000" dirty="0"/>
          </a:p>
        </p:txBody>
      </p:sp>
      <p:sp>
        <p:nvSpPr>
          <p:cNvPr id="15" name="Shape 12"/>
          <p:cNvSpPr/>
          <p:nvPr/>
        </p:nvSpPr>
        <p:spPr>
          <a:xfrm>
            <a:off x="6217920" y="2834640"/>
            <a:ext cx="1737360" cy="548640"/>
          </a:xfrm>
          <a:prstGeom prst="rect">
            <a:avLst/>
          </a:prstGeom>
          <a:solidFill>
            <a:srgbClr val="253270"/>
          </a:solidFill>
          <a:ln w="25400">
            <a:solidFill>
              <a:srgbClr val="4CAF50"/>
            </a:solidFill>
            <a:prstDash val="solid"/>
          </a:ln>
        </p:spPr>
      </p:sp>
      <p:sp>
        <p:nvSpPr>
          <p:cNvPr id="16" name="Text 13"/>
          <p:cNvSpPr/>
          <p:nvPr/>
        </p:nvSpPr>
        <p:spPr>
          <a:xfrm>
            <a:off x="6217920" y="2834640"/>
            <a:ext cx="17373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READ</a:t>
            </a:r>
            <a:endParaRPr lang="en-US" sz="1300" dirty="0"/>
          </a:p>
        </p:txBody>
      </p:sp>
      <p:sp>
        <p:nvSpPr>
          <p:cNvPr id="17" name="Text 14"/>
          <p:cNvSpPr/>
          <p:nvPr/>
        </p:nvSpPr>
        <p:spPr>
          <a:xfrm>
            <a:off x="640080" y="3438144"/>
            <a:ext cx="7315200" cy="274320"/>
          </a:xfrm>
          <a:prstGeom prst="rect">
            <a:avLst/>
          </a:prstGeom>
          <a:noFill/>
          <a:ln/>
        </p:spPr>
        <p:txBody>
          <a:bodyPr wrap="square" lIns="0" tIns="0" rIns="0" bIns="0" rtlCol="0" anchor="ctr"/>
          <a:lstStyle/>
          <a:p>
            <a:pPr algn="ctr" indent="0" marL="0">
              <a:buNone/>
            </a:pPr>
            <a:r>
              <a:rPr lang="en-US" sz="1100" i="1" dirty="0">
                <a:solidFill>
                  <a:srgbClr val="8892B0"/>
                </a:solidFill>
                <a:latin typeface="Calibri" pitchFamily="34" charset="0"/>
                <a:ea typeface="Calibri" pitchFamily="34" charset="-122"/>
                <a:cs typeface="Calibri" pitchFamily="34" charset="-120"/>
              </a:rPr>
              <a:t>then back to IDLE - one measurement per second, no delay()</a:t>
            </a:r>
            <a:endParaRPr lang="en-US" sz="1100" dirty="0"/>
          </a:p>
        </p:txBody>
      </p:sp>
      <p:sp>
        <p:nvSpPr>
          <p:cNvPr id="18" name="Shape 15"/>
          <p:cNvSpPr/>
          <p:nvPr/>
        </p:nvSpPr>
        <p:spPr>
          <a:xfrm>
            <a:off x="457200" y="3794760"/>
            <a:ext cx="8229600" cy="777240"/>
          </a:xfrm>
          <a:prstGeom prst="rect">
            <a:avLst/>
          </a:prstGeom>
          <a:solidFill>
            <a:srgbClr val="253270"/>
          </a:solidFill>
          <a:ln w="12700">
            <a:solidFill>
              <a:srgbClr val="FFB300"/>
            </a:solidFill>
            <a:prstDash val="solid"/>
          </a:ln>
        </p:spPr>
      </p:sp>
      <p:sp>
        <p:nvSpPr>
          <p:cNvPr id="19" name="Shape 16"/>
          <p:cNvSpPr/>
          <p:nvPr/>
        </p:nvSpPr>
        <p:spPr>
          <a:xfrm>
            <a:off x="457200" y="3794760"/>
            <a:ext cx="64008" cy="777240"/>
          </a:xfrm>
          <a:prstGeom prst="rect">
            <a:avLst/>
          </a:prstGeom>
          <a:solidFill>
            <a:srgbClr val="FFB300"/>
          </a:solidFill>
          <a:ln/>
        </p:spPr>
      </p:sp>
      <p:sp>
        <p:nvSpPr>
          <p:cNvPr id="20" name="Text 1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AHT10 is not AHT20</a:t>
            </a:r>
            <a:endParaRPr lang="en-US" sz="1300" dirty="0"/>
          </a:p>
        </p:txBody>
      </p:sp>
      <p:sp>
        <p:nvSpPr>
          <p:cNvPr id="21" name="Text 18"/>
          <p:cNvSpPr/>
          <p:nvPr/>
        </p:nvSpPr>
        <p:spPr>
          <a:xfrm>
            <a:off x="685800" y="414223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Most examples online are AHT2x code: init 0xBE and a 7th CRC byte. Translate them, do not paste them.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6-Byte Result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554480"/>
            <a:ext cx="1188720" cy="548640"/>
          </a:xfrm>
          <a:prstGeom prst="rect">
            <a:avLst/>
          </a:prstGeom>
          <a:solidFill>
            <a:srgbClr val="253270"/>
          </a:solidFill>
          <a:ln w="12700">
            <a:solidFill>
              <a:srgbClr val="8892B0"/>
            </a:solidFill>
            <a:prstDash val="solid"/>
          </a:ln>
        </p:spPr>
      </p:sp>
      <p:sp>
        <p:nvSpPr>
          <p:cNvPr id="7" name="Text 5"/>
          <p:cNvSpPr/>
          <p:nvPr/>
        </p:nvSpPr>
        <p:spPr>
          <a:xfrm>
            <a:off x="548640" y="155448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byte 0</a:t>
            </a:r>
            <a:endParaRPr lang="en-US" sz="1300" dirty="0"/>
          </a:p>
        </p:txBody>
      </p:sp>
      <p:sp>
        <p:nvSpPr>
          <p:cNvPr id="8" name="Shape 6"/>
          <p:cNvSpPr/>
          <p:nvPr/>
        </p:nvSpPr>
        <p:spPr>
          <a:xfrm>
            <a:off x="1828800" y="1554480"/>
            <a:ext cx="1188720" cy="548640"/>
          </a:xfrm>
          <a:prstGeom prst="rect">
            <a:avLst/>
          </a:prstGeom>
          <a:solidFill>
            <a:srgbClr val="253270"/>
          </a:solidFill>
          <a:ln w="12700">
            <a:solidFill>
              <a:srgbClr val="CADCFC"/>
            </a:solidFill>
            <a:prstDash val="solid"/>
          </a:ln>
        </p:spPr>
      </p:sp>
      <p:sp>
        <p:nvSpPr>
          <p:cNvPr id="9" name="Text 7"/>
          <p:cNvSpPr/>
          <p:nvPr/>
        </p:nvSpPr>
        <p:spPr>
          <a:xfrm>
            <a:off x="1828800" y="155448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byte 1</a:t>
            </a:r>
            <a:endParaRPr lang="en-US" sz="1300" dirty="0"/>
          </a:p>
        </p:txBody>
      </p:sp>
      <p:sp>
        <p:nvSpPr>
          <p:cNvPr id="10" name="Shape 8"/>
          <p:cNvSpPr/>
          <p:nvPr/>
        </p:nvSpPr>
        <p:spPr>
          <a:xfrm>
            <a:off x="3108960" y="1554480"/>
            <a:ext cx="1188720" cy="548640"/>
          </a:xfrm>
          <a:prstGeom prst="rect">
            <a:avLst/>
          </a:prstGeom>
          <a:solidFill>
            <a:srgbClr val="253270"/>
          </a:solidFill>
          <a:ln w="12700">
            <a:solidFill>
              <a:srgbClr val="CADCFC"/>
            </a:solidFill>
            <a:prstDash val="solid"/>
          </a:ln>
        </p:spPr>
      </p:sp>
      <p:sp>
        <p:nvSpPr>
          <p:cNvPr id="11" name="Text 9"/>
          <p:cNvSpPr/>
          <p:nvPr/>
        </p:nvSpPr>
        <p:spPr>
          <a:xfrm>
            <a:off x="3108960" y="155448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byte 2</a:t>
            </a:r>
            <a:endParaRPr lang="en-US" sz="1300" dirty="0"/>
          </a:p>
        </p:txBody>
      </p:sp>
      <p:sp>
        <p:nvSpPr>
          <p:cNvPr id="12" name="Shape 10"/>
          <p:cNvSpPr/>
          <p:nvPr/>
        </p:nvSpPr>
        <p:spPr>
          <a:xfrm>
            <a:off x="5669280" y="1554480"/>
            <a:ext cx="1188720" cy="548640"/>
          </a:xfrm>
          <a:prstGeom prst="rect">
            <a:avLst/>
          </a:prstGeom>
          <a:solidFill>
            <a:srgbClr val="253270"/>
          </a:solidFill>
          <a:ln w="12700">
            <a:solidFill>
              <a:srgbClr val="FFB300"/>
            </a:solidFill>
            <a:prstDash val="solid"/>
          </a:ln>
        </p:spPr>
      </p:sp>
      <p:sp>
        <p:nvSpPr>
          <p:cNvPr id="13" name="Text 11"/>
          <p:cNvSpPr/>
          <p:nvPr/>
        </p:nvSpPr>
        <p:spPr>
          <a:xfrm>
            <a:off x="5669280" y="155448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byte 4</a:t>
            </a:r>
            <a:endParaRPr lang="en-US" sz="1300" dirty="0"/>
          </a:p>
        </p:txBody>
      </p:sp>
      <p:sp>
        <p:nvSpPr>
          <p:cNvPr id="14" name="Shape 12"/>
          <p:cNvSpPr/>
          <p:nvPr/>
        </p:nvSpPr>
        <p:spPr>
          <a:xfrm>
            <a:off x="6949440" y="1554480"/>
            <a:ext cx="1188720" cy="548640"/>
          </a:xfrm>
          <a:prstGeom prst="rect">
            <a:avLst/>
          </a:prstGeom>
          <a:solidFill>
            <a:srgbClr val="253270"/>
          </a:solidFill>
          <a:ln w="12700">
            <a:solidFill>
              <a:srgbClr val="FFB300"/>
            </a:solidFill>
            <a:prstDash val="solid"/>
          </a:ln>
        </p:spPr>
      </p:sp>
      <p:sp>
        <p:nvSpPr>
          <p:cNvPr id="15" name="Text 13"/>
          <p:cNvSpPr/>
          <p:nvPr/>
        </p:nvSpPr>
        <p:spPr>
          <a:xfrm>
            <a:off x="6949440" y="1554480"/>
            <a:ext cx="11887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byte 5</a:t>
            </a:r>
            <a:endParaRPr lang="en-US" sz="1300" dirty="0"/>
          </a:p>
        </p:txBody>
      </p:sp>
      <p:sp>
        <p:nvSpPr>
          <p:cNvPr id="16" name="Shape 14"/>
          <p:cNvSpPr/>
          <p:nvPr/>
        </p:nvSpPr>
        <p:spPr>
          <a:xfrm>
            <a:off x="4389120" y="1554480"/>
            <a:ext cx="594360" cy="548640"/>
          </a:xfrm>
          <a:prstGeom prst="rect">
            <a:avLst/>
          </a:prstGeom>
          <a:solidFill>
            <a:srgbClr val="253270"/>
          </a:solidFill>
          <a:ln w="12700">
            <a:solidFill>
              <a:srgbClr val="CADCFC"/>
            </a:solidFill>
            <a:prstDash val="solid"/>
          </a:ln>
        </p:spPr>
      </p:sp>
      <p:sp>
        <p:nvSpPr>
          <p:cNvPr id="17" name="Text 15"/>
          <p:cNvSpPr/>
          <p:nvPr/>
        </p:nvSpPr>
        <p:spPr>
          <a:xfrm>
            <a:off x="4389120" y="1554480"/>
            <a:ext cx="594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hi</a:t>
            </a:r>
            <a:endParaRPr lang="en-US" sz="1200" dirty="0"/>
          </a:p>
        </p:txBody>
      </p:sp>
      <p:sp>
        <p:nvSpPr>
          <p:cNvPr id="18" name="Shape 16"/>
          <p:cNvSpPr/>
          <p:nvPr/>
        </p:nvSpPr>
        <p:spPr>
          <a:xfrm>
            <a:off x="4983480" y="1554480"/>
            <a:ext cx="594360" cy="548640"/>
          </a:xfrm>
          <a:prstGeom prst="rect">
            <a:avLst/>
          </a:prstGeom>
          <a:solidFill>
            <a:srgbClr val="253270"/>
          </a:solidFill>
          <a:ln w="12700">
            <a:solidFill>
              <a:srgbClr val="FFB300"/>
            </a:solidFill>
            <a:prstDash val="solid"/>
          </a:ln>
        </p:spPr>
      </p:sp>
      <p:sp>
        <p:nvSpPr>
          <p:cNvPr id="19" name="Text 17"/>
          <p:cNvSpPr/>
          <p:nvPr/>
        </p:nvSpPr>
        <p:spPr>
          <a:xfrm>
            <a:off x="4983480" y="1554480"/>
            <a:ext cx="594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lo</a:t>
            </a:r>
            <a:endParaRPr lang="en-US" sz="1200" dirty="0"/>
          </a:p>
        </p:txBody>
      </p:sp>
      <p:sp>
        <p:nvSpPr>
          <p:cNvPr id="20" name="Text 18"/>
          <p:cNvSpPr/>
          <p:nvPr/>
        </p:nvSpPr>
        <p:spPr>
          <a:xfrm>
            <a:off x="4389120" y="1261872"/>
            <a:ext cx="1188720" cy="256032"/>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byte 3</a:t>
            </a:r>
            <a:endParaRPr lang="en-US" sz="1100" dirty="0"/>
          </a:p>
        </p:txBody>
      </p:sp>
      <p:sp>
        <p:nvSpPr>
          <p:cNvPr id="21" name="Text 19"/>
          <p:cNvSpPr/>
          <p:nvPr/>
        </p:nvSpPr>
        <p:spPr>
          <a:xfrm>
            <a:off x="548640" y="2194560"/>
            <a:ext cx="1188720" cy="274320"/>
          </a:xfrm>
          <a:prstGeom prst="rect">
            <a:avLst/>
          </a:prstGeom>
          <a:noFill/>
          <a:ln/>
        </p:spPr>
        <p:txBody>
          <a:bodyPr wrap="square" lIns="0" tIns="0" rIns="0" bIns="0" rtlCol="0" anchor="ctr"/>
          <a:lstStyle/>
          <a:p>
            <a:pPr algn="ctr" indent="0" marL="0">
              <a:buNone/>
            </a:pPr>
            <a:r>
              <a:rPr lang="en-US" sz="1200" dirty="0">
                <a:solidFill>
                  <a:srgbClr val="8892B0"/>
                </a:solidFill>
                <a:latin typeface="Calibri" pitchFamily="34" charset="0"/>
                <a:ea typeface="Calibri" pitchFamily="34" charset="-122"/>
                <a:cs typeface="Calibri" pitchFamily="34" charset="-120"/>
              </a:rPr>
              <a:t>status</a:t>
            </a:r>
            <a:endParaRPr lang="en-US" sz="1200" dirty="0"/>
          </a:p>
        </p:txBody>
      </p:sp>
      <p:sp>
        <p:nvSpPr>
          <p:cNvPr id="22" name="Shape 20"/>
          <p:cNvSpPr/>
          <p:nvPr/>
        </p:nvSpPr>
        <p:spPr>
          <a:xfrm>
            <a:off x="1828800" y="2212848"/>
            <a:ext cx="3154680" cy="54864"/>
          </a:xfrm>
          <a:prstGeom prst="rect">
            <a:avLst/>
          </a:prstGeom>
          <a:solidFill>
            <a:srgbClr val="CADCFC"/>
          </a:solidFill>
          <a:ln/>
        </p:spPr>
      </p:sp>
      <p:sp>
        <p:nvSpPr>
          <p:cNvPr id="23" name="Shape 21"/>
          <p:cNvSpPr/>
          <p:nvPr/>
        </p:nvSpPr>
        <p:spPr>
          <a:xfrm>
            <a:off x="4983480" y="2212848"/>
            <a:ext cx="3154680" cy="54864"/>
          </a:xfrm>
          <a:prstGeom prst="rect">
            <a:avLst/>
          </a:prstGeom>
          <a:solidFill>
            <a:srgbClr val="FFB300"/>
          </a:solidFill>
          <a:ln/>
        </p:spPr>
      </p:sp>
      <p:sp>
        <p:nvSpPr>
          <p:cNvPr id="24" name="Text 22"/>
          <p:cNvSpPr/>
          <p:nvPr/>
        </p:nvSpPr>
        <p:spPr>
          <a:xfrm>
            <a:off x="1828800" y="2304288"/>
            <a:ext cx="3154680" cy="2743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humidity: 20 bits</a:t>
            </a:r>
            <a:endParaRPr lang="en-US" sz="1300" dirty="0"/>
          </a:p>
        </p:txBody>
      </p:sp>
      <p:sp>
        <p:nvSpPr>
          <p:cNvPr id="25" name="Text 23"/>
          <p:cNvSpPr/>
          <p:nvPr/>
        </p:nvSpPr>
        <p:spPr>
          <a:xfrm>
            <a:off x="4983480" y="2304288"/>
            <a:ext cx="3154680" cy="274320"/>
          </a:xfrm>
          <a:prstGeom prst="rect">
            <a:avLst/>
          </a:prstGeom>
          <a:noFill/>
          <a:ln/>
        </p:spPr>
        <p:txBody>
          <a:bodyPr wrap="square" lIns="0" tIns="0" rIns="0" bIns="0" rtlCol="0" anchor="ctr"/>
          <a:lstStyle/>
          <a:p>
            <a:pPr algn="ctr" indent="0" marL="0">
              <a:buNone/>
            </a:pPr>
            <a:r>
              <a:rPr lang="en-US" sz="1300" b="1" dirty="0">
                <a:solidFill>
                  <a:srgbClr val="FFB300"/>
                </a:solidFill>
                <a:latin typeface="Calibri" pitchFamily="34" charset="0"/>
                <a:ea typeface="Calibri" pitchFamily="34" charset="-122"/>
                <a:cs typeface="Calibri" pitchFamily="34" charset="-120"/>
              </a:rPr>
              <a:t>temperature: 20 bits</a:t>
            </a:r>
            <a:endParaRPr lang="en-US" sz="1300" dirty="0"/>
          </a:p>
        </p:txBody>
      </p:sp>
      <p:sp>
        <p:nvSpPr>
          <p:cNvPr id="26" name="Text 24"/>
          <p:cNvSpPr/>
          <p:nvPr/>
        </p:nvSpPr>
        <p:spPr>
          <a:xfrm>
            <a:off x="457200" y="2606040"/>
            <a:ext cx="4023360" cy="109728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Status: bit 7 = busy, bit 3 = calibrated</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Raw values go into uint32_t - build them with shifts and masks</a:t>
            </a:r>
            <a:endParaRPr lang="en-US" sz="1300" dirty="0"/>
          </a:p>
        </p:txBody>
      </p:sp>
      <p:sp>
        <p:nvSpPr>
          <p:cNvPr id="27" name="Shape 25"/>
          <p:cNvSpPr/>
          <p:nvPr/>
        </p:nvSpPr>
        <p:spPr>
          <a:xfrm>
            <a:off x="4663440" y="2606040"/>
            <a:ext cx="4023360" cy="914400"/>
          </a:xfrm>
          <a:prstGeom prst="rect">
            <a:avLst/>
          </a:prstGeom>
          <a:solidFill>
            <a:srgbClr val="0D1117"/>
          </a:solidFill>
          <a:ln w="12700">
            <a:solidFill>
              <a:srgbClr val="3A4A8A"/>
            </a:solidFill>
            <a:prstDash val="solid"/>
          </a:ln>
        </p:spPr>
      </p:sp>
      <p:sp>
        <p:nvSpPr>
          <p:cNvPr id="28" name="Text 26"/>
          <p:cNvSpPr/>
          <p:nvPr/>
        </p:nvSpPr>
        <p:spPr>
          <a:xfrm>
            <a:off x="4773168" y="2697480"/>
            <a:ext cx="3803904" cy="731520"/>
          </a:xfrm>
          <a:prstGeom prst="rect">
            <a:avLst/>
          </a:prstGeom>
          <a:noFill/>
          <a:ln/>
        </p:spPr>
        <p:txBody>
          <a:bodyPr wrap="square" lIns="0" tIns="0" rIns="0" bIns="0" rtlCol="0" anchor="t"/>
          <a:lstStyle/>
          <a:p>
            <a:pPr indent="0" marL="0">
              <a:lnSpc>
                <a:spcPct val="100000"/>
              </a:lnSpc>
              <a:buNone/>
            </a:pPr>
            <a:r>
              <a:rPr lang="en-US" sz="1300" dirty="0">
                <a:solidFill>
                  <a:srgbClr val="A8D8FF"/>
                </a:solidFill>
                <a:latin typeface="Consolas" pitchFamily="34" charset="0"/>
                <a:ea typeface="Consolas" pitchFamily="34" charset="-122"/>
                <a:cs typeface="Consolas" pitchFamily="34" charset="-120"/>
              </a:rPr>
              <a:t>RH = raw / 2^20 * 100</a:t>
            </a:r>
            <a:endParaRPr lang="en-US" sz="1300" dirty="0"/>
          </a:p>
          <a:p>
            <a:pPr indent="0" marL="0">
              <a:lnSpc>
                <a:spcPct val="100000"/>
              </a:lnSpc>
              <a:buNone/>
            </a:pPr>
            <a:r>
              <a:rPr lang="en-US" sz="1300" dirty="0">
                <a:solidFill>
                  <a:srgbClr val="A8D8FF"/>
                </a:solidFill>
                <a:latin typeface="Consolas" pitchFamily="34" charset="0"/>
                <a:ea typeface="Consolas" pitchFamily="34" charset="-122"/>
                <a:cs typeface="Consolas" pitchFamily="34" charset="-120"/>
              </a:rPr>
              <a:t>T  = raw / 2^20 * 200 - 50</a:t>
            </a:r>
            <a:endParaRPr lang="en-US" sz="1300" dirty="0"/>
          </a:p>
        </p:txBody>
      </p:sp>
      <p:sp>
        <p:nvSpPr>
          <p:cNvPr id="29" name="Text 27"/>
          <p:cNvSpPr/>
          <p:nvPr/>
        </p:nvSpPr>
        <p:spPr>
          <a:xfrm>
            <a:off x="4663440" y="3566160"/>
            <a:ext cx="402336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2^20 = 1048576</a:t>
            </a:r>
            <a:endParaRPr lang="en-US" sz="1000" dirty="0"/>
          </a:p>
        </p:txBody>
      </p:sp>
      <p:sp>
        <p:nvSpPr>
          <p:cNvPr id="30" name="Shape 28"/>
          <p:cNvSpPr/>
          <p:nvPr/>
        </p:nvSpPr>
        <p:spPr>
          <a:xfrm>
            <a:off x="457200" y="3840480"/>
            <a:ext cx="8229600" cy="731520"/>
          </a:xfrm>
          <a:prstGeom prst="rect">
            <a:avLst/>
          </a:prstGeom>
          <a:solidFill>
            <a:srgbClr val="253270"/>
          </a:solidFill>
          <a:ln w="12700">
            <a:solidFill>
              <a:srgbClr val="CADCFC"/>
            </a:solidFill>
            <a:prstDash val="solid"/>
          </a:ln>
        </p:spPr>
      </p:sp>
      <p:sp>
        <p:nvSpPr>
          <p:cNvPr id="31" name="Shape 29"/>
          <p:cNvSpPr/>
          <p:nvPr/>
        </p:nvSpPr>
        <p:spPr>
          <a:xfrm>
            <a:off x="457200" y="3840480"/>
            <a:ext cx="64008" cy="731520"/>
          </a:xfrm>
          <a:prstGeom prst="rect">
            <a:avLst/>
          </a:prstGeom>
          <a:solidFill>
            <a:srgbClr val="CADCFC"/>
          </a:solidFill>
          <a:ln/>
        </p:spPr>
      </p:sp>
      <p:sp>
        <p:nvSpPr>
          <p:cNvPr id="32" name="Text 30"/>
          <p:cNvSpPr/>
          <p:nvPr/>
        </p:nvSpPr>
        <p:spPr>
          <a:xfrm>
            <a:off x="685800" y="391363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Writing the shifts and masks is the lab</a:t>
            </a:r>
            <a:endParaRPr lang="en-US" sz="1300" dirty="0"/>
          </a:p>
        </p:txBody>
      </p:sp>
      <p:sp>
        <p:nvSpPr>
          <p:cNvPr id="33" name="Text 31"/>
          <p:cNvSpPr/>
          <p:nvPr/>
        </p:nvSpPr>
        <p:spPr>
          <a:xfrm>
            <a:off x="685800" y="41879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Check your result: breathe on the sensor - humidity jumps within seconds.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Lab: The AHT10 by Hand</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457200" y="1188720"/>
            <a:ext cx="2590800" cy="2103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1. Init</a:t>
            </a:r>
            <a:endParaRPr lang="en-US" sz="1700" dirty="0"/>
          </a:p>
        </p:txBody>
      </p:sp>
      <p:sp>
        <p:nvSpPr>
          <p:cNvPr id="8" name="Text 6"/>
          <p:cNvSpPr/>
          <p:nvPr/>
        </p:nvSpPr>
        <p:spPr>
          <a:xfrm>
            <a:off x="5943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Send the init command, read the status byte.</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Print it in hex and as bits. Is bit 3 set?</a:t>
            </a:r>
            <a:endParaRPr lang="en-US" sz="1200" dirty="0"/>
          </a:p>
        </p:txBody>
      </p:sp>
      <p:sp>
        <p:nvSpPr>
          <p:cNvPr id="9" name="Shape 7"/>
          <p:cNvSpPr/>
          <p:nvPr/>
        </p:nvSpPr>
        <p:spPr>
          <a:xfrm>
            <a:off x="3276600" y="1188720"/>
            <a:ext cx="2590800" cy="2103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32766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2. Measure</a:t>
            </a:r>
            <a:endParaRPr lang="en-US" sz="1700" dirty="0"/>
          </a:p>
        </p:txBody>
      </p:sp>
      <p:sp>
        <p:nvSpPr>
          <p:cNvPr id="11" name="Text 9"/>
          <p:cNvSpPr/>
          <p:nvPr/>
        </p:nvSpPr>
        <p:spPr>
          <a:xfrm>
            <a:off x="34137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Trigger, wait 80 ms in a state machine, read 6 bytes.</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Print the raw bytes in hex, once per second.</a:t>
            </a:r>
            <a:endParaRPr lang="en-US" sz="1200" dirty="0"/>
          </a:p>
        </p:txBody>
      </p:sp>
      <p:sp>
        <p:nvSpPr>
          <p:cNvPr id="12" name="Shape 10"/>
          <p:cNvSpPr/>
          <p:nvPr/>
        </p:nvSpPr>
        <p:spPr>
          <a:xfrm>
            <a:off x="6096000" y="1188720"/>
            <a:ext cx="2590800" cy="2103120"/>
          </a:xfrm>
          <a:prstGeom prst="rect">
            <a:avLst/>
          </a:prstGeom>
          <a:solidFill>
            <a:srgbClr val="253270"/>
          </a:solidFill>
          <a:ln w="25400">
            <a:solidFill>
              <a:srgbClr val="4CAF50"/>
            </a:solidFill>
            <a:prstDash val="solid"/>
          </a:ln>
          <a:effectLst>
            <a:outerShdw sx="100000" sy="100000" kx="0" ky="0" algn="bl" rotWithShape="0" blurRad="50800" dist="25400" dir="8100000">
              <a:srgbClr val="000000">
                <a:alpha val="25000"/>
              </a:srgbClr>
            </a:outerShdw>
          </a:effectLst>
        </p:spPr>
      </p:sp>
      <p:sp>
        <p:nvSpPr>
          <p:cNvPr id="13" name="Text 11"/>
          <p:cNvSpPr/>
          <p:nvPr/>
        </p:nvSpPr>
        <p:spPr>
          <a:xfrm>
            <a:off x="6096000" y="14173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3. Convert</a:t>
            </a:r>
            <a:endParaRPr lang="en-US" sz="1700" dirty="0"/>
          </a:p>
        </p:txBody>
      </p:sp>
      <p:sp>
        <p:nvSpPr>
          <p:cNvPr id="14" name="Text 12"/>
          <p:cNvSpPr/>
          <p:nvPr/>
        </p:nvSpPr>
        <p:spPr>
          <a:xfrm>
            <a:off x="6233160" y="192024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Unpack both 20-bit fields, apply the formulas.</a:t>
            </a:r>
            <a:endParaRPr lang="en-US" sz="1200" dirty="0"/>
          </a:p>
          <a:p>
            <a:pPr algn="ctr" indent="0" marL="0">
              <a:buNone/>
            </a:pPr>
            <a:endParaRPr lang="en-US" sz="1200" dirty="0"/>
          </a:p>
          <a:p>
            <a:pPr algn="ctr" indent="0" marL="0">
              <a:buNone/>
            </a:pPr>
            <a:r>
              <a:rPr lang="en-US" sz="1200" dirty="0">
                <a:solidFill>
                  <a:srgbClr val="CADCFC"/>
                </a:solidFill>
                <a:latin typeface="Calibri" pitchFamily="34" charset="0"/>
                <a:ea typeface="Calibri" pitchFamily="34" charset="-122"/>
                <a:cs typeface="Calibri" pitchFamily="34" charset="-120"/>
              </a:rPr>
              <a:t>Breathe on it. Hold it between two fingers.</a:t>
            </a:r>
            <a:endParaRPr lang="en-US" sz="1200" dirty="0"/>
          </a:p>
        </p:txBody>
      </p:sp>
      <p:sp>
        <p:nvSpPr>
          <p:cNvPr id="15" name="Shape 13"/>
          <p:cNvSpPr/>
          <p:nvPr/>
        </p:nvSpPr>
        <p:spPr>
          <a:xfrm>
            <a:off x="457200" y="3566160"/>
            <a:ext cx="8229600" cy="731520"/>
          </a:xfrm>
          <a:prstGeom prst="rect">
            <a:avLst/>
          </a:prstGeom>
          <a:solidFill>
            <a:srgbClr val="253270"/>
          </a:solidFill>
          <a:ln w="12700">
            <a:solidFill>
              <a:srgbClr val="FFB300"/>
            </a:solidFill>
            <a:prstDash val="solid"/>
          </a:ln>
        </p:spPr>
      </p:sp>
      <p:sp>
        <p:nvSpPr>
          <p:cNvPr id="16" name="Shape 14"/>
          <p:cNvSpPr/>
          <p:nvPr/>
        </p:nvSpPr>
        <p:spPr>
          <a:xfrm>
            <a:off x="457200" y="3566160"/>
            <a:ext cx="64008" cy="731520"/>
          </a:xfrm>
          <a:prstGeom prst="rect">
            <a:avLst/>
          </a:prstGeom>
          <a:solidFill>
            <a:srgbClr val="FFB300"/>
          </a:solidFill>
          <a:ln/>
        </p:spPr>
      </p:sp>
      <p:sp>
        <p:nvSpPr>
          <p:cNvPr id="17" name="Text 15"/>
          <p:cNvSpPr/>
          <p:nvPr/>
        </p:nvSpPr>
        <p:spPr>
          <a:xfrm>
            <a:off x="685800" y="36393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Rules</a:t>
            </a:r>
            <a:endParaRPr lang="en-US" sz="1300" dirty="0"/>
          </a:p>
        </p:txBody>
      </p:sp>
      <p:sp>
        <p:nvSpPr>
          <p:cNvPr id="18" name="Text 16"/>
          <p:cNvSpPr/>
          <p:nvPr/>
        </p:nvSpPr>
        <p:spPr>
          <a:xfrm>
            <a:off x="685800" y="391363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No delay() in loop(). Named constants for the address and the command bytes. Check every Wire return value.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Library: Same Numbers, Hidden Cost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457200" y="1097280"/>
            <a:ext cx="4572000" cy="2377440"/>
          </a:xfrm>
          <a:prstGeom prst="rect">
            <a:avLst/>
          </a:prstGeom>
          <a:solidFill>
            <a:srgbClr val="0D1117"/>
          </a:solidFill>
          <a:ln w="12700">
            <a:solidFill>
              <a:srgbClr val="3A4A8A"/>
            </a:solidFill>
            <a:prstDash val="solid"/>
          </a:ln>
        </p:spPr>
      </p:sp>
      <p:sp>
        <p:nvSpPr>
          <p:cNvPr id="7" name="Text 5"/>
          <p:cNvSpPr/>
          <p:nvPr/>
        </p:nvSpPr>
        <p:spPr>
          <a:xfrm>
            <a:off x="566928" y="1188720"/>
            <a:ext cx="4352544" cy="219456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#include &lt;Adafruit_AHTX0.h&gt;</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Adafruit_AHTX0 aht;      // aht.begin() in setup()</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sensors_event_t hum, temp;</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uint32_t t0 = micros();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aht.getEvent(&amp;hum, &amp;temp);</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uint32_t dt = micros() - t0;</a:t>
            </a:r>
            <a:endParaRPr lang="en-US" sz="1100" dirty="0"/>
          </a:p>
        </p:txBody>
      </p:sp>
      <p:sp>
        <p:nvSpPr>
          <p:cNvPr id="8" name="Text 6"/>
          <p:cNvSpPr/>
          <p:nvPr/>
        </p:nvSpPr>
        <p:spPr>
          <a:xfrm>
            <a:off x="457200" y="3520440"/>
            <a:ext cx="457200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platformio.ini: lib_deps = adafruit/Adafruit AHTX0</a:t>
            </a:r>
            <a:endParaRPr lang="en-US" sz="1000" dirty="0"/>
          </a:p>
        </p:txBody>
      </p:sp>
      <p:sp>
        <p:nvSpPr>
          <p:cNvPr id="9" name="Text 7"/>
          <p:cNvSpPr/>
          <p:nvPr/>
        </p:nvSpPr>
        <p:spPr>
          <a:xfrm>
            <a:off x="5257800" y="1097280"/>
            <a:ext cx="3429000" cy="237744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Uses 0xE1, so it works with the AHT10</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Inside getEvent(): while busy -&gt; delay(10). No timeout</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Measure dt. How long is loop() frozen?</a:t>
            </a:r>
            <a:endParaRPr lang="en-US" sz="1300" dirty="0"/>
          </a:p>
        </p:txBody>
      </p:sp>
      <p:sp>
        <p:nvSpPr>
          <p:cNvPr id="10" name="Shape 8"/>
          <p:cNvSpPr/>
          <p:nvPr/>
        </p:nvSpPr>
        <p:spPr>
          <a:xfrm>
            <a:off x="457200" y="3840480"/>
            <a:ext cx="8229600" cy="731520"/>
          </a:xfrm>
          <a:prstGeom prst="rect">
            <a:avLst/>
          </a:prstGeom>
          <a:solidFill>
            <a:srgbClr val="253270"/>
          </a:solidFill>
          <a:ln w="12700">
            <a:solidFill>
              <a:srgbClr val="FFB300"/>
            </a:solidFill>
            <a:prstDash val="solid"/>
          </a:ln>
        </p:spPr>
      </p:sp>
      <p:sp>
        <p:nvSpPr>
          <p:cNvPr id="11" name="Shape 9"/>
          <p:cNvSpPr/>
          <p:nvPr/>
        </p:nvSpPr>
        <p:spPr>
          <a:xfrm>
            <a:off x="457200" y="3840480"/>
            <a:ext cx="64008" cy="731520"/>
          </a:xfrm>
          <a:prstGeom prst="rect">
            <a:avLst/>
          </a:prstGeom>
          <a:solidFill>
            <a:srgbClr val="FFB300"/>
          </a:solidFill>
          <a:ln/>
        </p:spPr>
      </p:sp>
      <p:sp>
        <p:nvSpPr>
          <p:cNvPr id="12" name="Text 10"/>
          <p:cNvSpPr/>
          <p:nvPr/>
        </p:nvSpPr>
        <p:spPr>
          <a:xfrm>
            <a:off x="685800" y="391363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Fine for a logger. Not next to a blink, a UART protocol or a display.</a:t>
            </a:r>
            <a:endParaRPr lang="en-US" sz="1300" dirty="0"/>
          </a:p>
        </p:txBody>
      </p:sp>
      <p:sp>
        <p:nvSpPr>
          <p:cNvPr id="13" name="Text 11"/>
          <p:cNvSpPr/>
          <p:nvPr/>
        </p:nvSpPr>
        <p:spPr>
          <a:xfrm>
            <a:off x="685800" y="41879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Homework: wrap your by-hand code in a class that never blocks.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13  |  I2C and the AHT10</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457200" y="1051560"/>
            <a:ext cx="8229600" cy="25603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Open-drain lines + pull-ups: anyone may pull low, nobody can fight</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First byte = 7-bit address + R/W; ACK is a pull, NACK is its absence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Register devices use a pointer; the AHT10 takes commands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Scanner first, then the driver; wait in a state machine, not in delay()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Libraries are convenient - measure what they hide</a:t>
            </a:r>
            <a:endParaRPr lang="en-US" sz="1500" dirty="0"/>
          </a:p>
        </p:txBody>
      </p:sp>
      <p:sp>
        <p:nvSpPr>
          <p:cNvPr id="7" name="Shape 5"/>
          <p:cNvSpPr/>
          <p:nvPr/>
        </p:nvSpPr>
        <p:spPr>
          <a:xfrm>
            <a:off x="457200" y="3794760"/>
            <a:ext cx="8229600" cy="822960"/>
          </a:xfrm>
          <a:prstGeom prst="rect">
            <a:avLst/>
          </a:prstGeom>
          <a:solidFill>
            <a:srgbClr val="253270"/>
          </a:solidFill>
          <a:ln w="12700">
            <a:solidFill>
              <a:srgbClr val="FFB300"/>
            </a:solidFill>
            <a:prstDash val="solid"/>
          </a:ln>
        </p:spPr>
      </p:sp>
      <p:sp>
        <p:nvSpPr>
          <p:cNvPr id="8" name="Shape 6"/>
          <p:cNvSpPr/>
          <p:nvPr/>
        </p:nvSpPr>
        <p:spPr>
          <a:xfrm>
            <a:off x="457200" y="3794760"/>
            <a:ext cx="64008" cy="822960"/>
          </a:xfrm>
          <a:prstGeom prst="rect">
            <a:avLst/>
          </a:prstGeom>
          <a:solidFill>
            <a:srgbClr val="FFB300"/>
          </a:solidFill>
          <a:ln/>
        </p:spPr>
      </p:sp>
      <p:sp>
        <p:nvSpPr>
          <p:cNvPr id="9"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Homework</a:t>
            </a:r>
            <a:endParaRPr lang="en-US" sz="1300" dirty="0"/>
          </a:p>
        </p:txBody>
      </p:sp>
      <p:sp>
        <p:nvSpPr>
          <p:cNvPr id="10" name="Text 8"/>
          <p:cNvSpPr/>
          <p:nvPr/>
        </p:nvSpPr>
        <p:spPr>
          <a:xfrm>
            <a:off x="685800" y="414223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Class Aht10 with a non-blocking start() / poll(). A reading every 2 s. Sensor unplugged -&gt; "sensor missing" once, and it recovers by itself. Details in homework/README.md.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13 - I2C and the AHT10</dc:title>
  <dc:subject>PptxGenJS Presentation</dc:subject>
  <dc:creator>Embedded Software Development in C/C++</dc:creator>
  <cp:lastModifiedBy>Embedded Software Development in C/C++</cp:lastModifiedBy>
  <cp:revision>1</cp:revision>
  <dcterms:created xsi:type="dcterms:W3CDTF">2026-10-12T13:50:05Z</dcterms:created>
  <dcterms:modified xsi:type="dcterms:W3CDTF">2026-10-12T13:50:05Z</dcterms:modified>
</cp:coreProperties>
</file>