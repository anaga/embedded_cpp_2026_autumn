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ADCFC"/>
          </a:solidFill>
          <a:ln/>
        </p:spPr>
      </p:sp>
      <p:sp>
        <p:nvSpPr>
          <p:cNvPr id="3" name="Shape 1"/>
          <p:cNvSpPr/>
          <p:nvPr/>
        </p:nvSpPr>
        <p:spPr>
          <a:xfrm>
            <a:off x="0" y="5088636"/>
            <a:ext cx="9144000" cy="54864"/>
          </a:xfrm>
          <a:prstGeom prst="rect">
            <a:avLst/>
          </a:prstGeom>
          <a:solidFill>
            <a:srgbClr val="CADCFC"/>
          </a:solidFill>
          <a:ln/>
        </p:spPr>
      </p:sp>
      <p:pic>
        <p:nvPicPr>
          <p:cNvPr id="4" name="Image 0" descr="preencoded.png">    </p:cNvPr>
          <p:cNvPicPr>
            <a:picLocks noChangeAspect="1"/>
          </p:cNvPicPr>
          <p:nvPr/>
        </p:nvPicPr>
        <p:blipFill>
          <a:blip r:embed="rId1"/>
          <a:stretch>
            <a:fillRect/>
          </a:stretch>
        </p:blipFill>
        <p:spPr>
          <a:xfrm>
            <a:off x="4114800" y="640080"/>
            <a:ext cx="914400" cy="914400"/>
          </a:xfrm>
          <a:prstGeom prst="rect">
            <a:avLst/>
          </a:prstGeom>
        </p:spPr>
      </p:pic>
      <p:sp>
        <p:nvSpPr>
          <p:cNvPr id="5" name="Text 2"/>
          <p:cNvSpPr/>
          <p:nvPr/>
        </p:nvSpPr>
        <p:spPr>
          <a:xfrm>
            <a:off x="457200" y="1691640"/>
            <a:ext cx="8229600" cy="365760"/>
          </a:xfrm>
          <a:prstGeom prst="rect">
            <a:avLst/>
          </a:prstGeom>
          <a:noFill/>
          <a:ln/>
        </p:spPr>
        <p:txBody>
          <a:bodyPr wrap="square" lIns="0" tIns="0" rIns="0" bIns="0" rtlCol="0" anchor="ctr"/>
          <a:lstStyle/>
          <a:p>
            <a:pPr algn="ctr" indent="0" marL="0">
              <a:buNone/>
            </a:pPr>
            <a:r>
              <a:rPr lang="en-US" sz="1300" b="1" spc="200" kern="0" dirty="0">
                <a:solidFill>
                  <a:srgbClr val="8892B0"/>
                </a:solidFill>
                <a:latin typeface="Calibri" pitchFamily="34" charset="0"/>
                <a:ea typeface="Calibri" pitchFamily="34" charset="-122"/>
                <a:cs typeface="Calibri" pitchFamily="34" charset="-120"/>
              </a:rPr>
              <a:t>LESSON 03</a:t>
            </a:r>
            <a:endParaRPr lang="en-US" sz="1300" dirty="0"/>
          </a:p>
        </p:txBody>
      </p:sp>
      <p:sp>
        <p:nvSpPr>
          <p:cNvPr id="6" name="Text 3"/>
          <p:cNvSpPr/>
          <p:nvPr/>
        </p:nvSpPr>
        <p:spPr>
          <a:xfrm>
            <a:off x="457200" y="2011680"/>
            <a:ext cx="822960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Electrical Fundamentals</a:t>
            </a:r>
            <a:endParaRPr lang="en-US" sz="4000" dirty="0"/>
          </a:p>
        </p:txBody>
      </p:sp>
      <p:sp>
        <p:nvSpPr>
          <p:cNvPr id="7" name="Shape 4"/>
          <p:cNvSpPr/>
          <p:nvPr/>
        </p:nvSpPr>
        <p:spPr>
          <a:xfrm>
            <a:off x="3200400" y="2926080"/>
            <a:ext cx="2743200" cy="27432"/>
          </a:xfrm>
          <a:prstGeom prst="rect">
            <a:avLst/>
          </a:prstGeom>
          <a:solidFill>
            <a:srgbClr val="3A4A8A"/>
          </a:solidFill>
          <a:ln/>
        </p:spPr>
      </p:sp>
      <p:sp>
        <p:nvSpPr>
          <p:cNvPr id="8" name="Text 5"/>
          <p:cNvSpPr/>
          <p:nvPr/>
        </p:nvSpPr>
        <p:spPr>
          <a:xfrm>
            <a:off x="457200" y="3108960"/>
            <a:ext cx="8229600" cy="457200"/>
          </a:xfrm>
          <a:prstGeom prst="rect">
            <a:avLst/>
          </a:prstGeom>
          <a:noFill/>
          <a:ln/>
        </p:spPr>
        <p:txBody>
          <a:bodyPr wrap="square" lIns="0" tIns="0" rIns="0" bIns="0" rtlCol="0" anchor="ctr"/>
          <a:lstStyle/>
          <a:p>
            <a:pPr algn="ctr" indent="0" marL="0">
              <a:buNone/>
            </a:pPr>
            <a:r>
              <a:rPr lang="en-US" sz="1600" dirty="0">
                <a:solidFill>
                  <a:srgbClr val="CADCFC"/>
                </a:solidFill>
                <a:latin typeface="Trebuchet MS" pitchFamily="34" charset="0"/>
                <a:ea typeface="Trebuchet MS" pitchFamily="34" charset="-122"/>
                <a:cs typeface="Trebuchet MS" pitchFamily="34" charset="-120"/>
              </a:rPr>
              <a:t>Measure instead of assuming</a:t>
            </a:r>
            <a:endParaRPr lang="en-US" sz="1600" dirty="0"/>
          </a:p>
        </p:txBody>
      </p:sp>
      <p:sp>
        <p:nvSpPr>
          <p:cNvPr id="9" name="Text 6"/>
          <p:cNvSpPr/>
          <p:nvPr/>
        </p:nvSpPr>
        <p:spPr>
          <a:xfrm>
            <a:off x="457200" y="3611880"/>
            <a:ext cx="8229600" cy="365760"/>
          </a:xfrm>
          <a:prstGeom prst="rect">
            <a:avLst/>
          </a:prstGeom>
          <a:noFill/>
          <a:ln/>
        </p:spPr>
        <p:txBody>
          <a:bodyPr wrap="square" rtlCol="0" anchor="ctr"/>
          <a:lstStyle/>
          <a:p>
            <a:pPr algn="ctr" indent="0" marL="0">
              <a:buNone/>
            </a:pPr>
            <a:r>
              <a:rPr lang="en-US" sz="1300" dirty="0">
                <a:solidFill>
                  <a:srgbClr val="8892B0"/>
                </a:solidFill>
                <a:latin typeface="Calibri" pitchFamily="34" charset="0"/>
                <a:ea typeface="Calibri" pitchFamily="34" charset="-122"/>
                <a:cs typeface="Calibri" pitchFamily="34" charset="-120"/>
              </a:rPr>
              <a:t>Embedded Software Development in C/C++</a:t>
            </a:r>
            <a:endParaRPr lang="en-US" sz="1300" dirty="0"/>
          </a:p>
        </p:txBody>
      </p:sp>
      <p:sp>
        <p:nvSpPr>
          <p:cNvPr id="10" name="Text 7"/>
          <p:cNvSpPr/>
          <p:nvPr/>
        </p:nvSpPr>
        <p:spPr>
          <a:xfrm>
            <a:off x="457200" y="4023360"/>
            <a:ext cx="8229600" cy="365760"/>
          </a:xfrm>
          <a:prstGeom prst="rect">
            <a:avLst/>
          </a:prstGeom>
          <a:noFill/>
          <a:ln/>
        </p:spPr>
        <p:txBody>
          <a:bodyPr wrap="square" rtlCol="0" anchor="ctr"/>
          <a:lstStyle/>
          <a:p>
            <a:pPr algn="ctr" indent="0" marL="0">
              <a:buNone/>
            </a:pPr>
            <a:r>
              <a:rPr lang="en-US" sz="1100" dirty="0">
                <a:solidFill>
                  <a:srgbClr val="3A4A8A"/>
                </a:solidFill>
                <a:latin typeface="Calibri" pitchFamily="34" charset="0"/>
                <a:ea typeface="Calibri" pitchFamily="34" charset="-122"/>
                <a:cs typeface="Calibri" pitchFamily="34" charset="-120"/>
              </a:rPr>
              <a:t>Block K2  |  Session 3 of 25  |  4 academic hours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Goals for Today</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457200" y="1051560"/>
            <a:ext cx="8229600" cy="274320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Predict what a circuit does before you build it</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Use Ohm's law to pick a resistor instead of guessing</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Recognise the common passive components and their purpose</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Explain why a pull-up makes a pressed button read LOW</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State what a GPIO pin can and cannot drive</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Measure voltage, current and resistance with a multimeter</a:t>
            </a:r>
            <a:endParaRPr lang="en-US" sz="1500" dirty="0"/>
          </a:p>
        </p:txBody>
      </p:sp>
      <p:sp>
        <p:nvSpPr>
          <p:cNvPr id="7" name="Shape 5"/>
          <p:cNvSpPr/>
          <p:nvPr/>
        </p:nvSpPr>
        <p:spPr>
          <a:xfrm>
            <a:off x="457200" y="3794760"/>
            <a:ext cx="8229600" cy="777240"/>
          </a:xfrm>
          <a:prstGeom prst="rect">
            <a:avLst/>
          </a:prstGeom>
          <a:solidFill>
            <a:srgbClr val="253270"/>
          </a:solidFill>
          <a:ln w="12700">
            <a:solidFill>
              <a:srgbClr val="CADCFC"/>
            </a:solidFill>
            <a:prstDash val="solid"/>
          </a:ln>
        </p:spPr>
      </p:sp>
      <p:sp>
        <p:nvSpPr>
          <p:cNvPr id="8" name="Shape 6"/>
          <p:cNvSpPr/>
          <p:nvPr/>
        </p:nvSpPr>
        <p:spPr>
          <a:xfrm>
            <a:off x="457200" y="3794760"/>
            <a:ext cx="64008" cy="777240"/>
          </a:xfrm>
          <a:prstGeom prst="rect">
            <a:avLst/>
          </a:prstGeom>
          <a:solidFill>
            <a:srgbClr val="CADCFC"/>
          </a:solidFill>
          <a:ln/>
        </p:spPr>
      </p:sp>
      <p:sp>
        <p:nvSpPr>
          <p:cNvPr id="9" name="Text 7"/>
          <p:cNvSpPr/>
          <p:nvPr/>
        </p:nvSpPr>
        <p:spPr>
          <a:xfrm>
            <a:off x="685800" y="386791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No firmware today</a:t>
            </a:r>
            <a:endParaRPr lang="en-US" sz="1300" dirty="0"/>
          </a:p>
        </p:txBody>
      </p:sp>
      <p:sp>
        <p:nvSpPr>
          <p:cNvPr id="10" name="Text 8"/>
          <p:cNvSpPr/>
          <p:nvPr/>
        </p:nvSpPr>
        <p:spPr>
          <a:xfrm>
            <a:off x="685800" y="4142232"/>
            <a:ext cx="7863840" cy="3657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Bring the board with the lesson 02 blink still on it. We measure the program you already wrote.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1</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Voltage, Current, Resistance</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The three quantities everything else is built from</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Think of Water in a Pipe</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377440"/>
                <a:gridCol w="3840480"/>
                <a:gridCol w="2011680"/>
              </a:tblGrid>
              <a:tr h="32004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Electrical</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Water</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Voltage</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Pressure in the pipe</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volt (V)</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Current</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Flow rate through it</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amp (A)</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Resistance</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How narrow the pipe is</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ohm</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bl>
          </a:graphicData>
        </a:graphic>
      </p:graphicFrame>
      <p:sp>
        <p:nvSpPr>
          <p:cNvPr id="7" name="Shape 4"/>
          <p:cNvSpPr/>
          <p:nvPr/>
        </p:nvSpPr>
        <p:spPr>
          <a:xfrm>
            <a:off x="457200" y="3108960"/>
            <a:ext cx="8229600" cy="822960"/>
          </a:xfrm>
          <a:prstGeom prst="rect">
            <a:avLst/>
          </a:prstGeom>
          <a:solidFill>
            <a:srgbClr val="253270"/>
          </a:solidFill>
          <a:ln w="12700">
            <a:solidFill>
              <a:srgbClr val="CADCFC"/>
            </a:solidFill>
            <a:prstDash val="solid"/>
          </a:ln>
        </p:spPr>
      </p:sp>
      <p:sp>
        <p:nvSpPr>
          <p:cNvPr id="8" name="Shape 5"/>
          <p:cNvSpPr/>
          <p:nvPr/>
        </p:nvSpPr>
        <p:spPr>
          <a:xfrm>
            <a:off x="457200" y="3108960"/>
            <a:ext cx="64008" cy="822960"/>
          </a:xfrm>
          <a:prstGeom prst="rect">
            <a:avLst/>
          </a:prstGeom>
          <a:solidFill>
            <a:srgbClr val="CADCFC"/>
          </a:solidFill>
          <a:ln/>
        </p:spPr>
      </p:sp>
      <p:sp>
        <p:nvSpPr>
          <p:cNvPr id="9" name="Text 6"/>
          <p:cNvSpPr/>
          <p:nvPr/>
        </p:nvSpPr>
        <p:spPr>
          <a:xfrm>
            <a:off x="685800" y="318211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Why the analogy helps</a:t>
            </a:r>
            <a:endParaRPr lang="en-US" sz="1300" dirty="0"/>
          </a:p>
        </p:txBody>
      </p:sp>
      <p:sp>
        <p:nvSpPr>
          <p:cNvPr id="10" name="Text 7"/>
          <p:cNvSpPr/>
          <p:nvPr/>
        </p:nvSpPr>
        <p:spPr>
          <a:xfrm>
            <a:off x="685800" y="3456432"/>
            <a:ext cx="7863840" cy="4114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Raise the pressure and more water flows. Narrow the pipe and less does. That is Ohm's law before any algebra.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Ohm's Law</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457200" y="1325880"/>
            <a:ext cx="4846320" cy="2011680"/>
          </a:xfrm>
          <a:prstGeom prst="rect">
            <a:avLst/>
          </a:prstGeom>
          <a:solidFill>
            <a:srgbClr val="0D1117"/>
          </a:solidFill>
          <a:ln w="12700">
            <a:solidFill>
              <a:srgbClr val="3A4A8A"/>
            </a:solidFill>
            <a:prstDash val="solid"/>
          </a:ln>
        </p:spPr>
      </p:sp>
      <p:sp>
        <p:nvSpPr>
          <p:cNvPr id="7" name="Text 5"/>
          <p:cNvSpPr/>
          <p:nvPr/>
        </p:nvSpPr>
        <p:spPr>
          <a:xfrm>
            <a:off x="566928" y="1417320"/>
            <a:ext cx="4626864" cy="1828800"/>
          </a:xfrm>
          <a:prstGeom prst="rect">
            <a:avLst/>
          </a:prstGeom>
          <a:noFill/>
          <a:ln/>
        </p:spPr>
        <p:txBody>
          <a:bodyPr wrap="square" lIns="0" tIns="0" rIns="0" bIns="0" rtlCol="0" anchor="t"/>
          <a:lstStyle/>
          <a:p>
            <a:pPr indent="0" marL="0">
              <a:lnSpc>
                <a:spcPct val="100000"/>
              </a:lnSpc>
              <a:buNone/>
            </a:pPr>
            <a:r>
              <a:rPr lang="en-US" sz="1400" dirty="0">
                <a:solidFill>
                  <a:srgbClr val="A8D8FF"/>
                </a:solidFill>
                <a:latin typeface="Consolas" pitchFamily="34" charset="0"/>
                <a:ea typeface="Consolas" pitchFamily="34" charset="-122"/>
                <a:cs typeface="Consolas" pitchFamily="34" charset="-120"/>
              </a:rPr>
              <a:t>V = I * R</a:t>
            </a:r>
            <a:endParaRPr lang="en-US" sz="1400" dirty="0"/>
          </a:p>
          <a:p>
            <a:pPr indent="0" marL="0">
              <a:lnSpc>
                <a:spcPct val="100000"/>
              </a:lnSpc>
              <a:buNone/>
            </a:pPr>
            <a:endParaRPr lang="en-US" sz="1400" dirty="0"/>
          </a:p>
          <a:p>
            <a:pPr indent="0" marL="0">
              <a:lnSpc>
                <a:spcPct val="100000"/>
              </a:lnSpc>
              <a:buNone/>
            </a:pPr>
            <a:r>
              <a:rPr lang="en-US" sz="1400" dirty="0">
                <a:solidFill>
                  <a:srgbClr val="A8D8FF"/>
                </a:solidFill>
                <a:latin typeface="Consolas" pitchFamily="34" charset="0"/>
                <a:ea typeface="Consolas" pitchFamily="34" charset="-122"/>
                <a:cs typeface="Consolas" pitchFamily="34" charset="-120"/>
              </a:rPr>
              <a:t>I = V / R    how much current will flow</a:t>
            </a:r>
            <a:endParaRPr lang="en-US" sz="1400" dirty="0"/>
          </a:p>
          <a:p>
            <a:pPr indent="0" marL="0">
              <a:lnSpc>
                <a:spcPct val="100000"/>
              </a:lnSpc>
              <a:buNone/>
            </a:pPr>
            <a:r>
              <a:rPr lang="en-US" sz="1400" dirty="0">
                <a:solidFill>
                  <a:srgbClr val="A8D8FF"/>
                </a:solidFill>
                <a:latin typeface="Consolas" pitchFamily="34" charset="0"/>
                <a:ea typeface="Consolas" pitchFamily="34" charset="-122"/>
                <a:cs typeface="Consolas" pitchFamily="34" charset="-120"/>
              </a:rPr>
              <a:t>R = V / I    what resistor do I need</a:t>
            </a:r>
            <a:endParaRPr lang="en-US" sz="1400" dirty="0"/>
          </a:p>
          <a:p>
            <a:pPr indent="0" marL="0">
              <a:lnSpc>
                <a:spcPct val="100000"/>
              </a:lnSpc>
              <a:buNone/>
            </a:pPr>
            <a:r>
              <a:rPr lang="en-US" sz="1400" dirty="0">
                <a:solidFill>
                  <a:srgbClr val="A8D8FF"/>
                </a:solidFill>
                <a:latin typeface="Consolas" pitchFamily="34" charset="0"/>
                <a:ea typeface="Consolas" pitchFamily="34" charset="-122"/>
                <a:cs typeface="Consolas" pitchFamily="34" charset="-120"/>
              </a:rPr>
              <a:t>V = I * R    how much voltage is dropped</a:t>
            </a:r>
            <a:endParaRPr lang="en-US" sz="1400" dirty="0"/>
          </a:p>
        </p:txBody>
      </p:sp>
      <p:sp>
        <p:nvSpPr>
          <p:cNvPr id="8" name="Text 6"/>
          <p:cNvSpPr/>
          <p:nvPr/>
        </p:nvSpPr>
        <p:spPr>
          <a:xfrm>
            <a:off x="457200" y="3383280"/>
            <a:ext cx="4846320" cy="256032"/>
          </a:xfrm>
          <a:prstGeom prst="rect">
            <a:avLst/>
          </a:prstGeom>
          <a:noFill/>
          <a:ln/>
        </p:spPr>
        <p:txBody>
          <a:bodyPr wrap="square" rtlCol="0" anchor="ctr"/>
          <a:lstStyle/>
          <a:p>
            <a:pPr algn="ctr" indent="0" marL="0">
              <a:buNone/>
            </a:pPr>
            <a:r>
              <a:rPr lang="en-US" sz="1000" i="1" dirty="0">
                <a:solidFill>
                  <a:srgbClr val="8892B0"/>
                </a:solidFill>
                <a:latin typeface="Calibri" pitchFamily="34" charset="0"/>
                <a:ea typeface="Calibri" pitchFamily="34" charset="-122"/>
                <a:cs typeface="Calibri" pitchFamily="34" charset="-120"/>
              </a:rPr>
              <a:t>Three forms of one equation</a:t>
            </a:r>
            <a:endParaRPr lang="en-US" sz="1000" dirty="0"/>
          </a:p>
        </p:txBody>
      </p:sp>
      <p:sp>
        <p:nvSpPr>
          <p:cNvPr id="9" name="Text 7"/>
          <p:cNvSpPr/>
          <p:nvPr/>
        </p:nvSpPr>
        <p:spPr>
          <a:xfrm>
            <a:off x="5577840" y="1417320"/>
            <a:ext cx="3108960" cy="2011680"/>
          </a:xfrm>
          <a:prstGeom prst="rect">
            <a:avLst/>
          </a:prstGeom>
          <a:noFill/>
          <a:ln/>
        </p:spPr>
        <p:txBody>
          <a:bodyPr wrap="square" rtlCol="0" anchor="t"/>
          <a:lstStyle/>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Current in datasheets is in milliamps</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Ohm's law needs amps</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10 mA = 0.010 A</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Getting this wrong is the most common error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Power: Where the Heat Goes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457200" y="1234440"/>
            <a:ext cx="8229600" cy="1280160"/>
          </a:xfrm>
          <a:prstGeom prst="rect">
            <a:avLst/>
          </a:prstGeom>
          <a:solidFill>
            <a:srgbClr val="0D1117"/>
          </a:solidFill>
          <a:ln w="12700">
            <a:solidFill>
              <a:srgbClr val="3A4A8A"/>
            </a:solidFill>
            <a:prstDash val="solid"/>
          </a:ln>
        </p:spPr>
      </p:sp>
      <p:sp>
        <p:nvSpPr>
          <p:cNvPr id="7" name="Text 5"/>
          <p:cNvSpPr/>
          <p:nvPr/>
        </p:nvSpPr>
        <p:spPr>
          <a:xfrm>
            <a:off x="566928" y="1325880"/>
            <a:ext cx="8010144" cy="1097280"/>
          </a:xfrm>
          <a:prstGeom prst="rect">
            <a:avLst/>
          </a:prstGeom>
          <a:noFill/>
          <a:ln/>
        </p:spPr>
        <p:txBody>
          <a:bodyPr wrap="square" lIns="0" tIns="0" rIns="0" bIns="0" rtlCol="0" anchor="t"/>
          <a:lstStyle/>
          <a:p>
            <a:pPr indent="0" marL="0">
              <a:lnSpc>
                <a:spcPct val="100000"/>
              </a:lnSpc>
              <a:buNone/>
            </a:pPr>
            <a:r>
              <a:rPr lang="en-US" sz="1400" dirty="0">
                <a:solidFill>
                  <a:srgbClr val="A8D8FF"/>
                </a:solidFill>
                <a:latin typeface="Consolas" pitchFamily="34" charset="0"/>
                <a:ea typeface="Consolas" pitchFamily="34" charset="-122"/>
                <a:cs typeface="Consolas" pitchFamily="34" charset="-120"/>
              </a:rPr>
              <a:t>P = V * I</a:t>
            </a:r>
            <a:endParaRPr lang="en-US" sz="1400" dirty="0"/>
          </a:p>
          <a:p>
            <a:pPr indent="0" marL="0">
              <a:lnSpc>
                <a:spcPct val="100000"/>
              </a:lnSpc>
              <a:buNone/>
            </a:pPr>
            <a:endParaRPr lang="en-US" sz="1400" dirty="0"/>
          </a:p>
          <a:p>
            <a:pPr indent="0" marL="0">
              <a:lnSpc>
                <a:spcPct val="100000"/>
              </a:lnSpc>
              <a:buNone/>
            </a:pPr>
            <a:r>
              <a:rPr lang="en-US" sz="1400" dirty="0">
                <a:solidFill>
                  <a:srgbClr val="A8D8FF"/>
                </a:solidFill>
                <a:latin typeface="Consolas" pitchFamily="34" charset="0"/>
                <a:ea typeface="Consolas" pitchFamily="34" charset="-122"/>
                <a:cs typeface="Consolas" pitchFamily="34" charset="-120"/>
              </a:rPr>
              <a:t>P = I * I * R    when you know current and resistance</a:t>
            </a:r>
            <a:endParaRPr lang="en-US" sz="1400" dirty="0"/>
          </a:p>
        </p:txBody>
      </p:sp>
      <p:sp>
        <p:nvSpPr>
          <p:cNvPr id="8" name="Text 6"/>
          <p:cNvSpPr/>
          <p:nvPr/>
        </p:nvSpPr>
        <p:spPr>
          <a:xfrm>
            <a:off x="457200" y="2788920"/>
            <a:ext cx="8229600" cy="1828800"/>
          </a:xfrm>
          <a:prstGeom prst="rect">
            <a:avLst/>
          </a:prstGeom>
          <a:noFill/>
          <a:ln/>
        </p:spPr>
        <p:txBody>
          <a:bodyPr wrap="square" rtlCol="0" anchor="t"/>
          <a:lstStyle/>
          <a:p>
            <a:pPr marL="342900" indent="-342900">
              <a:lnSpc>
                <a:spcPct val="135000"/>
              </a:lnSpc>
              <a:buSzPct val="100000"/>
              <a:buChar char="■"/>
            </a:pPr>
            <a:r>
              <a:rPr lang="en-US" sz="1400" dirty="0">
                <a:solidFill>
                  <a:srgbClr val="CADCFC"/>
                </a:solidFill>
                <a:latin typeface="Calibri" pitchFamily="34" charset="0"/>
                <a:ea typeface="Calibri" pitchFamily="34" charset="-122"/>
                <a:cs typeface="Calibri" pitchFamily="34" charset="-120"/>
              </a:rPr>
              <a:t>Power matters for LEDs and resistors, where energy becomes heat and light</a:t>
            </a:r>
            <a:endParaRPr lang="en-US" sz="1400" dirty="0"/>
          </a:p>
          <a:p>
            <a:pPr marL="342900" indent="-342900">
              <a:lnSpc>
                <a:spcPct val="135000"/>
              </a:lnSpc>
              <a:buSzPct val="100000"/>
              <a:buChar char="■"/>
            </a:pPr>
            <a:r>
              <a:rPr lang="en-US" sz="1400" dirty="0">
                <a:solidFill>
                  <a:srgbClr val="CADCFC"/>
                </a:solidFill>
                <a:latin typeface="Calibri" pitchFamily="34" charset="0"/>
                <a:ea typeface="Calibri" pitchFamily="34" charset="-122"/>
                <a:cs typeface="Calibri" pitchFamily="34" charset="-120"/>
              </a:rPr>
              <a:t>It matters much less for GPIO logic signals, where currents are tiny</a:t>
            </a:r>
            <a:endParaRPr lang="en-US" sz="1400" dirty="0"/>
          </a:p>
          <a:p>
            <a:pPr marL="342900" indent="-342900">
              <a:lnSpc>
                <a:spcPct val="135000"/>
              </a:lnSpc>
              <a:buSzPct val="100000"/>
              <a:buChar char="■"/>
            </a:pPr>
            <a:r>
              <a:rPr lang="en-US" sz="1400" dirty="0">
                <a:solidFill>
                  <a:srgbClr val="CADCFC"/>
                </a:solidFill>
                <a:latin typeface="Calibri" pitchFamily="34" charset="0"/>
                <a:ea typeface="Calibri" pitchFamily="34" charset="-122"/>
                <a:cs typeface="Calibri" pitchFamily="34" charset="-120"/>
              </a:rPr>
              <a:t>A standard through-hole resistor is rated for 0.25 W</a:t>
            </a:r>
            <a:endParaRPr lang="en-US" sz="1400" dirty="0"/>
          </a:p>
          <a:p>
            <a:pPr marL="342900" indent="-342900">
              <a:lnSpc>
                <a:spcPct val="135000"/>
              </a:lnSpc>
              <a:buSzPct val="100000"/>
              <a:buChar char="■"/>
            </a:pPr>
            <a:r>
              <a:rPr lang="en-US" sz="1400" dirty="0">
                <a:solidFill>
                  <a:srgbClr val="CADCFC"/>
                </a:solidFill>
                <a:latin typeface="Calibri" pitchFamily="34" charset="0"/>
                <a:ea typeface="Calibri" pitchFamily="34" charset="-122"/>
                <a:cs typeface="Calibri" pitchFamily="34" charset="-120"/>
              </a:rPr>
              <a:t>Exceed that rating and the resistor cooks, discolours and drifts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Why 3.3 V and Not 5 V</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457200" y="1280160"/>
            <a:ext cx="2590800" cy="237744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pic>
        <p:nvPicPr>
          <p:cNvPr id="7" name="Image 0" descr="preencoded.png">    </p:cNvPr>
          <p:cNvPicPr>
            <a:picLocks noChangeAspect="1"/>
          </p:cNvPicPr>
          <p:nvPr/>
        </p:nvPicPr>
        <p:blipFill>
          <a:blip r:embed="rId1"/>
          <a:stretch>
            <a:fillRect/>
          </a:stretch>
        </p:blipFill>
        <p:spPr>
          <a:xfrm>
            <a:off x="1478280" y="1508760"/>
            <a:ext cx="548640" cy="548640"/>
          </a:xfrm>
          <a:prstGeom prst="rect">
            <a:avLst/>
          </a:prstGeom>
        </p:spPr>
      </p:pic>
      <p:sp>
        <p:nvSpPr>
          <p:cNvPr id="8" name="Text 5"/>
          <p:cNvSpPr/>
          <p:nvPr/>
        </p:nvSpPr>
        <p:spPr>
          <a:xfrm>
            <a:off x="457200" y="224028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Logic is 3.3 V</a:t>
            </a:r>
            <a:endParaRPr lang="en-US" sz="1700" dirty="0"/>
          </a:p>
        </p:txBody>
      </p:sp>
      <p:sp>
        <p:nvSpPr>
          <p:cNvPr id="9" name="Text 6"/>
          <p:cNvSpPr/>
          <p:nvPr/>
        </p:nvSpPr>
        <p:spPr>
          <a:xfrm>
            <a:off x="594360" y="2743200"/>
            <a:ext cx="2316480" cy="7772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The ESP32-C3 runs its logic at 3.3 V. A GPIO input expects at most that.</a:t>
            </a:r>
            <a:endParaRPr lang="en-US" sz="1200" dirty="0"/>
          </a:p>
        </p:txBody>
      </p:sp>
      <p:sp>
        <p:nvSpPr>
          <p:cNvPr id="10" name="Shape 7"/>
          <p:cNvSpPr/>
          <p:nvPr/>
        </p:nvSpPr>
        <p:spPr>
          <a:xfrm>
            <a:off x="3276600" y="1280160"/>
            <a:ext cx="2590800" cy="2377440"/>
          </a:xfrm>
          <a:prstGeom prst="rect">
            <a:avLst/>
          </a:prstGeom>
          <a:solidFill>
            <a:srgbClr val="253270"/>
          </a:solidFill>
          <a:ln w="25400">
            <a:solidFill>
              <a:srgbClr val="FF5252"/>
            </a:solidFill>
            <a:prstDash val="solid"/>
          </a:ln>
          <a:effectLst>
            <a:outerShdw sx="100000" sy="100000" kx="0" ky="0" algn="bl" rotWithShape="0" blurRad="50800" dist="25400" dir="8100000">
              <a:srgbClr val="000000">
                <a:alpha val="25000"/>
              </a:srgbClr>
            </a:outerShdw>
          </a:effectLst>
        </p:spPr>
      </p:sp>
      <p:pic>
        <p:nvPicPr>
          <p:cNvPr id="11" name="Image 1" descr="preencoded.png">    </p:cNvPr>
          <p:cNvPicPr>
            <a:picLocks noChangeAspect="1"/>
          </p:cNvPicPr>
          <p:nvPr/>
        </p:nvPicPr>
        <p:blipFill>
          <a:blip r:embed="rId2"/>
          <a:stretch>
            <a:fillRect/>
          </a:stretch>
        </p:blipFill>
        <p:spPr>
          <a:xfrm>
            <a:off x="4297680" y="1508760"/>
            <a:ext cx="548640" cy="548640"/>
          </a:xfrm>
          <a:prstGeom prst="rect">
            <a:avLst/>
          </a:prstGeom>
        </p:spPr>
      </p:pic>
      <p:sp>
        <p:nvSpPr>
          <p:cNvPr id="12" name="Text 8"/>
          <p:cNvSpPr/>
          <p:nvPr/>
        </p:nvSpPr>
        <p:spPr>
          <a:xfrm>
            <a:off x="3276600" y="224028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5 V Damages Pins</a:t>
            </a:r>
            <a:endParaRPr lang="en-US" sz="1700" dirty="0"/>
          </a:p>
        </p:txBody>
      </p:sp>
      <p:sp>
        <p:nvSpPr>
          <p:cNvPr id="13" name="Text 9"/>
          <p:cNvSpPr/>
          <p:nvPr/>
        </p:nvSpPr>
        <p:spPr>
          <a:xfrm>
            <a:off x="3413760" y="2743200"/>
            <a:ext cx="2316480" cy="7772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Applying 5 V to a GPIO input can destroy the pin permanently.</a:t>
            </a:r>
            <a:endParaRPr lang="en-US" sz="1200" dirty="0"/>
          </a:p>
        </p:txBody>
      </p:sp>
      <p:sp>
        <p:nvSpPr>
          <p:cNvPr id="14" name="Shape 10"/>
          <p:cNvSpPr/>
          <p:nvPr/>
        </p:nvSpPr>
        <p:spPr>
          <a:xfrm>
            <a:off x="6096000" y="1280160"/>
            <a:ext cx="2590800" cy="237744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pic>
        <p:nvPicPr>
          <p:cNvPr id="15" name="Image 2" descr="preencoded.png">    </p:cNvPr>
          <p:cNvPicPr>
            <a:picLocks noChangeAspect="1"/>
          </p:cNvPicPr>
          <p:nvPr/>
        </p:nvPicPr>
        <p:blipFill>
          <a:blip r:embed="rId3"/>
          <a:stretch>
            <a:fillRect/>
          </a:stretch>
        </p:blipFill>
        <p:spPr>
          <a:xfrm>
            <a:off x="7117080" y="1508760"/>
            <a:ext cx="548640" cy="548640"/>
          </a:xfrm>
          <a:prstGeom prst="rect">
            <a:avLst/>
          </a:prstGeom>
        </p:spPr>
      </p:pic>
      <p:sp>
        <p:nvSpPr>
          <p:cNvPr id="16" name="Text 11"/>
          <p:cNvSpPr/>
          <p:nvPr/>
        </p:nvSpPr>
        <p:spPr>
          <a:xfrm>
            <a:off x="6096000" y="224028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The 5 V Pin</a:t>
            </a:r>
            <a:endParaRPr lang="en-US" sz="1700" dirty="0"/>
          </a:p>
        </p:txBody>
      </p:sp>
      <p:sp>
        <p:nvSpPr>
          <p:cNvPr id="17" name="Text 12"/>
          <p:cNvSpPr/>
          <p:nvPr/>
        </p:nvSpPr>
        <p:spPr>
          <a:xfrm>
            <a:off x="6233160" y="2743200"/>
            <a:ext cx="2316480" cy="7772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That is USB power passing through, not a logic level. Never wire it to a GPIO.</a:t>
            </a:r>
            <a:endParaRPr lang="en-US" sz="1200" dirty="0"/>
          </a:p>
        </p:txBody>
      </p:sp>
      <p:sp>
        <p:nvSpPr>
          <p:cNvPr id="18" name="Shape 13"/>
          <p:cNvSpPr/>
          <p:nvPr/>
        </p:nvSpPr>
        <p:spPr>
          <a:xfrm>
            <a:off x="457200" y="3840480"/>
            <a:ext cx="8229600" cy="731520"/>
          </a:xfrm>
          <a:prstGeom prst="rect">
            <a:avLst/>
          </a:prstGeom>
          <a:solidFill>
            <a:srgbClr val="253270"/>
          </a:solidFill>
          <a:ln w="12700">
            <a:solidFill>
              <a:srgbClr val="FFB300"/>
            </a:solidFill>
            <a:prstDash val="solid"/>
          </a:ln>
        </p:spPr>
      </p:sp>
      <p:sp>
        <p:nvSpPr>
          <p:cNvPr id="19" name="Shape 14"/>
          <p:cNvSpPr/>
          <p:nvPr/>
        </p:nvSpPr>
        <p:spPr>
          <a:xfrm>
            <a:off x="457200" y="3840480"/>
            <a:ext cx="64008" cy="731520"/>
          </a:xfrm>
          <a:prstGeom prst="rect">
            <a:avLst/>
          </a:prstGeom>
          <a:solidFill>
            <a:srgbClr val="FFB300"/>
          </a:solidFill>
          <a:ln/>
        </p:spPr>
      </p:sp>
      <p:sp>
        <p:nvSpPr>
          <p:cNvPr id="20" name="Text 15"/>
          <p:cNvSpPr/>
          <p:nvPr/>
        </p:nvSpPr>
        <p:spPr>
          <a:xfrm>
            <a:off x="685800" y="391363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Rule for the whole course</a:t>
            </a:r>
            <a:endParaRPr lang="en-US" sz="1300" dirty="0"/>
          </a:p>
        </p:txBody>
      </p:sp>
      <p:sp>
        <p:nvSpPr>
          <p:cNvPr id="21" name="Text 16"/>
          <p:cNvSpPr/>
          <p:nvPr/>
        </p:nvSpPr>
        <p:spPr>
          <a:xfrm>
            <a:off x="685800" y="4187952"/>
            <a:ext cx="7863840" cy="3200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Check the voltage of anything before connecting it to a pin. Damage here is silent and permanent.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2</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Passive Components</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A tour, so a schematic stops looking like noise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Resistors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9</a:t>
            </a:r>
            <a:endParaRPr lang="en-US" sz="900" dirty="0"/>
          </a:p>
        </p:txBody>
      </p:sp>
      <p:sp>
        <p:nvSpPr>
          <p:cNvPr id="6" name="Text 4"/>
          <p:cNvSpPr/>
          <p:nvPr/>
        </p:nvSpPr>
        <p:spPr>
          <a:xfrm>
            <a:off x="457200" y="1051560"/>
            <a:ext cx="8229600" cy="237744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A resistor limits current. Its value is measured in ohms</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The colour bands encode the value, and the code is worth knowing</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In practice it is faster and safer to measure it with a multimeter</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Surface-mount resistors use a different marking system entirely</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Measuring works on every resistor. The colour code does not</a:t>
            </a:r>
            <a:endParaRPr lang="en-US" sz="1500" dirty="0"/>
          </a:p>
        </p:txBody>
      </p:sp>
      <p:sp>
        <p:nvSpPr>
          <p:cNvPr id="7" name="Shape 5"/>
          <p:cNvSpPr/>
          <p:nvPr/>
        </p:nvSpPr>
        <p:spPr>
          <a:xfrm>
            <a:off x="457200" y="3749040"/>
            <a:ext cx="8229600" cy="731520"/>
          </a:xfrm>
          <a:prstGeom prst="rect">
            <a:avLst/>
          </a:prstGeom>
          <a:solidFill>
            <a:srgbClr val="253270"/>
          </a:solidFill>
          <a:ln w="12700">
            <a:solidFill>
              <a:srgbClr val="4CAF50"/>
            </a:solidFill>
            <a:prstDash val="solid"/>
          </a:ln>
        </p:spPr>
      </p:sp>
      <p:sp>
        <p:nvSpPr>
          <p:cNvPr id="8" name="Shape 6"/>
          <p:cNvSpPr/>
          <p:nvPr/>
        </p:nvSpPr>
        <p:spPr>
          <a:xfrm>
            <a:off x="457200" y="3749040"/>
            <a:ext cx="64008" cy="731520"/>
          </a:xfrm>
          <a:prstGeom prst="rect">
            <a:avLst/>
          </a:prstGeom>
          <a:solidFill>
            <a:srgbClr val="4CAF50"/>
          </a:solidFill>
          <a:ln/>
        </p:spPr>
      </p:sp>
      <p:sp>
        <p:nvSpPr>
          <p:cNvPr id="9" name="Text 7"/>
          <p:cNvSpPr/>
          <p:nvPr/>
        </p:nvSpPr>
        <p:spPr>
          <a:xfrm>
            <a:off x="685800" y="3822192"/>
            <a:ext cx="7863840" cy="274320"/>
          </a:xfrm>
          <a:prstGeom prst="rect">
            <a:avLst/>
          </a:prstGeom>
          <a:noFill/>
          <a:ln/>
        </p:spPr>
        <p:txBody>
          <a:bodyPr wrap="square" lIns="0" tIns="0" rIns="0" bIns="0" rtlCol="0" anchor="ctr"/>
          <a:lstStyle/>
          <a:p>
            <a:pPr indent="0" marL="0">
              <a:buNone/>
            </a:pPr>
            <a:r>
              <a:rPr lang="en-US" sz="1300" b="1" dirty="0">
                <a:solidFill>
                  <a:srgbClr val="4CAF50"/>
                </a:solidFill>
                <a:latin typeface="Trebuchet MS" pitchFamily="34" charset="0"/>
                <a:ea typeface="Trebuchet MS" pitchFamily="34" charset="-122"/>
                <a:cs typeface="Trebuchet MS" pitchFamily="34" charset="-120"/>
              </a:rPr>
              <a:t>Today's practical value</a:t>
            </a:r>
            <a:endParaRPr lang="en-US" sz="1300" dirty="0"/>
          </a:p>
        </p:txBody>
      </p:sp>
      <p:sp>
        <p:nvSpPr>
          <p:cNvPr id="10" name="Text 8"/>
          <p:cNvSpPr/>
          <p:nvPr/>
        </p:nvSpPr>
        <p:spPr>
          <a:xfrm>
            <a:off x="685800" y="4096512"/>
            <a:ext cx="7863840" cy="3200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1 kohm. We measure current through it at two different supply voltages.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LEDs Are Not Resistors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3840480" cy="914400"/>
        </p:xfrm>
        <a:graphic>
          <a:graphicData uri="http://schemas.openxmlformats.org/drawingml/2006/table">
            <a:tbl>
              <a:tblPr/>
              <a:tblGrid>
                <a:gridCol w="1920240"/>
                <a:gridCol w="1920240"/>
              </a:tblGrid>
              <a:tr h="3200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Colour</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Forward voltage</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r>
              <a:tr h="320040">
                <a:tc>
                  <a:txBody>
                    <a:bodyPr/>
                    <a:lstStyle/>
                    <a:p>
                      <a:pPr algn="l" indent="0" marL="0">
                        <a:buNone/>
                      </a:pPr>
                      <a:r>
                        <a:rPr lang="en-US" sz="1200" dirty="0">
                          <a:solidFill>
                            <a:srgbClr val="FFFFFF"/>
                          </a:solidFill>
                          <a:latin typeface="Calibri" pitchFamily="34" charset="0"/>
                          <a:ea typeface="Calibri" pitchFamily="34" charset="-122"/>
                          <a:cs typeface="Calibri" pitchFamily="34" charset="-120"/>
                        </a:rPr>
                        <a:t>Red</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200" dirty="0">
                          <a:solidFill>
                            <a:srgbClr val="CADCFC"/>
                          </a:solidFill>
                          <a:latin typeface="Calibri" pitchFamily="34" charset="0"/>
                          <a:ea typeface="Calibri" pitchFamily="34" charset="-122"/>
                          <a:cs typeface="Calibri" pitchFamily="34" charset="-120"/>
                        </a:rPr>
                        <a:t>1.8 - 2.0 V</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200" dirty="0">
                          <a:solidFill>
                            <a:srgbClr val="FFFFFF"/>
                          </a:solidFill>
                          <a:latin typeface="Calibri" pitchFamily="34" charset="0"/>
                          <a:ea typeface="Calibri" pitchFamily="34" charset="-122"/>
                          <a:cs typeface="Calibri" pitchFamily="34" charset="-120"/>
                        </a:rPr>
                        <a:t>Yellow</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200" dirty="0">
                          <a:solidFill>
                            <a:srgbClr val="CADCFC"/>
                          </a:solidFill>
                          <a:latin typeface="Calibri" pitchFamily="34" charset="0"/>
                          <a:ea typeface="Calibri" pitchFamily="34" charset="-122"/>
                          <a:cs typeface="Calibri" pitchFamily="34" charset="-120"/>
                        </a:rPr>
                        <a:t>2.0 - 2.2 V</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200" dirty="0">
                          <a:solidFill>
                            <a:srgbClr val="FFFFFF"/>
                          </a:solidFill>
                          <a:latin typeface="Calibri" pitchFamily="34" charset="0"/>
                          <a:ea typeface="Calibri" pitchFamily="34" charset="-122"/>
                          <a:cs typeface="Calibri" pitchFamily="34" charset="-120"/>
                        </a:rPr>
                        <a:t>Green</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200" dirty="0">
                          <a:solidFill>
                            <a:srgbClr val="CADCFC"/>
                          </a:solidFill>
                          <a:latin typeface="Calibri" pitchFamily="34" charset="0"/>
                          <a:ea typeface="Calibri" pitchFamily="34" charset="-122"/>
                          <a:cs typeface="Calibri" pitchFamily="34" charset="-120"/>
                        </a:rPr>
                        <a:t>2.0 - 3.0 V</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200" dirty="0">
                          <a:solidFill>
                            <a:srgbClr val="FFFFFF"/>
                          </a:solidFill>
                          <a:latin typeface="Calibri" pitchFamily="34" charset="0"/>
                          <a:ea typeface="Calibri" pitchFamily="34" charset="-122"/>
                          <a:cs typeface="Calibri" pitchFamily="34" charset="-120"/>
                        </a:rPr>
                        <a:t>Blue</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200" dirty="0">
                          <a:solidFill>
                            <a:srgbClr val="CADCFC"/>
                          </a:solidFill>
                          <a:latin typeface="Calibri" pitchFamily="34" charset="0"/>
                          <a:ea typeface="Calibri" pitchFamily="34" charset="-122"/>
                          <a:cs typeface="Calibri" pitchFamily="34" charset="-120"/>
                        </a:rPr>
                        <a:t>2.8 - 3.2 V</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200" dirty="0">
                          <a:solidFill>
                            <a:srgbClr val="FFFFFF"/>
                          </a:solidFill>
                          <a:latin typeface="Calibri" pitchFamily="34" charset="0"/>
                          <a:ea typeface="Calibri" pitchFamily="34" charset="-122"/>
                          <a:cs typeface="Calibri" pitchFamily="34" charset="-120"/>
                        </a:rPr>
                        <a:t>White</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200" dirty="0">
                          <a:solidFill>
                            <a:srgbClr val="CADCFC"/>
                          </a:solidFill>
                          <a:latin typeface="Calibri" pitchFamily="34" charset="0"/>
                          <a:ea typeface="Calibri" pitchFamily="34" charset="-122"/>
                          <a:cs typeface="Calibri" pitchFamily="34" charset="-120"/>
                        </a:rPr>
                        <a:t>2.8 - 3.4 V</a:t>
                      </a:r>
                      <a:endParaRPr lang="en-US" sz="12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bl>
          </a:graphicData>
        </a:graphic>
      </p:graphicFrame>
      <p:sp>
        <p:nvSpPr>
          <p:cNvPr id="7" name="Text 4"/>
          <p:cNvSpPr/>
          <p:nvPr/>
        </p:nvSpPr>
        <p:spPr>
          <a:xfrm>
            <a:off x="4572000" y="1051560"/>
            <a:ext cx="4114800" cy="2377440"/>
          </a:xfrm>
          <a:prstGeom prst="rect">
            <a:avLst/>
          </a:prstGeom>
          <a:noFill/>
          <a:ln/>
        </p:spPr>
        <p:txBody>
          <a:bodyPr wrap="square" rtlCol="0" anchor="t"/>
          <a:lstStyle/>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An LED drops a roughly fixed forward voltage</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Current must be limited by something else, normally a series resistor</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Different colour, different forward voltage, different resistor</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A blue LED on 3.3 V leaves almost no headroom for the resistor</a:t>
            </a:r>
            <a:endParaRPr lang="en-US" sz="1300" dirty="0"/>
          </a:p>
        </p:txBody>
      </p:sp>
      <p:sp>
        <p:nvSpPr>
          <p:cNvPr id="8" name="Shape 5"/>
          <p:cNvSpPr/>
          <p:nvPr/>
        </p:nvSpPr>
        <p:spPr>
          <a:xfrm>
            <a:off x="457200" y="3794760"/>
            <a:ext cx="8229600" cy="777240"/>
          </a:xfrm>
          <a:prstGeom prst="rect">
            <a:avLst/>
          </a:prstGeom>
          <a:solidFill>
            <a:srgbClr val="253270"/>
          </a:solidFill>
          <a:ln w="12700">
            <a:solidFill>
              <a:srgbClr val="CADCFC"/>
            </a:solidFill>
            <a:prstDash val="solid"/>
          </a:ln>
        </p:spPr>
      </p:sp>
      <p:sp>
        <p:nvSpPr>
          <p:cNvPr id="9" name="Shape 6"/>
          <p:cNvSpPr/>
          <p:nvPr/>
        </p:nvSpPr>
        <p:spPr>
          <a:xfrm>
            <a:off x="457200" y="3794760"/>
            <a:ext cx="64008" cy="777240"/>
          </a:xfrm>
          <a:prstGeom prst="rect">
            <a:avLst/>
          </a:prstGeom>
          <a:solidFill>
            <a:srgbClr val="CADCFC"/>
          </a:solidFill>
          <a:ln/>
        </p:spPr>
      </p:sp>
      <p:sp>
        <p:nvSpPr>
          <p:cNvPr id="10" name="Text 7"/>
          <p:cNvSpPr/>
          <p:nvPr/>
        </p:nvSpPr>
        <p:spPr>
          <a:xfrm>
            <a:off x="685800" y="386791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On your board</a:t>
            </a:r>
            <a:endParaRPr lang="en-US" sz="1300" dirty="0"/>
          </a:p>
        </p:txBody>
      </p:sp>
      <p:sp>
        <p:nvSpPr>
          <p:cNvPr id="11" name="Text 8"/>
          <p:cNvSpPr/>
          <p:nvPr/>
        </p:nvSpPr>
        <p:spPr>
          <a:xfrm>
            <a:off x="685800" y="4142232"/>
            <a:ext cx="7863840" cy="3657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The blue status LED on GPIO 8 already has its resistor fitted. That calculation was done for you.</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An Unconnected Input Is Not Zero</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457200" y="1051560"/>
            <a:ext cx="8229600" cy="201168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An input pin connected to nothing does not read LOW</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It floats, picking up whatever electrical noise is nearby</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Read it twice and you may get two different answers</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A resistor is what gives a disconnected input a defined value</a:t>
            </a:r>
            <a:endParaRPr lang="en-US" sz="1500" dirty="0"/>
          </a:p>
        </p:txBody>
      </p:sp>
      <p:sp>
        <p:nvSpPr>
          <p:cNvPr id="7" name="Shape 5"/>
          <p:cNvSpPr/>
          <p:nvPr/>
        </p:nvSpPr>
        <p:spPr>
          <a:xfrm>
            <a:off x="457200" y="3291840"/>
            <a:ext cx="8229600" cy="914400"/>
          </a:xfrm>
          <a:prstGeom prst="rect">
            <a:avLst/>
          </a:prstGeom>
          <a:solidFill>
            <a:srgbClr val="253270"/>
          </a:solidFill>
          <a:ln w="12700">
            <a:solidFill>
              <a:srgbClr val="FFB300"/>
            </a:solidFill>
            <a:prstDash val="solid"/>
          </a:ln>
        </p:spPr>
      </p:sp>
      <p:sp>
        <p:nvSpPr>
          <p:cNvPr id="8" name="Shape 6"/>
          <p:cNvSpPr/>
          <p:nvPr/>
        </p:nvSpPr>
        <p:spPr>
          <a:xfrm>
            <a:off x="457200" y="3291840"/>
            <a:ext cx="64008" cy="914400"/>
          </a:xfrm>
          <a:prstGeom prst="rect">
            <a:avLst/>
          </a:prstGeom>
          <a:solidFill>
            <a:srgbClr val="FFB300"/>
          </a:solidFill>
          <a:ln/>
        </p:spPr>
      </p:sp>
      <p:sp>
        <p:nvSpPr>
          <p:cNvPr id="9" name="Text 7"/>
          <p:cNvSpPr/>
          <p:nvPr/>
        </p:nvSpPr>
        <p:spPr>
          <a:xfrm>
            <a:off x="685800" y="336499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This is not a rare edge case</a:t>
            </a:r>
            <a:endParaRPr lang="en-US" sz="1300" dirty="0"/>
          </a:p>
        </p:txBody>
      </p:sp>
      <p:sp>
        <p:nvSpPr>
          <p:cNvPr id="10" name="Text 8"/>
          <p:cNvSpPr/>
          <p:nvPr/>
        </p:nvSpPr>
        <p:spPr>
          <a:xfrm>
            <a:off x="685800" y="3639312"/>
            <a:ext cx="7863840" cy="5029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Every button, every switch and every unused input on a real board needs a defined level. It is the default job of a pull-up or pull-down.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Pull-Up and Pull-Down</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57200" y="1280160"/>
            <a:ext cx="4000500" cy="2286000"/>
          </a:xfrm>
          <a:prstGeom prst="rect">
            <a:avLst/>
          </a:prstGeom>
          <a:solidFill>
            <a:srgbClr val="253270"/>
          </a:solidFill>
          <a:ln w="25400">
            <a:solidFill>
              <a:srgbClr val="4CAF50"/>
            </a:solidFill>
            <a:prstDash val="solid"/>
          </a:ln>
          <a:effectLst>
            <a:outerShdw sx="100000" sy="100000" kx="0" ky="0" algn="bl" rotWithShape="0" blurRad="50800" dist="25400" dir="8100000">
              <a:srgbClr val="000000">
                <a:alpha val="25000"/>
              </a:srgbClr>
            </a:outerShdw>
          </a:effectLst>
        </p:spPr>
      </p:sp>
      <p:pic>
        <p:nvPicPr>
          <p:cNvPr id="7" name="Image 0" descr="preencoded.png">    </p:cNvPr>
          <p:cNvPicPr>
            <a:picLocks noChangeAspect="1"/>
          </p:cNvPicPr>
          <p:nvPr/>
        </p:nvPicPr>
        <p:blipFill>
          <a:blip r:embed="rId1"/>
          <a:stretch>
            <a:fillRect/>
          </a:stretch>
        </p:blipFill>
        <p:spPr>
          <a:xfrm>
            <a:off x="2183130" y="1508760"/>
            <a:ext cx="548640" cy="548640"/>
          </a:xfrm>
          <a:prstGeom prst="rect">
            <a:avLst/>
          </a:prstGeom>
        </p:spPr>
      </p:pic>
      <p:sp>
        <p:nvSpPr>
          <p:cNvPr id="8" name="Text 5"/>
          <p:cNvSpPr/>
          <p:nvPr/>
        </p:nvSpPr>
        <p:spPr>
          <a:xfrm>
            <a:off x="457200" y="2240280"/>
            <a:ext cx="40005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Pull-Up</a:t>
            </a:r>
            <a:endParaRPr lang="en-US" sz="1700" dirty="0"/>
          </a:p>
        </p:txBody>
      </p:sp>
      <p:sp>
        <p:nvSpPr>
          <p:cNvPr id="9" name="Text 6"/>
          <p:cNvSpPr/>
          <p:nvPr/>
        </p:nvSpPr>
        <p:spPr>
          <a:xfrm>
            <a:off x="594360" y="2743200"/>
            <a:ext cx="3726180" cy="68580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Resistor from pin to 3.3 V. Pin reads HIGH at rest. Button connects it to GND, so pressing reads LOW. Active-low logic.</a:t>
            </a:r>
            <a:endParaRPr lang="en-US" sz="1200" dirty="0"/>
          </a:p>
        </p:txBody>
      </p:sp>
      <p:sp>
        <p:nvSpPr>
          <p:cNvPr id="10" name="Shape 7"/>
          <p:cNvSpPr/>
          <p:nvPr/>
        </p:nvSpPr>
        <p:spPr>
          <a:xfrm>
            <a:off x="4686300" y="1280160"/>
            <a:ext cx="4000500" cy="228600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pic>
        <p:nvPicPr>
          <p:cNvPr id="11" name="Image 1" descr="preencoded.png">    </p:cNvPr>
          <p:cNvPicPr>
            <a:picLocks noChangeAspect="1"/>
          </p:cNvPicPr>
          <p:nvPr/>
        </p:nvPicPr>
        <p:blipFill>
          <a:blip r:embed="rId2"/>
          <a:stretch>
            <a:fillRect/>
          </a:stretch>
        </p:blipFill>
        <p:spPr>
          <a:xfrm>
            <a:off x="6412230" y="1508760"/>
            <a:ext cx="548640" cy="548640"/>
          </a:xfrm>
          <a:prstGeom prst="rect">
            <a:avLst/>
          </a:prstGeom>
        </p:spPr>
      </p:pic>
      <p:sp>
        <p:nvSpPr>
          <p:cNvPr id="12" name="Text 8"/>
          <p:cNvSpPr/>
          <p:nvPr/>
        </p:nvSpPr>
        <p:spPr>
          <a:xfrm>
            <a:off x="4686300" y="2240280"/>
            <a:ext cx="40005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Pull-Down</a:t>
            </a:r>
            <a:endParaRPr lang="en-US" sz="1700" dirty="0"/>
          </a:p>
        </p:txBody>
      </p:sp>
      <p:sp>
        <p:nvSpPr>
          <p:cNvPr id="13" name="Text 9"/>
          <p:cNvSpPr/>
          <p:nvPr/>
        </p:nvSpPr>
        <p:spPr>
          <a:xfrm>
            <a:off x="4823460" y="2743200"/>
            <a:ext cx="3726180" cy="68580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Resistor from pin to GND. Pin reads LOW at rest. Button connects it to 3.3 V, so pressing reads HIGH. Active-high logic.</a:t>
            </a:r>
            <a:endParaRPr lang="en-US" sz="1200" dirty="0"/>
          </a:p>
        </p:txBody>
      </p:sp>
      <p:sp>
        <p:nvSpPr>
          <p:cNvPr id="14" name="Shape 10"/>
          <p:cNvSpPr/>
          <p:nvPr/>
        </p:nvSpPr>
        <p:spPr>
          <a:xfrm>
            <a:off x="457200" y="3749040"/>
            <a:ext cx="8229600" cy="822960"/>
          </a:xfrm>
          <a:prstGeom prst="rect">
            <a:avLst/>
          </a:prstGeom>
          <a:solidFill>
            <a:srgbClr val="253270"/>
          </a:solidFill>
          <a:ln w="12700">
            <a:solidFill>
              <a:srgbClr val="4CAF50"/>
            </a:solidFill>
            <a:prstDash val="solid"/>
          </a:ln>
        </p:spPr>
      </p:sp>
      <p:sp>
        <p:nvSpPr>
          <p:cNvPr id="15" name="Shape 11"/>
          <p:cNvSpPr/>
          <p:nvPr/>
        </p:nvSpPr>
        <p:spPr>
          <a:xfrm>
            <a:off x="457200" y="3749040"/>
            <a:ext cx="64008" cy="822960"/>
          </a:xfrm>
          <a:prstGeom prst="rect">
            <a:avLst/>
          </a:prstGeom>
          <a:solidFill>
            <a:srgbClr val="4CAF50"/>
          </a:solidFill>
          <a:ln/>
        </p:spPr>
      </p:sp>
      <p:sp>
        <p:nvSpPr>
          <p:cNvPr id="16" name="Text 12"/>
          <p:cNvSpPr/>
          <p:nvPr/>
        </p:nvSpPr>
        <p:spPr>
          <a:xfrm>
            <a:off x="685800" y="3822192"/>
            <a:ext cx="7863840" cy="274320"/>
          </a:xfrm>
          <a:prstGeom prst="rect">
            <a:avLst/>
          </a:prstGeom>
          <a:noFill/>
          <a:ln/>
        </p:spPr>
        <p:txBody>
          <a:bodyPr wrap="square" lIns="0" tIns="0" rIns="0" bIns="0" rtlCol="0" anchor="ctr"/>
          <a:lstStyle/>
          <a:p>
            <a:pPr indent="0" marL="0">
              <a:buNone/>
            </a:pPr>
            <a:r>
              <a:rPr lang="en-US" sz="1300" b="1" dirty="0">
                <a:solidFill>
                  <a:srgbClr val="4CAF50"/>
                </a:solidFill>
                <a:latin typeface="Trebuchet MS" pitchFamily="34" charset="0"/>
                <a:ea typeface="Trebuchet MS" pitchFamily="34" charset="-122"/>
                <a:cs typeface="Trebuchet MS" pitchFamily="34" charset="-120"/>
              </a:rPr>
              <a:t>The BOOT button on GPIO 9 uses a pull-up</a:t>
            </a:r>
            <a:endParaRPr lang="en-US" sz="1300" dirty="0"/>
          </a:p>
        </p:txBody>
      </p:sp>
      <p:sp>
        <p:nvSpPr>
          <p:cNvPr id="17" name="Text 13"/>
          <p:cNvSpPr/>
          <p:nvPr/>
        </p:nvSpPr>
        <p:spPr>
          <a:xfrm>
            <a:off x="685800" y="4096512"/>
            <a:ext cx="7863840" cy="4114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That is why pressing it reads LOW. On the breadboard we build the opposite case so you see both conventions side by side.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Capacitors and Inductors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457200" y="1280160"/>
            <a:ext cx="4000500" cy="237744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pic>
        <p:nvPicPr>
          <p:cNvPr id="7" name="Image 0" descr="preencoded.png">    </p:cNvPr>
          <p:cNvPicPr>
            <a:picLocks noChangeAspect="1"/>
          </p:cNvPicPr>
          <p:nvPr/>
        </p:nvPicPr>
        <p:blipFill>
          <a:blip r:embed="rId1"/>
          <a:stretch>
            <a:fillRect/>
          </a:stretch>
        </p:blipFill>
        <p:spPr>
          <a:xfrm>
            <a:off x="2183130" y="1508760"/>
            <a:ext cx="548640" cy="548640"/>
          </a:xfrm>
          <a:prstGeom prst="rect">
            <a:avLst/>
          </a:prstGeom>
        </p:spPr>
      </p:pic>
      <p:sp>
        <p:nvSpPr>
          <p:cNvPr id="8" name="Text 5"/>
          <p:cNvSpPr/>
          <p:nvPr/>
        </p:nvSpPr>
        <p:spPr>
          <a:xfrm>
            <a:off x="457200" y="2240280"/>
            <a:ext cx="40005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Capacitor</a:t>
            </a:r>
            <a:endParaRPr lang="en-US" sz="1700" dirty="0"/>
          </a:p>
        </p:txBody>
      </p:sp>
      <p:sp>
        <p:nvSpPr>
          <p:cNvPr id="9" name="Text 6"/>
          <p:cNvSpPr/>
          <p:nvPr/>
        </p:nvSpPr>
        <p:spPr>
          <a:xfrm>
            <a:off x="594360" y="2743200"/>
            <a:ext cx="3726180" cy="7772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Stores charge. Steadies a supply voltage that would otherwise dip whenever the chip draws a burst of current. The small ones next to every chip are decoupling capacitors.</a:t>
            </a:r>
            <a:endParaRPr lang="en-US" sz="1200" dirty="0"/>
          </a:p>
        </p:txBody>
      </p:sp>
      <p:sp>
        <p:nvSpPr>
          <p:cNvPr id="10" name="Shape 7"/>
          <p:cNvSpPr/>
          <p:nvPr/>
        </p:nvSpPr>
        <p:spPr>
          <a:xfrm>
            <a:off x="4686300" y="1280160"/>
            <a:ext cx="4000500" cy="237744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pic>
        <p:nvPicPr>
          <p:cNvPr id="11" name="Image 1" descr="preencoded.png">    </p:cNvPr>
          <p:cNvPicPr>
            <a:picLocks noChangeAspect="1"/>
          </p:cNvPicPr>
          <p:nvPr/>
        </p:nvPicPr>
        <p:blipFill>
          <a:blip r:embed="rId2"/>
          <a:stretch>
            <a:fillRect/>
          </a:stretch>
        </p:blipFill>
        <p:spPr>
          <a:xfrm>
            <a:off x="6412230" y="1508760"/>
            <a:ext cx="548640" cy="548640"/>
          </a:xfrm>
          <a:prstGeom prst="rect">
            <a:avLst/>
          </a:prstGeom>
        </p:spPr>
      </p:pic>
      <p:sp>
        <p:nvSpPr>
          <p:cNvPr id="12" name="Text 8"/>
          <p:cNvSpPr/>
          <p:nvPr/>
        </p:nvSpPr>
        <p:spPr>
          <a:xfrm>
            <a:off x="4686300" y="2240280"/>
            <a:ext cx="40005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Inductor</a:t>
            </a:r>
            <a:endParaRPr lang="en-US" sz="1700" dirty="0"/>
          </a:p>
        </p:txBody>
      </p:sp>
      <p:sp>
        <p:nvSpPr>
          <p:cNvPr id="13" name="Text 9"/>
          <p:cNvSpPr/>
          <p:nvPr/>
        </p:nvSpPr>
        <p:spPr>
          <a:xfrm>
            <a:off x="4823460" y="2743200"/>
            <a:ext cx="3726180" cy="7772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Resists changes in current. Found in switching power supplies and filters. Where a capacitor is about storing charge, an inductor is about current and time.</a:t>
            </a:r>
            <a:endParaRPr lang="en-US" sz="1200" dirty="0"/>
          </a:p>
        </p:txBody>
      </p:sp>
      <p:sp>
        <p:nvSpPr>
          <p:cNvPr id="14" name="Shape 10"/>
          <p:cNvSpPr/>
          <p:nvPr/>
        </p:nvSpPr>
        <p:spPr>
          <a:xfrm>
            <a:off x="457200" y="3840480"/>
            <a:ext cx="8229600" cy="731520"/>
          </a:xfrm>
          <a:prstGeom prst="rect">
            <a:avLst/>
          </a:prstGeom>
          <a:solidFill>
            <a:srgbClr val="253270"/>
          </a:solidFill>
          <a:ln w="12700">
            <a:solidFill>
              <a:srgbClr val="CADCFC"/>
            </a:solidFill>
            <a:prstDash val="solid"/>
          </a:ln>
        </p:spPr>
      </p:sp>
      <p:sp>
        <p:nvSpPr>
          <p:cNvPr id="15" name="Shape 11"/>
          <p:cNvSpPr/>
          <p:nvPr/>
        </p:nvSpPr>
        <p:spPr>
          <a:xfrm>
            <a:off x="457200" y="3840480"/>
            <a:ext cx="64008" cy="731520"/>
          </a:xfrm>
          <a:prstGeom prst="rect">
            <a:avLst/>
          </a:prstGeom>
          <a:solidFill>
            <a:srgbClr val="CADCFC"/>
          </a:solidFill>
          <a:ln/>
        </p:spPr>
      </p:sp>
      <p:sp>
        <p:nvSpPr>
          <p:cNvPr id="16" name="Text 12"/>
          <p:cNvSpPr/>
          <p:nvPr/>
        </p:nvSpPr>
        <p:spPr>
          <a:xfrm>
            <a:off x="685800" y="391363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No calculations yet</a:t>
            </a:r>
            <a:endParaRPr lang="en-US" sz="1300" dirty="0"/>
          </a:p>
        </p:txBody>
      </p:sp>
      <p:sp>
        <p:nvSpPr>
          <p:cNvPr id="17" name="Text 13"/>
          <p:cNvSpPr/>
          <p:nvPr/>
        </p:nvSpPr>
        <p:spPr>
          <a:xfrm>
            <a:off x="685800" y="4187952"/>
            <a:ext cx="7863840" cy="3200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Today you only need to know these exist and roughly what each is for.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What a GPIO Pin Can Drive</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457200" y="1051560"/>
            <a:ext cx="8229600" cy="201168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A GPIO pin is a small switch, not a power supply</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It can source or sink only tens of milliamps, and less to stay reliable</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Total current across all pins is limited too, not just per pin</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Motors, relays and long LED strips need a driver or transistor between</a:t>
            </a:r>
            <a:endParaRPr lang="en-US" sz="1500" dirty="0"/>
          </a:p>
        </p:txBody>
      </p:sp>
      <p:sp>
        <p:nvSpPr>
          <p:cNvPr id="7" name="Shape 5"/>
          <p:cNvSpPr/>
          <p:nvPr/>
        </p:nvSpPr>
        <p:spPr>
          <a:xfrm>
            <a:off x="457200" y="3200400"/>
            <a:ext cx="8229600" cy="1097280"/>
          </a:xfrm>
          <a:prstGeom prst="rect">
            <a:avLst/>
          </a:prstGeom>
          <a:solidFill>
            <a:srgbClr val="253270"/>
          </a:solidFill>
          <a:ln w="12700">
            <a:solidFill>
              <a:srgbClr val="FF5252"/>
            </a:solidFill>
            <a:prstDash val="solid"/>
          </a:ln>
        </p:spPr>
      </p:sp>
      <p:sp>
        <p:nvSpPr>
          <p:cNvPr id="8" name="Shape 6"/>
          <p:cNvSpPr/>
          <p:nvPr/>
        </p:nvSpPr>
        <p:spPr>
          <a:xfrm>
            <a:off x="457200" y="3200400"/>
            <a:ext cx="64008" cy="1097280"/>
          </a:xfrm>
          <a:prstGeom prst="rect">
            <a:avLst/>
          </a:prstGeom>
          <a:solidFill>
            <a:srgbClr val="FF5252"/>
          </a:solidFill>
          <a:ln/>
        </p:spPr>
      </p:sp>
      <p:sp>
        <p:nvSpPr>
          <p:cNvPr id="9" name="Text 7"/>
          <p:cNvSpPr/>
          <p:nvPr/>
        </p:nvSpPr>
        <p:spPr>
          <a:xfrm>
            <a:off x="685800" y="3273552"/>
            <a:ext cx="7863840" cy="274320"/>
          </a:xfrm>
          <a:prstGeom prst="rect">
            <a:avLst/>
          </a:prstGeom>
          <a:noFill/>
          <a:ln/>
        </p:spPr>
        <p:txBody>
          <a:bodyPr wrap="square" lIns="0" tIns="0" rIns="0" bIns="0" rtlCol="0" anchor="ctr"/>
          <a:lstStyle/>
          <a:p>
            <a:pPr indent="0" marL="0">
              <a:buNone/>
            </a:pPr>
            <a:r>
              <a:rPr lang="en-US" sz="1300" b="1" dirty="0">
                <a:solidFill>
                  <a:srgbClr val="FF5252"/>
                </a:solidFill>
                <a:latin typeface="Trebuchet MS" pitchFamily="34" charset="0"/>
                <a:ea typeface="Trebuchet MS" pitchFamily="34" charset="-122"/>
                <a:cs typeface="Trebuchet MS" pitchFamily="34" charset="-120"/>
              </a:rPr>
              <a:t>Strapping pins: GPIO 8 and GPIO 9</a:t>
            </a:r>
            <a:endParaRPr lang="en-US" sz="1300" dirty="0"/>
          </a:p>
        </p:txBody>
      </p:sp>
      <p:sp>
        <p:nvSpPr>
          <p:cNvPr id="10" name="Text 8"/>
          <p:cNvSpPr/>
          <p:nvPr/>
        </p:nvSpPr>
        <p:spPr>
          <a:xfrm>
            <a:off x="685800" y="3547872"/>
            <a:ext cx="7863840" cy="6858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The chip reads these two pins at power-up to choose a boot mode. Something wired to them can stop the board booting even when your code is perfect. This is why the lesson 02 wiring was left alone. Full treatment in block K4.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3</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Measure, Do Not Assume</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Bench supply, your board, and a multimeter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Using the Multimeter</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457200" y="1280160"/>
            <a:ext cx="2590800" cy="219456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pic>
        <p:nvPicPr>
          <p:cNvPr id="7" name="Image 0" descr="preencoded.png">    </p:cNvPr>
          <p:cNvPicPr>
            <a:picLocks noChangeAspect="1"/>
          </p:cNvPicPr>
          <p:nvPr/>
        </p:nvPicPr>
        <p:blipFill>
          <a:blip r:embed="rId1"/>
          <a:stretch>
            <a:fillRect/>
          </a:stretch>
        </p:blipFill>
        <p:spPr>
          <a:xfrm>
            <a:off x="1478280" y="1508760"/>
            <a:ext cx="548640" cy="548640"/>
          </a:xfrm>
          <a:prstGeom prst="rect">
            <a:avLst/>
          </a:prstGeom>
        </p:spPr>
      </p:pic>
      <p:sp>
        <p:nvSpPr>
          <p:cNvPr id="8" name="Text 5"/>
          <p:cNvSpPr/>
          <p:nvPr/>
        </p:nvSpPr>
        <p:spPr>
          <a:xfrm>
            <a:off x="457200" y="224028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Voltage</a:t>
            </a:r>
            <a:endParaRPr lang="en-US" sz="1700" dirty="0"/>
          </a:p>
        </p:txBody>
      </p:sp>
      <p:sp>
        <p:nvSpPr>
          <p:cNvPr id="9" name="Text 6"/>
          <p:cNvSpPr/>
          <p:nvPr/>
        </p:nvSpPr>
        <p:spPr>
          <a:xfrm>
            <a:off x="594360" y="2743200"/>
            <a:ext cx="2316480" cy="5943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Measured in parallel, across the thing you care about.</a:t>
            </a:r>
            <a:endParaRPr lang="en-US" sz="1200" dirty="0"/>
          </a:p>
        </p:txBody>
      </p:sp>
      <p:sp>
        <p:nvSpPr>
          <p:cNvPr id="10" name="Shape 7"/>
          <p:cNvSpPr/>
          <p:nvPr/>
        </p:nvSpPr>
        <p:spPr>
          <a:xfrm>
            <a:off x="3276600" y="1280160"/>
            <a:ext cx="2590800" cy="219456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pic>
        <p:nvPicPr>
          <p:cNvPr id="11" name="Image 1" descr="preencoded.png">    </p:cNvPr>
          <p:cNvPicPr>
            <a:picLocks noChangeAspect="1"/>
          </p:cNvPicPr>
          <p:nvPr/>
        </p:nvPicPr>
        <p:blipFill>
          <a:blip r:embed="rId2"/>
          <a:stretch>
            <a:fillRect/>
          </a:stretch>
        </p:blipFill>
        <p:spPr>
          <a:xfrm>
            <a:off x="4297680" y="1508760"/>
            <a:ext cx="548640" cy="548640"/>
          </a:xfrm>
          <a:prstGeom prst="rect">
            <a:avLst/>
          </a:prstGeom>
        </p:spPr>
      </p:pic>
      <p:sp>
        <p:nvSpPr>
          <p:cNvPr id="12" name="Text 8"/>
          <p:cNvSpPr/>
          <p:nvPr/>
        </p:nvSpPr>
        <p:spPr>
          <a:xfrm>
            <a:off x="3276600" y="224028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Current</a:t>
            </a:r>
            <a:endParaRPr lang="en-US" sz="1700" dirty="0"/>
          </a:p>
        </p:txBody>
      </p:sp>
      <p:sp>
        <p:nvSpPr>
          <p:cNvPr id="13" name="Text 9"/>
          <p:cNvSpPr/>
          <p:nvPr/>
        </p:nvSpPr>
        <p:spPr>
          <a:xfrm>
            <a:off x="3413760" y="2743200"/>
            <a:ext cx="2316480" cy="5943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Measured in series. Break the circuit and put the meter in the gap.</a:t>
            </a:r>
            <a:endParaRPr lang="en-US" sz="1200" dirty="0"/>
          </a:p>
        </p:txBody>
      </p:sp>
      <p:sp>
        <p:nvSpPr>
          <p:cNvPr id="14" name="Shape 10"/>
          <p:cNvSpPr/>
          <p:nvPr/>
        </p:nvSpPr>
        <p:spPr>
          <a:xfrm>
            <a:off x="6096000" y="1280160"/>
            <a:ext cx="2590800" cy="219456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pic>
        <p:nvPicPr>
          <p:cNvPr id="15" name="Image 2" descr="preencoded.png">    </p:cNvPr>
          <p:cNvPicPr>
            <a:picLocks noChangeAspect="1"/>
          </p:cNvPicPr>
          <p:nvPr/>
        </p:nvPicPr>
        <p:blipFill>
          <a:blip r:embed="rId3"/>
          <a:stretch>
            <a:fillRect/>
          </a:stretch>
        </p:blipFill>
        <p:spPr>
          <a:xfrm>
            <a:off x="7117080" y="1508760"/>
            <a:ext cx="548640" cy="548640"/>
          </a:xfrm>
          <a:prstGeom prst="rect">
            <a:avLst/>
          </a:prstGeom>
        </p:spPr>
      </p:pic>
      <p:sp>
        <p:nvSpPr>
          <p:cNvPr id="16" name="Text 11"/>
          <p:cNvSpPr/>
          <p:nvPr/>
        </p:nvSpPr>
        <p:spPr>
          <a:xfrm>
            <a:off x="6096000" y="224028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Resistance</a:t>
            </a:r>
            <a:endParaRPr lang="en-US" sz="1700" dirty="0"/>
          </a:p>
        </p:txBody>
      </p:sp>
      <p:sp>
        <p:nvSpPr>
          <p:cNvPr id="17" name="Text 12"/>
          <p:cNvSpPr/>
          <p:nvPr/>
        </p:nvSpPr>
        <p:spPr>
          <a:xfrm>
            <a:off x="6233160" y="2743200"/>
            <a:ext cx="2316480" cy="5943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Power off, component disconnected from the rest of the circuit.</a:t>
            </a:r>
            <a:endParaRPr lang="en-US" sz="1200" dirty="0"/>
          </a:p>
        </p:txBody>
      </p:sp>
      <p:sp>
        <p:nvSpPr>
          <p:cNvPr id="18" name="Shape 13"/>
          <p:cNvSpPr/>
          <p:nvPr/>
        </p:nvSpPr>
        <p:spPr>
          <a:xfrm>
            <a:off x="457200" y="3657600"/>
            <a:ext cx="8229600" cy="868680"/>
          </a:xfrm>
          <a:prstGeom prst="rect">
            <a:avLst/>
          </a:prstGeom>
          <a:solidFill>
            <a:srgbClr val="253270"/>
          </a:solidFill>
          <a:ln w="12700">
            <a:solidFill>
              <a:srgbClr val="FF5252"/>
            </a:solidFill>
            <a:prstDash val="solid"/>
          </a:ln>
        </p:spPr>
      </p:sp>
      <p:sp>
        <p:nvSpPr>
          <p:cNvPr id="19" name="Shape 14"/>
          <p:cNvSpPr/>
          <p:nvPr/>
        </p:nvSpPr>
        <p:spPr>
          <a:xfrm>
            <a:off x="457200" y="3657600"/>
            <a:ext cx="64008" cy="868680"/>
          </a:xfrm>
          <a:prstGeom prst="rect">
            <a:avLst/>
          </a:prstGeom>
          <a:solidFill>
            <a:srgbClr val="FF5252"/>
          </a:solidFill>
          <a:ln/>
        </p:spPr>
      </p:sp>
      <p:sp>
        <p:nvSpPr>
          <p:cNvPr id="20" name="Text 15"/>
          <p:cNvSpPr/>
          <p:nvPr/>
        </p:nvSpPr>
        <p:spPr>
          <a:xfrm>
            <a:off x="685800" y="3730752"/>
            <a:ext cx="7863840" cy="274320"/>
          </a:xfrm>
          <a:prstGeom prst="rect">
            <a:avLst/>
          </a:prstGeom>
          <a:noFill/>
          <a:ln/>
        </p:spPr>
        <p:txBody>
          <a:bodyPr wrap="square" lIns="0" tIns="0" rIns="0" bIns="0" rtlCol="0" anchor="ctr"/>
          <a:lstStyle/>
          <a:p>
            <a:pPr indent="0" marL="0">
              <a:buNone/>
            </a:pPr>
            <a:r>
              <a:rPr lang="en-US" sz="1300" b="1" dirty="0">
                <a:solidFill>
                  <a:srgbClr val="FF5252"/>
                </a:solidFill>
                <a:latin typeface="Trebuchet MS" pitchFamily="34" charset="0"/>
                <a:ea typeface="Trebuchet MS" pitchFamily="34" charset="-122"/>
                <a:cs typeface="Trebuchet MS" pitchFamily="34" charset="-120"/>
              </a:rPr>
              <a:t>The classic way to blow the meter fuse</a:t>
            </a:r>
            <a:endParaRPr lang="en-US" sz="1300" dirty="0"/>
          </a:p>
        </p:txBody>
      </p:sp>
      <p:sp>
        <p:nvSpPr>
          <p:cNvPr id="21" name="Text 16"/>
          <p:cNvSpPr/>
          <p:nvPr/>
        </p:nvSpPr>
        <p:spPr>
          <a:xfrm>
            <a:off x="685800" y="4005072"/>
            <a:ext cx="7863840" cy="4572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Meter in current mode, connected across a voltage source. Check the mode and the socket before you connect.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Ohm's Law on the Bench</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17</a:t>
            </a:r>
            <a:endParaRPr lang="en-US" sz="900" dirty="0"/>
          </a:p>
        </p:txBody>
      </p:sp>
      <p:sp>
        <p:nvSpPr>
          <p:cNvPr id="6" name="Text 4"/>
          <p:cNvSpPr/>
          <p:nvPr/>
        </p:nvSpPr>
        <p:spPr>
          <a:xfrm>
            <a:off x="457200" y="1051560"/>
            <a:ext cx="8229600" cy="237744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Part A - demonstration: one bench supply, one resistor, voltage swept slowly</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You see a continuous relationship: double the voltage, double the current</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Part B - your turn: your board is the voltage source, 3.3 V pin and 5 V pin</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1 kohm on the breadboard, meter in series, record the current at each</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Then calculate R = V / I and compare against 1000 ohm</a:t>
            </a:r>
            <a:endParaRPr lang="en-US" sz="1500" dirty="0"/>
          </a:p>
        </p:txBody>
      </p:sp>
      <p:sp>
        <p:nvSpPr>
          <p:cNvPr id="7" name="Shape 5"/>
          <p:cNvSpPr/>
          <p:nvPr/>
        </p:nvSpPr>
        <p:spPr>
          <a:xfrm>
            <a:off x="457200" y="3749040"/>
            <a:ext cx="8229600" cy="822960"/>
          </a:xfrm>
          <a:prstGeom prst="rect">
            <a:avLst/>
          </a:prstGeom>
          <a:solidFill>
            <a:srgbClr val="253270"/>
          </a:solidFill>
          <a:ln w="12700">
            <a:solidFill>
              <a:srgbClr val="FFB300"/>
            </a:solidFill>
            <a:prstDash val="solid"/>
          </a:ln>
        </p:spPr>
      </p:sp>
      <p:sp>
        <p:nvSpPr>
          <p:cNvPr id="8" name="Shape 6"/>
          <p:cNvSpPr/>
          <p:nvPr/>
        </p:nvSpPr>
        <p:spPr>
          <a:xfrm>
            <a:off x="457200" y="3749040"/>
            <a:ext cx="64008" cy="822960"/>
          </a:xfrm>
          <a:prstGeom prst="rect">
            <a:avLst/>
          </a:prstGeom>
          <a:solidFill>
            <a:srgbClr val="FFB300"/>
          </a:solidFill>
          <a:ln/>
        </p:spPr>
      </p:sp>
      <p:sp>
        <p:nvSpPr>
          <p:cNvPr id="9" name="Text 7"/>
          <p:cNvSpPr/>
          <p:nvPr/>
        </p:nvSpPr>
        <p:spPr>
          <a:xfrm>
            <a:off x="685800" y="382219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It will not be exactly 1000 ohm</a:t>
            </a:r>
            <a:endParaRPr lang="en-US" sz="1300" dirty="0"/>
          </a:p>
        </p:txBody>
      </p:sp>
      <p:sp>
        <p:nvSpPr>
          <p:cNvPr id="10" name="Text 8"/>
          <p:cNvSpPr/>
          <p:nvPr/>
        </p:nvSpPr>
        <p:spPr>
          <a:xfrm>
            <a:off x="685800" y="4096512"/>
            <a:ext cx="7863840" cy="4114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Resistors have a tolerance, commonly 5 percent, and your meter has its own error. This is the first place measuring beats assuming.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Soldering: Watch Today, Solder Friday</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457200" y="1051560"/>
            <a:ext cx="8229600" cy="201168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Three soldering stations plus the instructor's own irons</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Temperature control, and what flux actually does</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A good joint versus a cold joint versus a bridge</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The most common real task: header pins onto a board like the Super Mini</a:t>
            </a:r>
            <a:endParaRPr lang="en-US" sz="1500" dirty="0"/>
          </a:p>
        </p:txBody>
      </p:sp>
      <p:sp>
        <p:nvSpPr>
          <p:cNvPr id="7" name="Shape 5"/>
          <p:cNvSpPr/>
          <p:nvPr/>
        </p:nvSpPr>
        <p:spPr>
          <a:xfrm>
            <a:off x="457200" y="3291840"/>
            <a:ext cx="8229600" cy="1005840"/>
          </a:xfrm>
          <a:prstGeom prst="rect">
            <a:avLst/>
          </a:prstGeom>
          <a:solidFill>
            <a:srgbClr val="253270"/>
          </a:solidFill>
          <a:ln w="12700">
            <a:solidFill>
              <a:srgbClr val="FF5252"/>
            </a:solidFill>
            <a:prstDash val="solid"/>
          </a:ln>
        </p:spPr>
      </p:sp>
      <p:sp>
        <p:nvSpPr>
          <p:cNvPr id="8" name="Shape 6"/>
          <p:cNvSpPr/>
          <p:nvPr/>
        </p:nvSpPr>
        <p:spPr>
          <a:xfrm>
            <a:off x="457200" y="3291840"/>
            <a:ext cx="64008" cy="1005840"/>
          </a:xfrm>
          <a:prstGeom prst="rect">
            <a:avLst/>
          </a:prstGeom>
          <a:solidFill>
            <a:srgbClr val="FF5252"/>
          </a:solidFill>
          <a:ln/>
        </p:spPr>
      </p:sp>
      <p:sp>
        <p:nvSpPr>
          <p:cNvPr id="9" name="Text 7"/>
          <p:cNvSpPr/>
          <p:nvPr/>
        </p:nvSpPr>
        <p:spPr>
          <a:xfrm>
            <a:off x="685800" y="3364992"/>
            <a:ext cx="7863840" cy="274320"/>
          </a:xfrm>
          <a:prstGeom prst="rect">
            <a:avLst/>
          </a:prstGeom>
          <a:noFill/>
          <a:ln/>
        </p:spPr>
        <p:txBody>
          <a:bodyPr wrap="square" lIns="0" tIns="0" rIns="0" bIns="0" rtlCol="0" anchor="ctr"/>
          <a:lstStyle/>
          <a:p>
            <a:pPr indent="0" marL="0">
              <a:buNone/>
            </a:pPr>
            <a:r>
              <a:rPr lang="en-US" sz="1300" b="1" dirty="0">
                <a:solidFill>
                  <a:srgbClr val="FF5252"/>
                </a:solidFill>
                <a:latin typeface="Trebuchet MS" pitchFamily="34" charset="0"/>
                <a:ea typeface="Trebuchet MS" pitchFamily="34" charset="-122"/>
                <a:cs typeface="Trebuchet MS" pitchFamily="34" charset="-120"/>
              </a:rPr>
              <a:t>Safety</a:t>
            </a:r>
            <a:endParaRPr lang="en-US" sz="1300" dirty="0"/>
          </a:p>
        </p:txBody>
      </p:sp>
      <p:sp>
        <p:nvSpPr>
          <p:cNvPr id="10" name="Text 8"/>
          <p:cNvSpPr/>
          <p:nvPr/>
        </p:nvSpPr>
        <p:spPr>
          <a:xfrm>
            <a:off x="685800" y="3639312"/>
            <a:ext cx="7863840" cy="5943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The tip burns instantly and stays hot long after switch off. The iron lives in its holder, never on the bench. Work in ventilated space, do not lean over the fumes, wash hands afterwards.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Summary</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03  |  Electrical Fundamentals</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457200" y="1051560"/>
            <a:ext cx="8229600" cy="256032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Voltage, current and resistance, and the pipe they behave like</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Ohm's law as the tool for choosing a resistor</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Resistors, LEDs, pull-ups, capacitors and inductors</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What a GPIO pin can drive, and why GPIO 8 and 9 are special</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Multimeter: parallel for voltage, series for current, power off for resistance</a:t>
            </a:r>
            <a:endParaRPr lang="en-US" sz="1500" dirty="0"/>
          </a:p>
        </p:txBody>
      </p:sp>
      <p:sp>
        <p:nvSpPr>
          <p:cNvPr id="7" name="Shape 5"/>
          <p:cNvSpPr/>
          <p:nvPr/>
        </p:nvSpPr>
        <p:spPr>
          <a:xfrm>
            <a:off x="457200" y="3794760"/>
            <a:ext cx="8229600" cy="822960"/>
          </a:xfrm>
          <a:prstGeom prst="rect">
            <a:avLst/>
          </a:prstGeom>
          <a:solidFill>
            <a:srgbClr val="253270"/>
          </a:solidFill>
          <a:ln w="12700">
            <a:solidFill>
              <a:srgbClr val="FFB300"/>
            </a:solidFill>
            <a:prstDash val="solid"/>
          </a:ln>
        </p:spPr>
      </p:sp>
      <p:sp>
        <p:nvSpPr>
          <p:cNvPr id="8" name="Shape 6"/>
          <p:cNvSpPr/>
          <p:nvPr/>
        </p:nvSpPr>
        <p:spPr>
          <a:xfrm>
            <a:off x="457200" y="3794760"/>
            <a:ext cx="64008" cy="822960"/>
          </a:xfrm>
          <a:prstGeom prst="rect">
            <a:avLst/>
          </a:prstGeom>
          <a:solidFill>
            <a:srgbClr val="FFB300"/>
          </a:solidFill>
          <a:ln/>
        </p:spPr>
      </p:sp>
      <p:sp>
        <p:nvSpPr>
          <p:cNvPr id="9" name="Text 7"/>
          <p:cNvSpPr/>
          <p:nvPr/>
        </p:nvSpPr>
        <p:spPr>
          <a:xfrm>
            <a:off x="685800" y="386791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Homework</a:t>
            </a:r>
            <a:endParaRPr lang="en-US" sz="1300" dirty="0"/>
          </a:p>
        </p:txBody>
      </p:sp>
      <p:sp>
        <p:nvSpPr>
          <p:cNvPr id="10" name="Text 8"/>
          <p:cNvSpPr/>
          <p:nvPr/>
        </p:nvSpPr>
        <p:spPr>
          <a:xfrm>
            <a:off x="685800" y="4142232"/>
            <a:ext cx="7863840" cy="4114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Five problems on Ohm's law, resistor selection and power. Paper and a calculator, no hardware. See homework/README.md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03 - Electrical Fundamentals</dc:title>
  <dc:subject>PptxGenJS Presentation</dc:subject>
  <dc:creator>Embedded Software Development in C/C++</dc:creator>
  <cp:lastModifiedBy>Embedded Software Development in C/C++</cp:lastModifiedBy>
  <cp:revision>1</cp:revision>
  <dcterms:created xsi:type="dcterms:W3CDTF">2026-09-07T12:01:49Z</dcterms:created>
  <dcterms:modified xsi:type="dcterms:W3CDTF">2026-09-07T12:01:49Z</dcterms:modified>
</cp:coreProperties>
</file>