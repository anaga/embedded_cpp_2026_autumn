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session on the Pico. The toolchain was homework, so tonight starts with a short check, then soldering, then buses. Porting the K3 classes is deliberately not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 timing: homework check 10 min, soldering 40, three buses 20, UART theory 30, chat lab 20, protocol lab 50, summary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round the table: one sentence each from pico-setup.md. Problems that more than one person hit go into the homework README for the next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stations plus personal irons, four students: two can start at once, the others place headers and check alignment meanwhile. The first two corner pins decide whether the board ends up flat. Do not hold the iron on the breadboard plastic.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continuity method as session 4. A bridge between 3V3 and GND would short the regulator, so the check comes before USB,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go deep on I2C and SPI tonight; the table is the map for the next two sessions. Point at the Clock row: UART is the only one without a clock wire, which is why both sides must agree on the speed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GND for the UART wire is physical pin 3, right next to GP0 and GP1. Everything on this map can be wired at the same time - no pin is used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waveform with them bit by bit. Ask: how does the receiver know where d0 starts? Answer: it sees the falling edge of the start bit and then counts bit times from its own clock. That is why both sides must agree on the baud rate. Session 15 shows exactly this frame on the logic analyzer.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 115200 = 8.68 us. 10 bits per byte because start and stop are overhead: 20 percent of the line is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idea as on the ESP32-C3: what the course called Serial so far was USB all along. Tonight is the first time a real UART pin carries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pins 1, 2, 3 are next to each other on both boards, so three short jumpers do it. If a pair cannot reach, use the two breadboards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send_on_enter the monitor sends every key as you press it; without echo you type blind. monitor_eol defaults to CRLF, so the partner receives text followed by \r\n. The protocol stage has to deal with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pairs. Step 5 answer: each wire carries one direction only - UART is two independent one-way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argue before the next slide. All three are real: GPS modules stream NMEA, I2C sensors are polled, actuators take commands. We pick Poll: the LED board needs the data, so it decides when to ask - and session 13 works exactly like this, with the I2C bus enforcing the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one board is master, one is slave, then swap roles. A reply is about 10 bytes, under 1 ms at 115200, so 200 ms is a generous timeout. The master never sends a new POT? while it is still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Pins 31, 33 and 36 sit together near the bottom of the right-hand header. AGND is the ADC's own ground reference; any GND works, AGND is the clean choice. If the value runs backwards, swap the two outer wires.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function on both boards; both read Serial1. Stream&amp; works for Serial, Serial1 and Serial2 - all derive from Stream. Homework hint for later: one board with two UARTs needs two buffers, which is a good reason for a small LineReader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enum class MasterState { Idle, Waiting } and a switch, exactly as in K3. The blink runs independently of both states, driven by millis(). Discussion: should one missed reply already switch the LED off, or three in a row? Real links (an RC transmitter, for example) count several misses before they declare failsafe.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leaves with a soldered, tested board. Session 13 adds the OPT4001 light sensor on I2C (GP4 / GP5) - the same master/slave idea, this time enforced by the 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ADCFC"/>
          </a:solidFill>
          <a:ln/>
        </p:spPr>
      </p:sp>
      <p:sp>
        <p:nvSpPr>
          <p:cNvPr id="3" name="Shape 1"/>
          <p:cNvSpPr/>
          <p:nvPr/>
        </p:nvSpPr>
        <p:spPr>
          <a:xfrm>
            <a:off x="0" y="5088636"/>
            <a:ext cx="9144000" cy="54864"/>
          </a:xfrm>
          <a:prstGeom prst="rect">
            <a:avLst/>
          </a:prstGeom>
          <a:solidFill>
            <a:srgbClr val="CADCFC"/>
          </a:solidFill>
          <a:ln/>
        </p:spPr>
      </p:sp>
      <p:pic>
        <p:nvPicPr>
          <p:cNvPr id="4" name="Image 0" descr="preencoded.png">    </p:cNvPr>
          <p:cNvPicPr>
            <a:picLocks noChangeAspect="1"/>
          </p:cNvPicPr>
          <p:nvPr/>
        </p:nvPicPr>
        <p:blipFill>
          <a:blip r:embed="rId1"/>
          <a:stretch>
            <a:fillRect/>
          </a:stretch>
        </p:blipFill>
        <p:spPr>
          <a:xfrm>
            <a:off x="4114800" y="640080"/>
            <a:ext cx="914400" cy="914400"/>
          </a:xfrm>
          <a:prstGeom prst="rect">
            <a:avLst/>
          </a:prstGeom>
        </p:spPr>
      </p:pic>
      <p:sp>
        <p:nvSpPr>
          <p:cNvPr id="5" name="Text 2"/>
          <p:cNvSpPr/>
          <p:nvPr/>
        </p:nvSpPr>
        <p:spPr>
          <a:xfrm>
            <a:off x="457200" y="1691640"/>
            <a:ext cx="8229600" cy="365760"/>
          </a:xfrm>
          <a:prstGeom prst="rect">
            <a:avLst/>
          </a:prstGeom>
          <a:noFill/>
          <a:ln/>
        </p:spPr>
        <p:txBody>
          <a:bodyPr wrap="square" lIns="0" tIns="0" rIns="0" bIns="0" rtlCol="0" anchor="ctr"/>
          <a:lstStyle/>
          <a:p>
            <a:pPr algn="ctr" indent="0" marL="0">
              <a:buNone/>
            </a:pPr>
            <a:r>
              <a:rPr lang="en-US" sz="1300" b="1" spc="200" kern="0" dirty="0">
                <a:solidFill>
                  <a:srgbClr val="8892B0"/>
                </a:solidFill>
                <a:latin typeface="Calibri" pitchFamily="34" charset="0"/>
                <a:ea typeface="Calibri" pitchFamily="34" charset="-122"/>
                <a:cs typeface="Calibri" pitchFamily="34" charset="-120"/>
              </a:rPr>
              <a:t>LESSON 12</a:t>
            </a:r>
            <a:endParaRPr lang="en-US" sz="1300" dirty="0"/>
          </a:p>
        </p:txBody>
      </p:sp>
      <p:sp>
        <p:nvSpPr>
          <p:cNvPr id="6" name="Text 3"/>
          <p:cNvSpPr/>
          <p:nvPr/>
        </p:nvSpPr>
        <p:spPr>
          <a:xfrm>
            <a:off x="457200" y="2011680"/>
            <a:ext cx="822960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Trebuchet MS" pitchFamily="34" charset="0"/>
                <a:ea typeface="Trebuchet MS" pitchFamily="34" charset="-122"/>
                <a:cs typeface="Trebuchet MS" pitchFamily="34" charset="-120"/>
              </a:rPr>
              <a:t>UART on the Pico</a:t>
            </a:r>
            <a:endParaRPr lang="en-US" sz="4000" dirty="0"/>
          </a:p>
        </p:txBody>
      </p:sp>
      <p:sp>
        <p:nvSpPr>
          <p:cNvPr id="7" name="Shape 4"/>
          <p:cNvSpPr/>
          <p:nvPr/>
        </p:nvSpPr>
        <p:spPr>
          <a:xfrm>
            <a:off x="3200400" y="2926080"/>
            <a:ext cx="2743200" cy="27432"/>
          </a:xfrm>
          <a:prstGeom prst="rect">
            <a:avLst/>
          </a:prstGeom>
          <a:solidFill>
            <a:srgbClr val="3A4A8A"/>
          </a:solidFill>
          <a:ln/>
        </p:spPr>
      </p:sp>
      <p:sp>
        <p:nvSpPr>
          <p:cNvPr id="8" name="Text 5"/>
          <p:cNvSpPr/>
          <p:nvPr/>
        </p:nvSpPr>
        <p:spPr>
          <a:xfrm>
            <a:off x="457200" y="3108960"/>
            <a:ext cx="8229600" cy="457200"/>
          </a:xfrm>
          <a:prstGeom prst="rect">
            <a:avLst/>
          </a:prstGeom>
          <a:noFill/>
          <a:ln/>
        </p:spPr>
        <p:txBody>
          <a:bodyPr wrap="square" lIns="0" tIns="0" rIns="0" bIns="0" rtlCol="0" anchor="ctr"/>
          <a:lstStyle/>
          <a:p>
            <a:pPr algn="ctr" indent="0" marL="0">
              <a:buNone/>
            </a:pPr>
            <a:r>
              <a:rPr lang="en-US" sz="1600" dirty="0">
                <a:solidFill>
                  <a:srgbClr val="CADCFC"/>
                </a:solidFill>
                <a:latin typeface="Trebuchet MS" pitchFamily="34" charset="0"/>
                <a:ea typeface="Trebuchet MS" pitchFamily="34" charset="-122"/>
                <a:cs typeface="Trebuchet MS" pitchFamily="34" charset="-120"/>
              </a:rPr>
              <a:t>Solder the headers, compare three buses, make two boards talk</a:t>
            </a:r>
            <a:endParaRPr lang="en-US" sz="1600" dirty="0"/>
          </a:p>
        </p:txBody>
      </p:sp>
      <p:sp>
        <p:nvSpPr>
          <p:cNvPr id="9" name="Text 6"/>
          <p:cNvSpPr/>
          <p:nvPr/>
        </p:nvSpPr>
        <p:spPr>
          <a:xfrm>
            <a:off x="457200" y="3611880"/>
            <a:ext cx="8229600" cy="365760"/>
          </a:xfrm>
          <a:prstGeom prst="rect">
            <a:avLst/>
          </a:prstGeom>
          <a:noFill/>
          <a:ln/>
        </p:spPr>
        <p:txBody>
          <a:bodyPr wrap="square" rtlCol="0" anchor="ctr"/>
          <a:lstStyle/>
          <a:p>
            <a:pPr algn="ctr" indent="0" marL="0">
              <a:buNone/>
            </a:pPr>
            <a:r>
              <a:rPr lang="en-US" sz="1300" dirty="0">
                <a:solidFill>
                  <a:srgbClr val="8892B0"/>
                </a:solidFill>
                <a:latin typeface="Calibri" pitchFamily="34" charset="0"/>
                <a:ea typeface="Calibri" pitchFamily="34" charset="-122"/>
                <a:cs typeface="Calibri" pitchFamily="34" charset="-120"/>
              </a:rPr>
              <a:t>Embedded Software Development in C/C++</a:t>
            </a:r>
            <a:endParaRPr lang="en-US" sz="1300" dirty="0"/>
          </a:p>
        </p:txBody>
      </p:sp>
      <p:sp>
        <p:nvSpPr>
          <p:cNvPr id="10" name="Text 7"/>
          <p:cNvSpPr/>
          <p:nvPr/>
        </p:nvSpPr>
        <p:spPr>
          <a:xfrm>
            <a:off x="457200" y="4023360"/>
            <a:ext cx="8229600" cy="365760"/>
          </a:xfrm>
          <a:prstGeom prst="rect">
            <a:avLst/>
          </a:prstGeom>
          <a:noFill/>
          <a:ln/>
        </p:spPr>
        <p:txBody>
          <a:bodyPr wrap="square" rtlCol="0" anchor="ctr"/>
          <a:lstStyle/>
          <a:p>
            <a:pPr algn="ctr" indent="0" marL="0">
              <a:buNone/>
            </a:pPr>
            <a:r>
              <a:rPr lang="en-US" sz="1100" dirty="0">
                <a:solidFill>
                  <a:srgbClr val="3A4A8A"/>
                </a:solidFill>
                <a:latin typeface="Calibri" pitchFamily="34" charset="0"/>
                <a:ea typeface="Calibri" pitchFamily="34" charset="-122"/>
                <a:cs typeface="Calibri" pitchFamily="34" charset="-120"/>
              </a:rPr>
              <a:t>Raspberry Pi Pico (RP2040)  |  Arduino-Pico core  |  2026-10-07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Tonight</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1143000" y="1783080"/>
            <a:ext cx="6858000" cy="0"/>
          </a:xfrm>
          <a:prstGeom prst="line">
            <a:avLst/>
          </a:prstGeom>
          <a:noFill/>
          <a:ln w="25400">
            <a:solidFill>
              <a:srgbClr val="3A4A8A"/>
            </a:solidFill>
            <a:prstDash val="solid"/>
          </a:ln>
        </p:spPr>
      </p:sp>
      <p:sp>
        <p:nvSpPr>
          <p:cNvPr id="7" name="Shape 5"/>
          <p:cNvSpPr/>
          <p:nvPr/>
        </p:nvSpPr>
        <p:spPr>
          <a:xfrm>
            <a:off x="822960" y="1463040"/>
            <a:ext cx="640080" cy="640080"/>
          </a:xfrm>
          <a:prstGeom prst="ellipse">
            <a:avLst/>
          </a:prstGeom>
          <a:solidFill>
            <a:srgbClr val="253270"/>
          </a:solidFill>
          <a:ln w="25400">
            <a:solidFill>
              <a:srgbClr val="CADCFC"/>
            </a:solidFill>
            <a:prstDash val="solid"/>
          </a:ln>
        </p:spPr>
      </p:sp>
      <p:sp>
        <p:nvSpPr>
          <p:cNvPr id="8" name="Text 6"/>
          <p:cNvSpPr/>
          <p:nvPr/>
        </p:nvSpPr>
        <p:spPr>
          <a:xfrm>
            <a:off x="82296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9" name="Text 7"/>
          <p:cNvSpPr/>
          <p:nvPr/>
        </p:nvSpPr>
        <p:spPr>
          <a:xfrm>
            <a:off x="5029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Homework check</a:t>
            </a:r>
            <a:endParaRPr lang="en-US" sz="1400" dirty="0"/>
          </a:p>
        </p:txBody>
      </p:sp>
      <p:sp>
        <p:nvSpPr>
          <p:cNvPr id="10" name="Shape 8"/>
          <p:cNvSpPr/>
          <p:nvPr/>
        </p:nvSpPr>
        <p:spPr>
          <a:xfrm>
            <a:off x="2194560" y="1463040"/>
            <a:ext cx="640080" cy="640080"/>
          </a:xfrm>
          <a:prstGeom prst="ellipse">
            <a:avLst/>
          </a:prstGeom>
          <a:solidFill>
            <a:srgbClr val="253270"/>
          </a:solidFill>
          <a:ln w="25400">
            <a:solidFill>
              <a:srgbClr val="CADCFC"/>
            </a:solidFill>
            <a:prstDash val="solid"/>
          </a:ln>
        </p:spPr>
      </p:sp>
      <p:sp>
        <p:nvSpPr>
          <p:cNvPr id="11" name="Text 9"/>
          <p:cNvSpPr/>
          <p:nvPr/>
        </p:nvSpPr>
        <p:spPr>
          <a:xfrm>
            <a:off x="219456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2" name="Text 10"/>
          <p:cNvSpPr/>
          <p:nvPr/>
        </p:nvSpPr>
        <p:spPr>
          <a:xfrm>
            <a:off x="18745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Solder headers</a:t>
            </a:r>
            <a:endParaRPr lang="en-US" sz="1400" dirty="0"/>
          </a:p>
        </p:txBody>
      </p:sp>
      <p:sp>
        <p:nvSpPr>
          <p:cNvPr id="13" name="Shape 11"/>
          <p:cNvSpPr/>
          <p:nvPr/>
        </p:nvSpPr>
        <p:spPr>
          <a:xfrm>
            <a:off x="3566160" y="1463040"/>
            <a:ext cx="640080" cy="640080"/>
          </a:xfrm>
          <a:prstGeom prst="ellipse">
            <a:avLst/>
          </a:prstGeom>
          <a:solidFill>
            <a:srgbClr val="253270"/>
          </a:solidFill>
          <a:ln w="25400">
            <a:solidFill>
              <a:srgbClr val="CADCFC"/>
            </a:solidFill>
            <a:prstDash val="solid"/>
          </a:ln>
        </p:spPr>
      </p:sp>
      <p:sp>
        <p:nvSpPr>
          <p:cNvPr id="14" name="Text 12"/>
          <p:cNvSpPr/>
          <p:nvPr/>
        </p:nvSpPr>
        <p:spPr>
          <a:xfrm>
            <a:off x="356616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15" name="Text 13"/>
          <p:cNvSpPr/>
          <p:nvPr/>
        </p:nvSpPr>
        <p:spPr>
          <a:xfrm>
            <a:off x="32461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Three buses</a:t>
            </a:r>
            <a:endParaRPr lang="en-US" sz="1400" dirty="0"/>
          </a:p>
        </p:txBody>
      </p:sp>
      <p:sp>
        <p:nvSpPr>
          <p:cNvPr id="16" name="Shape 14"/>
          <p:cNvSpPr/>
          <p:nvPr/>
        </p:nvSpPr>
        <p:spPr>
          <a:xfrm>
            <a:off x="4937760" y="1463040"/>
            <a:ext cx="640080" cy="640080"/>
          </a:xfrm>
          <a:prstGeom prst="ellipse">
            <a:avLst/>
          </a:prstGeom>
          <a:solidFill>
            <a:srgbClr val="253270"/>
          </a:solidFill>
          <a:ln w="25400">
            <a:solidFill>
              <a:srgbClr val="CADCFC"/>
            </a:solidFill>
            <a:prstDash val="solid"/>
          </a:ln>
        </p:spPr>
      </p:sp>
      <p:sp>
        <p:nvSpPr>
          <p:cNvPr id="17" name="Text 15"/>
          <p:cNvSpPr/>
          <p:nvPr/>
        </p:nvSpPr>
        <p:spPr>
          <a:xfrm>
            <a:off x="493776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18" name="Text 16"/>
          <p:cNvSpPr/>
          <p:nvPr/>
        </p:nvSpPr>
        <p:spPr>
          <a:xfrm>
            <a:off x="46177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UART</a:t>
            </a:r>
            <a:endParaRPr lang="en-US" sz="1400" dirty="0"/>
          </a:p>
        </p:txBody>
      </p:sp>
      <p:sp>
        <p:nvSpPr>
          <p:cNvPr id="19" name="Shape 17"/>
          <p:cNvSpPr/>
          <p:nvPr/>
        </p:nvSpPr>
        <p:spPr>
          <a:xfrm>
            <a:off x="6309360" y="1463040"/>
            <a:ext cx="640080" cy="640080"/>
          </a:xfrm>
          <a:prstGeom prst="ellipse">
            <a:avLst/>
          </a:prstGeom>
          <a:solidFill>
            <a:srgbClr val="FFB300"/>
          </a:solidFill>
          <a:ln w="25400">
            <a:solidFill>
              <a:srgbClr val="FFB300"/>
            </a:solidFill>
            <a:prstDash val="solid"/>
          </a:ln>
        </p:spPr>
      </p:sp>
      <p:sp>
        <p:nvSpPr>
          <p:cNvPr id="20" name="Text 18"/>
          <p:cNvSpPr/>
          <p:nvPr/>
        </p:nvSpPr>
        <p:spPr>
          <a:xfrm>
            <a:off x="6309360" y="1463040"/>
            <a:ext cx="640080" cy="640080"/>
          </a:xfrm>
          <a:prstGeom prst="rect">
            <a:avLst/>
          </a:prstGeom>
          <a:noFill/>
          <a:ln/>
        </p:spPr>
        <p:txBody>
          <a:bodyPr wrap="square" lIns="0" tIns="0" rIns="0" bIns="0" rtlCol="0" anchor="ctr"/>
          <a:lstStyle/>
          <a:p>
            <a:pPr algn="ctr" indent="0" marL="0">
              <a:buNone/>
            </a:pPr>
            <a:r>
              <a:rPr lang="en-US" sz="2000" b="1" dirty="0">
                <a:solidFill>
                  <a:srgbClr val="141B3D"/>
                </a:solidFill>
                <a:latin typeface="Trebuchet MS" pitchFamily="34" charset="0"/>
                <a:ea typeface="Trebuchet MS" pitchFamily="34" charset="-122"/>
                <a:cs typeface="Trebuchet MS" pitchFamily="34" charset="-120"/>
              </a:rPr>
              <a:t>5</a:t>
            </a:r>
            <a:endParaRPr lang="en-US" sz="2000" dirty="0"/>
          </a:p>
        </p:txBody>
      </p:sp>
      <p:sp>
        <p:nvSpPr>
          <p:cNvPr id="21" name="Text 19"/>
          <p:cNvSpPr/>
          <p:nvPr/>
        </p:nvSpPr>
        <p:spPr>
          <a:xfrm>
            <a:off x="59893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Lab: chat</a:t>
            </a:r>
            <a:endParaRPr lang="en-US" sz="1400" dirty="0"/>
          </a:p>
        </p:txBody>
      </p:sp>
      <p:sp>
        <p:nvSpPr>
          <p:cNvPr id="22" name="Shape 20"/>
          <p:cNvSpPr/>
          <p:nvPr/>
        </p:nvSpPr>
        <p:spPr>
          <a:xfrm>
            <a:off x="7680960" y="1463040"/>
            <a:ext cx="640080" cy="640080"/>
          </a:xfrm>
          <a:prstGeom prst="ellipse">
            <a:avLst/>
          </a:prstGeom>
          <a:solidFill>
            <a:srgbClr val="FFB300"/>
          </a:solidFill>
          <a:ln w="25400">
            <a:solidFill>
              <a:srgbClr val="FFB300"/>
            </a:solidFill>
            <a:prstDash val="solid"/>
          </a:ln>
        </p:spPr>
      </p:sp>
      <p:sp>
        <p:nvSpPr>
          <p:cNvPr id="23" name="Text 21"/>
          <p:cNvSpPr/>
          <p:nvPr/>
        </p:nvSpPr>
        <p:spPr>
          <a:xfrm>
            <a:off x="7680960" y="1463040"/>
            <a:ext cx="640080" cy="640080"/>
          </a:xfrm>
          <a:prstGeom prst="rect">
            <a:avLst/>
          </a:prstGeom>
          <a:noFill/>
          <a:ln/>
        </p:spPr>
        <p:txBody>
          <a:bodyPr wrap="square" lIns="0" tIns="0" rIns="0" bIns="0" rtlCol="0" anchor="ctr"/>
          <a:lstStyle/>
          <a:p>
            <a:pPr algn="ctr" indent="0" marL="0">
              <a:buNone/>
            </a:pPr>
            <a:r>
              <a:rPr lang="en-US" sz="2000" b="1" dirty="0">
                <a:solidFill>
                  <a:srgbClr val="141B3D"/>
                </a:solidFill>
                <a:latin typeface="Trebuchet MS" pitchFamily="34" charset="0"/>
                <a:ea typeface="Trebuchet MS" pitchFamily="34" charset="-122"/>
                <a:cs typeface="Trebuchet MS" pitchFamily="34" charset="-120"/>
              </a:rPr>
              <a:t>6</a:t>
            </a:r>
            <a:endParaRPr lang="en-US" sz="2000" dirty="0"/>
          </a:p>
        </p:txBody>
      </p:sp>
      <p:sp>
        <p:nvSpPr>
          <p:cNvPr id="24" name="Text 22"/>
          <p:cNvSpPr/>
          <p:nvPr/>
        </p:nvSpPr>
        <p:spPr>
          <a:xfrm>
            <a:off x="7360920" y="2240280"/>
            <a:ext cx="1280160" cy="5486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Lab: pot -&gt; blink</a:t>
            </a:r>
            <a:endParaRPr lang="en-US" sz="1400" dirty="0"/>
          </a:p>
        </p:txBody>
      </p:sp>
      <p:sp>
        <p:nvSpPr>
          <p:cNvPr id="25" name="Shape 23"/>
          <p:cNvSpPr/>
          <p:nvPr/>
        </p:nvSpPr>
        <p:spPr>
          <a:xfrm>
            <a:off x="457200" y="3291840"/>
            <a:ext cx="8229600" cy="822960"/>
          </a:xfrm>
          <a:prstGeom prst="rect">
            <a:avLst/>
          </a:prstGeom>
          <a:solidFill>
            <a:srgbClr val="253270"/>
          </a:solidFill>
          <a:ln w="12700">
            <a:solidFill>
              <a:srgbClr val="CADCFC"/>
            </a:solidFill>
            <a:prstDash val="solid"/>
          </a:ln>
        </p:spPr>
      </p:sp>
      <p:sp>
        <p:nvSpPr>
          <p:cNvPr id="26" name="Shape 24"/>
          <p:cNvSpPr/>
          <p:nvPr/>
        </p:nvSpPr>
        <p:spPr>
          <a:xfrm>
            <a:off x="457200" y="3291840"/>
            <a:ext cx="64008" cy="822960"/>
          </a:xfrm>
          <a:prstGeom prst="rect">
            <a:avLst/>
          </a:prstGeom>
          <a:solidFill>
            <a:srgbClr val="CADCFC"/>
          </a:solidFill>
          <a:ln/>
        </p:spPr>
      </p:sp>
      <p:sp>
        <p:nvSpPr>
          <p:cNvPr id="27" name="Text 25"/>
          <p:cNvSpPr/>
          <p:nvPr/>
        </p:nvSpPr>
        <p:spPr>
          <a:xfrm>
            <a:off x="685800" y="336499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Goal for tonight</a:t>
            </a:r>
            <a:endParaRPr lang="en-US" sz="1300" dirty="0"/>
          </a:p>
        </p:txBody>
      </p:sp>
      <p:sp>
        <p:nvSpPr>
          <p:cNvPr id="28" name="Text 26"/>
          <p:cNvSpPr/>
          <p:nvPr/>
        </p:nvSpPr>
        <p:spPr>
          <a:xfrm>
            <a:off x="685800" y="3639312"/>
            <a:ext cx="7863840" cy="4114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One Pico reads a potentiometer, the other blinks at the speed it sets - over two wires and a shared ground.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1</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Homework check</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What the first Pico taught us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Three traps from the first Pico</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457200" y="1143000"/>
            <a:ext cx="2590800" cy="301752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pic>
        <p:nvPicPr>
          <p:cNvPr id="7" name="Image 0" descr="preencoded.png">    </p:cNvPr>
          <p:cNvPicPr>
            <a:picLocks noChangeAspect="1"/>
          </p:cNvPicPr>
          <p:nvPr/>
        </p:nvPicPr>
        <p:blipFill>
          <a:blip r:embed="rId1"/>
          <a:stretch>
            <a:fillRect/>
          </a:stretch>
        </p:blipFill>
        <p:spPr>
          <a:xfrm>
            <a:off x="1478280" y="1371600"/>
            <a:ext cx="548640" cy="548640"/>
          </a:xfrm>
          <a:prstGeom prst="rect">
            <a:avLst/>
          </a:prstGeom>
        </p:spPr>
      </p:pic>
      <p:sp>
        <p:nvSpPr>
          <p:cNvPr id="8" name="Text 5"/>
          <p:cNvSpPr/>
          <p:nvPr/>
        </p:nvSpPr>
        <p:spPr>
          <a:xfrm>
            <a:off x="457200" y="21031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Upload stops</a:t>
            </a:r>
            <a:endParaRPr lang="en-US" sz="1700" dirty="0"/>
          </a:p>
        </p:txBody>
      </p:sp>
      <p:sp>
        <p:nvSpPr>
          <p:cNvPr id="9" name="Text 6"/>
          <p:cNvSpPr/>
          <p:nvPr/>
        </p:nvSpPr>
        <p:spPr>
          <a:xfrm>
            <a:off x="594360" y="2606040"/>
            <a:ext cx="2316480" cy="141732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"picotool was unable to connect" on Windows. Zadig -&gt; RP2 Boot (Interface 1) -&gt; WinUSB. Never touch Interface 0.</a:t>
            </a:r>
            <a:endParaRPr lang="en-US" sz="1200" dirty="0"/>
          </a:p>
        </p:txBody>
      </p:sp>
      <p:sp>
        <p:nvSpPr>
          <p:cNvPr id="10" name="Shape 7"/>
          <p:cNvSpPr/>
          <p:nvPr/>
        </p:nvSpPr>
        <p:spPr>
          <a:xfrm>
            <a:off x="3276600" y="1143000"/>
            <a:ext cx="2590800" cy="301752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pic>
        <p:nvPicPr>
          <p:cNvPr id="11" name="Image 1" descr="preencoded.png">    </p:cNvPr>
          <p:cNvPicPr>
            <a:picLocks noChangeAspect="1"/>
          </p:cNvPicPr>
          <p:nvPr/>
        </p:nvPicPr>
        <p:blipFill>
          <a:blip r:embed="rId2"/>
          <a:stretch>
            <a:fillRect/>
          </a:stretch>
        </p:blipFill>
        <p:spPr>
          <a:xfrm>
            <a:off x="4297680" y="1371600"/>
            <a:ext cx="548640" cy="548640"/>
          </a:xfrm>
          <a:prstGeom prst="rect">
            <a:avLst/>
          </a:prstGeom>
        </p:spPr>
      </p:pic>
      <p:sp>
        <p:nvSpPr>
          <p:cNvPr id="12" name="Text 8"/>
          <p:cNvSpPr/>
          <p:nvPr/>
        </p:nvSpPr>
        <p:spPr>
          <a:xfrm>
            <a:off x="3276600" y="21031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LED stays dark</a:t>
            </a:r>
            <a:endParaRPr lang="en-US" sz="1700" dirty="0"/>
          </a:p>
        </p:txBody>
      </p:sp>
      <p:sp>
        <p:nvSpPr>
          <p:cNvPr id="13" name="Text 9"/>
          <p:cNvSpPr/>
          <p:nvPr/>
        </p:nvSpPr>
        <p:spPr>
          <a:xfrm>
            <a:off x="3413760" y="2606040"/>
            <a:ext cx="2316480" cy="141732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Serial prints, the LED does nothing. pinMode(LED_BUILTIN, OUTPUT) is missing - the pin is not an output yet.</a:t>
            </a:r>
            <a:endParaRPr lang="en-US" sz="1200" dirty="0"/>
          </a:p>
        </p:txBody>
      </p:sp>
      <p:sp>
        <p:nvSpPr>
          <p:cNvPr id="14" name="Shape 10"/>
          <p:cNvSpPr/>
          <p:nvPr/>
        </p:nvSpPr>
        <p:spPr>
          <a:xfrm>
            <a:off x="6096000" y="1143000"/>
            <a:ext cx="2590800" cy="301752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pic>
        <p:nvPicPr>
          <p:cNvPr id="15" name="Image 2" descr="preencoded.png">    </p:cNvPr>
          <p:cNvPicPr>
            <a:picLocks noChangeAspect="1"/>
          </p:cNvPicPr>
          <p:nvPr/>
        </p:nvPicPr>
        <p:blipFill>
          <a:blip r:embed="rId3"/>
          <a:stretch>
            <a:fillRect/>
          </a:stretch>
        </p:blipFill>
        <p:spPr>
          <a:xfrm>
            <a:off x="7117080" y="1371600"/>
            <a:ext cx="548640" cy="548640"/>
          </a:xfrm>
          <a:prstGeom prst="rect">
            <a:avLst/>
          </a:prstGeom>
        </p:spPr>
      </p:pic>
      <p:sp>
        <p:nvSpPr>
          <p:cNvPr id="16" name="Text 11"/>
          <p:cNvSpPr/>
          <p:nvPr/>
        </p:nvSpPr>
        <p:spPr>
          <a:xfrm>
            <a:off x="6096000" y="210312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"v2.0" is not Pico 2</a:t>
            </a:r>
            <a:endParaRPr lang="en-US" sz="1700" dirty="0"/>
          </a:p>
        </p:txBody>
      </p:sp>
      <p:sp>
        <p:nvSpPr>
          <p:cNvPr id="17" name="Text 12"/>
          <p:cNvSpPr/>
          <p:nvPr/>
        </p:nvSpPr>
        <p:spPr>
          <a:xfrm>
            <a:off x="6233160" y="2606040"/>
            <a:ext cx="2316480" cy="141732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INFO_UF2.TXT says v2.0: that is the boot ROM of RP2040 revision B1. The bootloader is in ROM and cannot be updated.</a:t>
            </a:r>
            <a:endParaRPr lang="en-US" sz="1200" dirty="0"/>
          </a:p>
        </p:txBody>
      </p:sp>
      <p:sp>
        <p:nvSpPr>
          <p:cNvPr id="18" name="Text 13"/>
          <p:cNvSpPr/>
          <p:nvPr/>
        </p:nvSpPr>
        <p:spPr>
          <a:xfrm>
            <a:off x="457200" y="4297680"/>
            <a:ext cx="8229600" cy="320040"/>
          </a:xfrm>
          <a:prstGeom prst="rect">
            <a:avLst/>
          </a:prstGeom>
          <a:noFill/>
          <a:ln/>
        </p:spPr>
        <p:txBody>
          <a:bodyPr wrap="square" lIns="0" tIns="0" rIns="0" bIns="0" rtlCol="0" anchor="t"/>
          <a:lstStyle/>
          <a:p>
            <a:pPr algn="ctr" indent="0" marL="0">
              <a:buNone/>
            </a:pPr>
            <a:r>
              <a:rPr lang="en-US" sz="1400" i="1" dirty="0">
                <a:solidFill>
                  <a:srgbClr val="8892B0"/>
                </a:solidFill>
                <a:latin typeface="Calibri" pitchFamily="34" charset="0"/>
                <a:ea typeface="Calibri" pitchFamily="34" charset="-122"/>
                <a:cs typeface="Calibri" pitchFamily="34" charset="-120"/>
              </a:rPr>
              <a:t>Your pico-setup.md: anything else that bit you?</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2</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Solder the headers</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The breadboard is your jig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breadboard is your jig</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457200" y="1097280"/>
            <a:ext cx="365760" cy="365760"/>
          </a:xfrm>
          <a:prstGeom prst="ellipse">
            <a:avLst/>
          </a:prstGeom>
          <a:solidFill>
            <a:srgbClr val="253270"/>
          </a:solidFill>
          <a:ln w="19050">
            <a:solidFill>
              <a:srgbClr val="CADCFC"/>
            </a:solidFill>
            <a:prstDash val="solid"/>
          </a:ln>
        </p:spPr>
      </p:sp>
      <p:sp>
        <p:nvSpPr>
          <p:cNvPr id="7" name="Text 5"/>
          <p:cNvSpPr/>
          <p:nvPr/>
        </p:nvSpPr>
        <p:spPr>
          <a:xfrm>
            <a:off x="457200" y="10972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60120" y="1078992"/>
            <a:ext cx="4069080" cy="649224"/>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Push both 20-pin headers into the breadboard, long pins down, so the Pico will straddle the centre gap</a:t>
            </a:r>
            <a:endParaRPr lang="en-US" sz="1400" dirty="0"/>
          </a:p>
        </p:txBody>
      </p:sp>
      <p:sp>
        <p:nvSpPr>
          <p:cNvPr id="9" name="Shape 7"/>
          <p:cNvSpPr/>
          <p:nvPr/>
        </p:nvSpPr>
        <p:spPr>
          <a:xfrm>
            <a:off x="457200" y="1783080"/>
            <a:ext cx="365760" cy="365760"/>
          </a:xfrm>
          <a:prstGeom prst="ellipse">
            <a:avLst/>
          </a:prstGeom>
          <a:solidFill>
            <a:srgbClr val="253270"/>
          </a:solidFill>
          <a:ln w="19050">
            <a:solidFill>
              <a:srgbClr val="CADCFC"/>
            </a:solidFill>
            <a:prstDash val="solid"/>
          </a:ln>
        </p:spPr>
      </p:sp>
      <p:sp>
        <p:nvSpPr>
          <p:cNvPr id="10" name="Text 8"/>
          <p:cNvSpPr/>
          <p:nvPr/>
        </p:nvSpPr>
        <p:spPr>
          <a:xfrm>
            <a:off x="457200" y="1783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960120" y="1764792"/>
            <a:ext cx="4069080" cy="649224"/>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Lay the Pico on top. Check the pins come through every hole</a:t>
            </a:r>
            <a:endParaRPr lang="en-US" sz="1400" dirty="0"/>
          </a:p>
        </p:txBody>
      </p:sp>
      <p:sp>
        <p:nvSpPr>
          <p:cNvPr id="12" name="Shape 10"/>
          <p:cNvSpPr/>
          <p:nvPr/>
        </p:nvSpPr>
        <p:spPr>
          <a:xfrm>
            <a:off x="457200" y="2468880"/>
            <a:ext cx="365760" cy="365760"/>
          </a:xfrm>
          <a:prstGeom prst="ellipse">
            <a:avLst/>
          </a:prstGeom>
          <a:solidFill>
            <a:srgbClr val="253270"/>
          </a:solidFill>
          <a:ln w="19050">
            <a:solidFill>
              <a:srgbClr val="CADCFC"/>
            </a:solidFill>
            <a:prstDash val="solid"/>
          </a:ln>
        </p:spPr>
      </p:sp>
      <p:sp>
        <p:nvSpPr>
          <p:cNvPr id="13" name="Text 11"/>
          <p:cNvSpPr/>
          <p:nvPr/>
        </p:nvSpPr>
        <p:spPr>
          <a:xfrm>
            <a:off x="457200" y="24688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960120" y="2450592"/>
            <a:ext cx="4069080" cy="649224"/>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Solder one corner pin on each side. Is the board flat? Fix it now, not later</a:t>
            </a:r>
            <a:endParaRPr lang="en-US" sz="1400" dirty="0"/>
          </a:p>
        </p:txBody>
      </p:sp>
      <p:sp>
        <p:nvSpPr>
          <p:cNvPr id="15" name="Shape 13"/>
          <p:cNvSpPr/>
          <p:nvPr/>
        </p:nvSpPr>
        <p:spPr>
          <a:xfrm>
            <a:off x="457200" y="3154680"/>
            <a:ext cx="365760" cy="365760"/>
          </a:xfrm>
          <a:prstGeom prst="ellipse">
            <a:avLst/>
          </a:prstGeom>
          <a:solidFill>
            <a:srgbClr val="253270"/>
          </a:solidFill>
          <a:ln w="19050">
            <a:solidFill>
              <a:srgbClr val="CADCFC"/>
            </a:solidFill>
            <a:prstDash val="solid"/>
          </a:ln>
        </p:spPr>
      </p:sp>
      <p:sp>
        <p:nvSpPr>
          <p:cNvPr id="16" name="Text 14"/>
          <p:cNvSpPr/>
          <p:nvPr/>
        </p:nvSpPr>
        <p:spPr>
          <a:xfrm>
            <a:off x="457200" y="31546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960120" y="3136392"/>
            <a:ext cx="4069080" cy="649224"/>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Solder the other 38 pins: 350 C, 2-3 s per joint. Matte joints are normal with lead-free solder</a:t>
            </a:r>
            <a:endParaRPr lang="en-US" sz="1400" dirty="0"/>
          </a:p>
        </p:txBody>
      </p:sp>
      <p:sp>
        <p:nvSpPr>
          <p:cNvPr id="18" name="Shape 16"/>
          <p:cNvSpPr/>
          <p:nvPr/>
        </p:nvSpPr>
        <p:spPr>
          <a:xfrm>
            <a:off x="457200" y="3840480"/>
            <a:ext cx="365760" cy="365760"/>
          </a:xfrm>
          <a:prstGeom prst="ellipse">
            <a:avLst/>
          </a:prstGeom>
          <a:solidFill>
            <a:srgbClr val="253270"/>
          </a:solidFill>
          <a:ln w="19050">
            <a:solidFill>
              <a:srgbClr val="CADCFC"/>
            </a:solidFill>
            <a:prstDash val="solid"/>
          </a:ln>
        </p:spPr>
      </p:sp>
      <p:sp>
        <p:nvSpPr>
          <p:cNvPr id="19" name="Text 17"/>
          <p:cNvSpPr/>
          <p:nvPr/>
        </p:nvSpPr>
        <p:spPr>
          <a:xfrm>
            <a:off x="457200" y="3840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960120" y="3822192"/>
            <a:ext cx="4069080" cy="649224"/>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Let it cool, then lift the Pico out straight</a:t>
            </a:r>
            <a:endParaRPr lang="en-US" sz="1400" dirty="0"/>
          </a:p>
        </p:txBody>
      </p:sp>
      <p:sp>
        <p:nvSpPr>
          <p:cNvPr id="21" name="Shape 19"/>
          <p:cNvSpPr/>
          <p:nvPr/>
        </p:nvSpPr>
        <p:spPr>
          <a:xfrm>
            <a:off x="5486400" y="1188720"/>
            <a:ext cx="3108960" cy="3200400"/>
          </a:xfrm>
          <a:prstGeom prst="rect">
            <a:avLst/>
          </a:prstGeom>
          <a:solidFill>
            <a:srgbClr val="E6E6E6"/>
          </a:solidFill>
          <a:ln w="12700">
            <a:solidFill>
              <a:srgbClr val="8892B0"/>
            </a:solidFill>
            <a:prstDash val="solid"/>
          </a:ln>
        </p:spPr>
      </p:sp>
      <p:sp>
        <p:nvSpPr>
          <p:cNvPr id="22" name="Shape 20"/>
          <p:cNvSpPr/>
          <p:nvPr/>
        </p:nvSpPr>
        <p:spPr>
          <a:xfrm>
            <a:off x="6958584" y="1188720"/>
            <a:ext cx="164592" cy="3200400"/>
          </a:xfrm>
          <a:prstGeom prst="rect">
            <a:avLst/>
          </a:prstGeom>
          <a:solidFill>
            <a:srgbClr val="BDBDBD"/>
          </a:solidFill>
          <a:ln w="12700">
            <a:solidFill>
              <a:srgbClr val="BDBDBD"/>
            </a:solidFill>
            <a:prstDash val="solid"/>
          </a:ln>
        </p:spPr>
      </p:sp>
      <p:sp>
        <p:nvSpPr>
          <p:cNvPr id="23" name="Shape 21"/>
          <p:cNvSpPr/>
          <p:nvPr/>
        </p:nvSpPr>
        <p:spPr>
          <a:xfrm>
            <a:off x="5715000" y="1371600"/>
            <a:ext cx="54864" cy="54864"/>
          </a:xfrm>
          <a:prstGeom prst="rect">
            <a:avLst/>
          </a:prstGeom>
          <a:solidFill>
            <a:srgbClr val="9E9E9E"/>
          </a:solidFill>
          <a:ln w="12700">
            <a:solidFill>
              <a:srgbClr val="9E9E9E"/>
            </a:solidFill>
            <a:prstDash val="solid"/>
          </a:ln>
        </p:spPr>
      </p:sp>
      <p:sp>
        <p:nvSpPr>
          <p:cNvPr id="24" name="Shape 22"/>
          <p:cNvSpPr/>
          <p:nvPr/>
        </p:nvSpPr>
        <p:spPr>
          <a:xfrm>
            <a:off x="5715000" y="1618488"/>
            <a:ext cx="54864" cy="54864"/>
          </a:xfrm>
          <a:prstGeom prst="rect">
            <a:avLst/>
          </a:prstGeom>
          <a:solidFill>
            <a:srgbClr val="9E9E9E"/>
          </a:solidFill>
          <a:ln w="12700">
            <a:solidFill>
              <a:srgbClr val="9E9E9E"/>
            </a:solidFill>
            <a:prstDash val="solid"/>
          </a:ln>
        </p:spPr>
      </p:sp>
      <p:sp>
        <p:nvSpPr>
          <p:cNvPr id="25" name="Shape 23"/>
          <p:cNvSpPr/>
          <p:nvPr/>
        </p:nvSpPr>
        <p:spPr>
          <a:xfrm>
            <a:off x="5715000" y="1865376"/>
            <a:ext cx="54864" cy="54864"/>
          </a:xfrm>
          <a:prstGeom prst="rect">
            <a:avLst/>
          </a:prstGeom>
          <a:solidFill>
            <a:srgbClr val="9E9E9E"/>
          </a:solidFill>
          <a:ln w="12700">
            <a:solidFill>
              <a:srgbClr val="9E9E9E"/>
            </a:solidFill>
            <a:prstDash val="solid"/>
          </a:ln>
        </p:spPr>
      </p:sp>
      <p:sp>
        <p:nvSpPr>
          <p:cNvPr id="26" name="Shape 24"/>
          <p:cNvSpPr/>
          <p:nvPr/>
        </p:nvSpPr>
        <p:spPr>
          <a:xfrm>
            <a:off x="5715000" y="2112264"/>
            <a:ext cx="54864" cy="54864"/>
          </a:xfrm>
          <a:prstGeom prst="rect">
            <a:avLst/>
          </a:prstGeom>
          <a:solidFill>
            <a:srgbClr val="9E9E9E"/>
          </a:solidFill>
          <a:ln w="12700">
            <a:solidFill>
              <a:srgbClr val="9E9E9E"/>
            </a:solidFill>
            <a:prstDash val="solid"/>
          </a:ln>
        </p:spPr>
      </p:sp>
      <p:sp>
        <p:nvSpPr>
          <p:cNvPr id="27" name="Shape 25"/>
          <p:cNvSpPr/>
          <p:nvPr/>
        </p:nvSpPr>
        <p:spPr>
          <a:xfrm>
            <a:off x="5715000" y="2359152"/>
            <a:ext cx="54864" cy="54864"/>
          </a:xfrm>
          <a:prstGeom prst="rect">
            <a:avLst/>
          </a:prstGeom>
          <a:solidFill>
            <a:srgbClr val="9E9E9E"/>
          </a:solidFill>
          <a:ln w="12700">
            <a:solidFill>
              <a:srgbClr val="9E9E9E"/>
            </a:solidFill>
            <a:prstDash val="solid"/>
          </a:ln>
        </p:spPr>
      </p:sp>
      <p:sp>
        <p:nvSpPr>
          <p:cNvPr id="28" name="Shape 26"/>
          <p:cNvSpPr/>
          <p:nvPr/>
        </p:nvSpPr>
        <p:spPr>
          <a:xfrm>
            <a:off x="5715000" y="2606040"/>
            <a:ext cx="54864" cy="54864"/>
          </a:xfrm>
          <a:prstGeom prst="rect">
            <a:avLst/>
          </a:prstGeom>
          <a:solidFill>
            <a:srgbClr val="9E9E9E"/>
          </a:solidFill>
          <a:ln w="12700">
            <a:solidFill>
              <a:srgbClr val="9E9E9E"/>
            </a:solidFill>
            <a:prstDash val="solid"/>
          </a:ln>
        </p:spPr>
      </p:sp>
      <p:sp>
        <p:nvSpPr>
          <p:cNvPr id="29" name="Shape 27"/>
          <p:cNvSpPr/>
          <p:nvPr/>
        </p:nvSpPr>
        <p:spPr>
          <a:xfrm>
            <a:off x="5715000" y="2852928"/>
            <a:ext cx="54864" cy="54864"/>
          </a:xfrm>
          <a:prstGeom prst="rect">
            <a:avLst/>
          </a:prstGeom>
          <a:solidFill>
            <a:srgbClr val="9E9E9E"/>
          </a:solidFill>
          <a:ln w="12700">
            <a:solidFill>
              <a:srgbClr val="9E9E9E"/>
            </a:solidFill>
            <a:prstDash val="solid"/>
          </a:ln>
        </p:spPr>
      </p:sp>
      <p:sp>
        <p:nvSpPr>
          <p:cNvPr id="30" name="Shape 28"/>
          <p:cNvSpPr/>
          <p:nvPr/>
        </p:nvSpPr>
        <p:spPr>
          <a:xfrm>
            <a:off x="5715000" y="3099816"/>
            <a:ext cx="54864" cy="54864"/>
          </a:xfrm>
          <a:prstGeom prst="rect">
            <a:avLst/>
          </a:prstGeom>
          <a:solidFill>
            <a:srgbClr val="9E9E9E"/>
          </a:solidFill>
          <a:ln w="12700">
            <a:solidFill>
              <a:srgbClr val="9E9E9E"/>
            </a:solidFill>
            <a:prstDash val="solid"/>
          </a:ln>
        </p:spPr>
      </p:sp>
      <p:sp>
        <p:nvSpPr>
          <p:cNvPr id="31" name="Shape 29"/>
          <p:cNvSpPr/>
          <p:nvPr/>
        </p:nvSpPr>
        <p:spPr>
          <a:xfrm>
            <a:off x="5715000" y="3346704"/>
            <a:ext cx="54864" cy="54864"/>
          </a:xfrm>
          <a:prstGeom prst="rect">
            <a:avLst/>
          </a:prstGeom>
          <a:solidFill>
            <a:srgbClr val="9E9E9E"/>
          </a:solidFill>
          <a:ln w="12700">
            <a:solidFill>
              <a:srgbClr val="9E9E9E"/>
            </a:solidFill>
            <a:prstDash val="solid"/>
          </a:ln>
        </p:spPr>
      </p:sp>
      <p:sp>
        <p:nvSpPr>
          <p:cNvPr id="32" name="Shape 30"/>
          <p:cNvSpPr/>
          <p:nvPr/>
        </p:nvSpPr>
        <p:spPr>
          <a:xfrm>
            <a:off x="5715000" y="3593592"/>
            <a:ext cx="54864" cy="54864"/>
          </a:xfrm>
          <a:prstGeom prst="rect">
            <a:avLst/>
          </a:prstGeom>
          <a:solidFill>
            <a:srgbClr val="9E9E9E"/>
          </a:solidFill>
          <a:ln w="12700">
            <a:solidFill>
              <a:srgbClr val="9E9E9E"/>
            </a:solidFill>
            <a:prstDash val="solid"/>
          </a:ln>
        </p:spPr>
      </p:sp>
      <p:sp>
        <p:nvSpPr>
          <p:cNvPr id="33" name="Shape 31"/>
          <p:cNvSpPr/>
          <p:nvPr/>
        </p:nvSpPr>
        <p:spPr>
          <a:xfrm>
            <a:off x="5715000" y="3840480"/>
            <a:ext cx="54864" cy="54864"/>
          </a:xfrm>
          <a:prstGeom prst="rect">
            <a:avLst/>
          </a:prstGeom>
          <a:solidFill>
            <a:srgbClr val="9E9E9E"/>
          </a:solidFill>
          <a:ln w="12700">
            <a:solidFill>
              <a:srgbClr val="9E9E9E"/>
            </a:solidFill>
            <a:prstDash val="solid"/>
          </a:ln>
        </p:spPr>
      </p:sp>
      <p:sp>
        <p:nvSpPr>
          <p:cNvPr id="34" name="Shape 32"/>
          <p:cNvSpPr/>
          <p:nvPr/>
        </p:nvSpPr>
        <p:spPr>
          <a:xfrm>
            <a:off x="5715000" y="4087368"/>
            <a:ext cx="54864" cy="54864"/>
          </a:xfrm>
          <a:prstGeom prst="rect">
            <a:avLst/>
          </a:prstGeom>
          <a:solidFill>
            <a:srgbClr val="9E9E9E"/>
          </a:solidFill>
          <a:ln w="12700">
            <a:solidFill>
              <a:srgbClr val="9E9E9E"/>
            </a:solidFill>
            <a:prstDash val="solid"/>
          </a:ln>
        </p:spPr>
      </p:sp>
      <p:sp>
        <p:nvSpPr>
          <p:cNvPr id="35" name="Shape 33"/>
          <p:cNvSpPr/>
          <p:nvPr/>
        </p:nvSpPr>
        <p:spPr>
          <a:xfrm>
            <a:off x="5952744" y="1371600"/>
            <a:ext cx="54864" cy="54864"/>
          </a:xfrm>
          <a:prstGeom prst="rect">
            <a:avLst/>
          </a:prstGeom>
          <a:solidFill>
            <a:srgbClr val="9E9E9E"/>
          </a:solidFill>
          <a:ln w="12700">
            <a:solidFill>
              <a:srgbClr val="9E9E9E"/>
            </a:solidFill>
            <a:prstDash val="solid"/>
          </a:ln>
        </p:spPr>
      </p:sp>
      <p:sp>
        <p:nvSpPr>
          <p:cNvPr id="36" name="Shape 34"/>
          <p:cNvSpPr/>
          <p:nvPr/>
        </p:nvSpPr>
        <p:spPr>
          <a:xfrm>
            <a:off x="5952744" y="1618488"/>
            <a:ext cx="54864" cy="54864"/>
          </a:xfrm>
          <a:prstGeom prst="rect">
            <a:avLst/>
          </a:prstGeom>
          <a:solidFill>
            <a:srgbClr val="9E9E9E"/>
          </a:solidFill>
          <a:ln w="12700">
            <a:solidFill>
              <a:srgbClr val="9E9E9E"/>
            </a:solidFill>
            <a:prstDash val="solid"/>
          </a:ln>
        </p:spPr>
      </p:sp>
      <p:sp>
        <p:nvSpPr>
          <p:cNvPr id="37" name="Shape 35"/>
          <p:cNvSpPr/>
          <p:nvPr/>
        </p:nvSpPr>
        <p:spPr>
          <a:xfrm>
            <a:off x="5952744" y="1865376"/>
            <a:ext cx="54864" cy="54864"/>
          </a:xfrm>
          <a:prstGeom prst="rect">
            <a:avLst/>
          </a:prstGeom>
          <a:solidFill>
            <a:srgbClr val="9E9E9E"/>
          </a:solidFill>
          <a:ln w="12700">
            <a:solidFill>
              <a:srgbClr val="9E9E9E"/>
            </a:solidFill>
            <a:prstDash val="solid"/>
          </a:ln>
        </p:spPr>
      </p:sp>
      <p:sp>
        <p:nvSpPr>
          <p:cNvPr id="38" name="Shape 36"/>
          <p:cNvSpPr/>
          <p:nvPr/>
        </p:nvSpPr>
        <p:spPr>
          <a:xfrm>
            <a:off x="5952744" y="2112264"/>
            <a:ext cx="54864" cy="54864"/>
          </a:xfrm>
          <a:prstGeom prst="rect">
            <a:avLst/>
          </a:prstGeom>
          <a:solidFill>
            <a:srgbClr val="9E9E9E"/>
          </a:solidFill>
          <a:ln w="12700">
            <a:solidFill>
              <a:srgbClr val="9E9E9E"/>
            </a:solidFill>
            <a:prstDash val="solid"/>
          </a:ln>
        </p:spPr>
      </p:sp>
      <p:sp>
        <p:nvSpPr>
          <p:cNvPr id="39" name="Shape 37"/>
          <p:cNvSpPr/>
          <p:nvPr/>
        </p:nvSpPr>
        <p:spPr>
          <a:xfrm>
            <a:off x="5952744" y="2359152"/>
            <a:ext cx="54864" cy="54864"/>
          </a:xfrm>
          <a:prstGeom prst="rect">
            <a:avLst/>
          </a:prstGeom>
          <a:solidFill>
            <a:srgbClr val="9E9E9E"/>
          </a:solidFill>
          <a:ln w="12700">
            <a:solidFill>
              <a:srgbClr val="9E9E9E"/>
            </a:solidFill>
            <a:prstDash val="solid"/>
          </a:ln>
        </p:spPr>
      </p:sp>
      <p:sp>
        <p:nvSpPr>
          <p:cNvPr id="40" name="Shape 38"/>
          <p:cNvSpPr/>
          <p:nvPr/>
        </p:nvSpPr>
        <p:spPr>
          <a:xfrm>
            <a:off x="5952744" y="2606040"/>
            <a:ext cx="54864" cy="54864"/>
          </a:xfrm>
          <a:prstGeom prst="rect">
            <a:avLst/>
          </a:prstGeom>
          <a:solidFill>
            <a:srgbClr val="9E9E9E"/>
          </a:solidFill>
          <a:ln w="12700">
            <a:solidFill>
              <a:srgbClr val="9E9E9E"/>
            </a:solidFill>
            <a:prstDash val="solid"/>
          </a:ln>
        </p:spPr>
      </p:sp>
      <p:sp>
        <p:nvSpPr>
          <p:cNvPr id="41" name="Shape 39"/>
          <p:cNvSpPr/>
          <p:nvPr/>
        </p:nvSpPr>
        <p:spPr>
          <a:xfrm>
            <a:off x="5952744" y="2852928"/>
            <a:ext cx="54864" cy="54864"/>
          </a:xfrm>
          <a:prstGeom prst="rect">
            <a:avLst/>
          </a:prstGeom>
          <a:solidFill>
            <a:srgbClr val="9E9E9E"/>
          </a:solidFill>
          <a:ln w="12700">
            <a:solidFill>
              <a:srgbClr val="9E9E9E"/>
            </a:solidFill>
            <a:prstDash val="solid"/>
          </a:ln>
        </p:spPr>
      </p:sp>
      <p:sp>
        <p:nvSpPr>
          <p:cNvPr id="42" name="Shape 40"/>
          <p:cNvSpPr/>
          <p:nvPr/>
        </p:nvSpPr>
        <p:spPr>
          <a:xfrm>
            <a:off x="5952744" y="3099816"/>
            <a:ext cx="54864" cy="54864"/>
          </a:xfrm>
          <a:prstGeom prst="rect">
            <a:avLst/>
          </a:prstGeom>
          <a:solidFill>
            <a:srgbClr val="9E9E9E"/>
          </a:solidFill>
          <a:ln w="12700">
            <a:solidFill>
              <a:srgbClr val="9E9E9E"/>
            </a:solidFill>
            <a:prstDash val="solid"/>
          </a:ln>
        </p:spPr>
      </p:sp>
      <p:sp>
        <p:nvSpPr>
          <p:cNvPr id="43" name="Shape 41"/>
          <p:cNvSpPr/>
          <p:nvPr/>
        </p:nvSpPr>
        <p:spPr>
          <a:xfrm>
            <a:off x="5952744" y="3346704"/>
            <a:ext cx="54864" cy="54864"/>
          </a:xfrm>
          <a:prstGeom prst="rect">
            <a:avLst/>
          </a:prstGeom>
          <a:solidFill>
            <a:srgbClr val="9E9E9E"/>
          </a:solidFill>
          <a:ln w="12700">
            <a:solidFill>
              <a:srgbClr val="9E9E9E"/>
            </a:solidFill>
            <a:prstDash val="solid"/>
          </a:ln>
        </p:spPr>
      </p:sp>
      <p:sp>
        <p:nvSpPr>
          <p:cNvPr id="44" name="Shape 42"/>
          <p:cNvSpPr/>
          <p:nvPr/>
        </p:nvSpPr>
        <p:spPr>
          <a:xfrm>
            <a:off x="5952744" y="3593592"/>
            <a:ext cx="54864" cy="54864"/>
          </a:xfrm>
          <a:prstGeom prst="rect">
            <a:avLst/>
          </a:prstGeom>
          <a:solidFill>
            <a:srgbClr val="9E9E9E"/>
          </a:solidFill>
          <a:ln w="12700">
            <a:solidFill>
              <a:srgbClr val="9E9E9E"/>
            </a:solidFill>
            <a:prstDash val="solid"/>
          </a:ln>
        </p:spPr>
      </p:sp>
      <p:sp>
        <p:nvSpPr>
          <p:cNvPr id="45" name="Shape 43"/>
          <p:cNvSpPr/>
          <p:nvPr/>
        </p:nvSpPr>
        <p:spPr>
          <a:xfrm>
            <a:off x="5952744" y="3840480"/>
            <a:ext cx="54864" cy="54864"/>
          </a:xfrm>
          <a:prstGeom prst="rect">
            <a:avLst/>
          </a:prstGeom>
          <a:solidFill>
            <a:srgbClr val="9E9E9E"/>
          </a:solidFill>
          <a:ln w="12700">
            <a:solidFill>
              <a:srgbClr val="9E9E9E"/>
            </a:solidFill>
            <a:prstDash val="solid"/>
          </a:ln>
        </p:spPr>
      </p:sp>
      <p:sp>
        <p:nvSpPr>
          <p:cNvPr id="46" name="Shape 44"/>
          <p:cNvSpPr/>
          <p:nvPr/>
        </p:nvSpPr>
        <p:spPr>
          <a:xfrm>
            <a:off x="5952744" y="4087368"/>
            <a:ext cx="54864" cy="54864"/>
          </a:xfrm>
          <a:prstGeom prst="rect">
            <a:avLst/>
          </a:prstGeom>
          <a:solidFill>
            <a:srgbClr val="9E9E9E"/>
          </a:solidFill>
          <a:ln w="12700">
            <a:solidFill>
              <a:srgbClr val="9E9E9E"/>
            </a:solidFill>
            <a:prstDash val="solid"/>
          </a:ln>
        </p:spPr>
      </p:sp>
      <p:sp>
        <p:nvSpPr>
          <p:cNvPr id="47" name="Shape 45"/>
          <p:cNvSpPr/>
          <p:nvPr/>
        </p:nvSpPr>
        <p:spPr>
          <a:xfrm>
            <a:off x="6190488" y="1371600"/>
            <a:ext cx="54864" cy="54864"/>
          </a:xfrm>
          <a:prstGeom prst="rect">
            <a:avLst/>
          </a:prstGeom>
          <a:solidFill>
            <a:srgbClr val="9E9E9E"/>
          </a:solidFill>
          <a:ln w="12700">
            <a:solidFill>
              <a:srgbClr val="9E9E9E"/>
            </a:solidFill>
            <a:prstDash val="solid"/>
          </a:ln>
        </p:spPr>
      </p:sp>
      <p:sp>
        <p:nvSpPr>
          <p:cNvPr id="48" name="Shape 46"/>
          <p:cNvSpPr/>
          <p:nvPr/>
        </p:nvSpPr>
        <p:spPr>
          <a:xfrm>
            <a:off x="6190488" y="1618488"/>
            <a:ext cx="54864" cy="54864"/>
          </a:xfrm>
          <a:prstGeom prst="rect">
            <a:avLst/>
          </a:prstGeom>
          <a:solidFill>
            <a:srgbClr val="9E9E9E"/>
          </a:solidFill>
          <a:ln w="12700">
            <a:solidFill>
              <a:srgbClr val="9E9E9E"/>
            </a:solidFill>
            <a:prstDash val="solid"/>
          </a:ln>
        </p:spPr>
      </p:sp>
      <p:sp>
        <p:nvSpPr>
          <p:cNvPr id="49" name="Shape 47"/>
          <p:cNvSpPr/>
          <p:nvPr/>
        </p:nvSpPr>
        <p:spPr>
          <a:xfrm>
            <a:off x="6190488" y="1865376"/>
            <a:ext cx="54864" cy="54864"/>
          </a:xfrm>
          <a:prstGeom prst="rect">
            <a:avLst/>
          </a:prstGeom>
          <a:solidFill>
            <a:srgbClr val="9E9E9E"/>
          </a:solidFill>
          <a:ln w="12700">
            <a:solidFill>
              <a:srgbClr val="9E9E9E"/>
            </a:solidFill>
            <a:prstDash val="solid"/>
          </a:ln>
        </p:spPr>
      </p:sp>
      <p:sp>
        <p:nvSpPr>
          <p:cNvPr id="50" name="Shape 48"/>
          <p:cNvSpPr/>
          <p:nvPr/>
        </p:nvSpPr>
        <p:spPr>
          <a:xfrm>
            <a:off x="6190488" y="2112264"/>
            <a:ext cx="54864" cy="54864"/>
          </a:xfrm>
          <a:prstGeom prst="rect">
            <a:avLst/>
          </a:prstGeom>
          <a:solidFill>
            <a:srgbClr val="9E9E9E"/>
          </a:solidFill>
          <a:ln w="12700">
            <a:solidFill>
              <a:srgbClr val="9E9E9E"/>
            </a:solidFill>
            <a:prstDash val="solid"/>
          </a:ln>
        </p:spPr>
      </p:sp>
      <p:sp>
        <p:nvSpPr>
          <p:cNvPr id="51" name="Shape 49"/>
          <p:cNvSpPr/>
          <p:nvPr/>
        </p:nvSpPr>
        <p:spPr>
          <a:xfrm>
            <a:off x="6190488" y="2359152"/>
            <a:ext cx="54864" cy="54864"/>
          </a:xfrm>
          <a:prstGeom prst="rect">
            <a:avLst/>
          </a:prstGeom>
          <a:solidFill>
            <a:srgbClr val="9E9E9E"/>
          </a:solidFill>
          <a:ln w="12700">
            <a:solidFill>
              <a:srgbClr val="9E9E9E"/>
            </a:solidFill>
            <a:prstDash val="solid"/>
          </a:ln>
        </p:spPr>
      </p:sp>
      <p:sp>
        <p:nvSpPr>
          <p:cNvPr id="52" name="Shape 50"/>
          <p:cNvSpPr/>
          <p:nvPr/>
        </p:nvSpPr>
        <p:spPr>
          <a:xfrm>
            <a:off x="6190488" y="2606040"/>
            <a:ext cx="54864" cy="54864"/>
          </a:xfrm>
          <a:prstGeom prst="rect">
            <a:avLst/>
          </a:prstGeom>
          <a:solidFill>
            <a:srgbClr val="9E9E9E"/>
          </a:solidFill>
          <a:ln w="12700">
            <a:solidFill>
              <a:srgbClr val="9E9E9E"/>
            </a:solidFill>
            <a:prstDash val="solid"/>
          </a:ln>
        </p:spPr>
      </p:sp>
      <p:sp>
        <p:nvSpPr>
          <p:cNvPr id="53" name="Shape 51"/>
          <p:cNvSpPr/>
          <p:nvPr/>
        </p:nvSpPr>
        <p:spPr>
          <a:xfrm>
            <a:off x="6190488" y="2852928"/>
            <a:ext cx="54864" cy="54864"/>
          </a:xfrm>
          <a:prstGeom prst="rect">
            <a:avLst/>
          </a:prstGeom>
          <a:solidFill>
            <a:srgbClr val="9E9E9E"/>
          </a:solidFill>
          <a:ln w="12700">
            <a:solidFill>
              <a:srgbClr val="9E9E9E"/>
            </a:solidFill>
            <a:prstDash val="solid"/>
          </a:ln>
        </p:spPr>
      </p:sp>
      <p:sp>
        <p:nvSpPr>
          <p:cNvPr id="54" name="Shape 52"/>
          <p:cNvSpPr/>
          <p:nvPr/>
        </p:nvSpPr>
        <p:spPr>
          <a:xfrm>
            <a:off x="6190488" y="3099816"/>
            <a:ext cx="54864" cy="54864"/>
          </a:xfrm>
          <a:prstGeom prst="rect">
            <a:avLst/>
          </a:prstGeom>
          <a:solidFill>
            <a:srgbClr val="9E9E9E"/>
          </a:solidFill>
          <a:ln w="12700">
            <a:solidFill>
              <a:srgbClr val="9E9E9E"/>
            </a:solidFill>
            <a:prstDash val="solid"/>
          </a:ln>
        </p:spPr>
      </p:sp>
      <p:sp>
        <p:nvSpPr>
          <p:cNvPr id="55" name="Shape 53"/>
          <p:cNvSpPr/>
          <p:nvPr/>
        </p:nvSpPr>
        <p:spPr>
          <a:xfrm>
            <a:off x="6190488" y="3346704"/>
            <a:ext cx="54864" cy="54864"/>
          </a:xfrm>
          <a:prstGeom prst="rect">
            <a:avLst/>
          </a:prstGeom>
          <a:solidFill>
            <a:srgbClr val="9E9E9E"/>
          </a:solidFill>
          <a:ln w="12700">
            <a:solidFill>
              <a:srgbClr val="9E9E9E"/>
            </a:solidFill>
            <a:prstDash val="solid"/>
          </a:ln>
        </p:spPr>
      </p:sp>
      <p:sp>
        <p:nvSpPr>
          <p:cNvPr id="56" name="Shape 54"/>
          <p:cNvSpPr/>
          <p:nvPr/>
        </p:nvSpPr>
        <p:spPr>
          <a:xfrm>
            <a:off x="6190488" y="3593592"/>
            <a:ext cx="54864" cy="54864"/>
          </a:xfrm>
          <a:prstGeom prst="rect">
            <a:avLst/>
          </a:prstGeom>
          <a:solidFill>
            <a:srgbClr val="9E9E9E"/>
          </a:solidFill>
          <a:ln w="12700">
            <a:solidFill>
              <a:srgbClr val="9E9E9E"/>
            </a:solidFill>
            <a:prstDash val="solid"/>
          </a:ln>
        </p:spPr>
      </p:sp>
      <p:sp>
        <p:nvSpPr>
          <p:cNvPr id="57" name="Shape 55"/>
          <p:cNvSpPr/>
          <p:nvPr/>
        </p:nvSpPr>
        <p:spPr>
          <a:xfrm>
            <a:off x="6190488" y="3840480"/>
            <a:ext cx="54864" cy="54864"/>
          </a:xfrm>
          <a:prstGeom prst="rect">
            <a:avLst/>
          </a:prstGeom>
          <a:solidFill>
            <a:srgbClr val="9E9E9E"/>
          </a:solidFill>
          <a:ln w="12700">
            <a:solidFill>
              <a:srgbClr val="9E9E9E"/>
            </a:solidFill>
            <a:prstDash val="solid"/>
          </a:ln>
        </p:spPr>
      </p:sp>
      <p:sp>
        <p:nvSpPr>
          <p:cNvPr id="58" name="Shape 56"/>
          <p:cNvSpPr/>
          <p:nvPr/>
        </p:nvSpPr>
        <p:spPr>
          <a:xfrm>
            <a:off x="6190488" y="4087368"/>
            <a:ext cx="54864" cy="54864"/>
          </a:xfrm>
          <a:prstGeom prst="rect">
            <a:avLst/>
          </a:prstGeom>
          <a:solidFill>
            <a:srgbClr val="9E9E9E"/>
          </a:solidFill>
          <a:ln w="12700">
            <a:solidFill>
              <a:srgbClr val="9E9E9E"/>
            </a:solidFill>
            <a:prstDash val="solid"/>
          </a:ln>
        </p:spPr>
      </p:sp>
      <p:sp>
        <p:nvSpPr>
          <p:cNvPr id="59" name="Shape 57"/>
          <p:cNvSpPr/>
          <p:nvPr/>
        </p:nvSpPr>
        <p:spPr>
          <a:xfrm>
            <a:off x="6428232" y="1371600"/>
            <a:ext cx="54864" cy="54864"/>
          </a:xfrm>
          <a:prstGeom prst="rect">
            <a:avLst/>
          </a:prstGeom>
          <a:solidFill>
            <a:srgbClr val="9E9E9E"/>
          </a:solidFill>
          <a:ln w="12700">
            <a:solidFill>
              <a:srgbClr val="9E9E9E"/>
            </a:solidFill>
            <a:prstDash val="solid"/>
          </a:ln>
        </p:spPr>
      </p:sp>
      <p:sp>
        <p:nvSpPr>
          <p:cNvPr id="60" name="Shape 58"/>
          <p:cNvSpPr/>
          <p:nvPr/>
        </p:nvSpPr>
        <p:spPr>
          <a:xfrm>
            <a:off x="6428232" y="1618488"/>
            <a:ext cx="54864" cy="54864"/>
          </a:xfrm>
          <a:prstGeom prst="rect">
            <a:avLst/>
          </a:prstGeom>
          <a:solidFill>
            <a:srgbClr val="9E9E9E"/>
          </a:solidFill>
          <a:ln w="12700">
            <a:solidFill>
              <a:srgbClr val="9E9E9E"/>
            </a:solidFill>
            <a:prstDash val="solid"/>
          </a:ln>
        </p:spPr>
      </p:sp>
      <p:sp>
        <p:nvSpPr>
          <p:cNvPr id="61" name="Shape 59"/>
          <p:cNvSpPr/>
          <p:nvPr/>
        </p:nvSpPr>
        <p:spPr>
          <a:xfrm>
            <a:off x="6428232" y="1865376"/>
            <a:ext cx="54864" cy="54864"/>
          </a:xfrm>
          <a:prstGeom prst="rect">
            <a:avLst/>
          </a:prstGeom>
          <a:solidFill>
            <a:srgbClr val="9E9E9E"/>
          </a:solidFill>
          <a:ln w="12700">
            <a:solidFill>
              <a:srgbClr val="9E9E9E"/>
            </a:solidFill>
            <a:prstDash val="solid"/>
          </a:ln>
        </p:spPr>
      </p:sp>
      <p:sp>
        <p:nvSpPr>
          <p:cNvPr id="62" name="Shape 60"/>
          <p:cNvSpPr/>
          <p:nvPr/>
        </p:nvSpPr>
        <p:spPr>
          <a:xfrm>
            <a:off x="6428232" y="2112264"/>
            <a:ext cx="54864" cy="54864"/>
          </a:xfrm>
          <a:prstGeom prst="rect">
            <a:avLst/>
          </a:prstGeom>
          <a:solidFill>
            <a:srgbClr val="9E9E9E"/>
          </a:solidFill>
          <a:ln w="12700">
            <a:solidFill>
              <a:srgbClr val="9E9E9E"/>
            </a:solidFill>
            <a:prstDash val="solid"/>
          </a:ln>
        </p:spPr>
      </p:sp>
      <p:sp>
        <p:nvSpPr>
          <p:cNvPr id="63" name="Shape 61"/>
          <p:cNvSpPr/>
          <p:nvPr/>
        </p:nvSpPr>
        <p:spPr>
          <a:xfrm>
            <a:off x="6428232" y="2359152"/>
            <a:ext cx="54864" cy="54864"/>
          </a:xfrm>
          <a:prstGeom prst="rect">
            <a:avLst/>
          </a:prstGeom>
          <a:solidFill>
            <a:srgbClr val="9E9E9E"/>
          </a:solidFill>
          <a:ln w="12700">
            <a:solidFill>
              <a:srgbClr val="9E9E9E"/>
            </a:solidFill>
            <a:prstDash val="solid"/>
          </a:ln>
        </p:spPr>
      </p:sp>
      <p:sp>
        <p:nvSpPr>
          <p:cNvPr id="64" name="Shape 62"/>
          <p:cNvSpPr/>
          <p:nvPr/>
        </p:nvSpPr>
        <p:spPr>
          <a:xfrm>
            <a:off x="6428232" y="2606040"/>
            <a:ext cx="54864" cy="54864"/>
          </a:xfrm>
          <a:prstGeom prst="rect">
            <a:avLst/>
          </a:prstGeom>
          <a:solidFill>
            <a:srgbClr val="9E9E9E"/>
          </a:solidFill>
          <a:ln w="12700">
            <a:solidFill>
              <a:srgbClr val="9E9E9E"/>
            </a:solidFill>
            <a:prstDash val="solid"/>
          </a:ln>
        </p:spPr>
      </p:sp>
      <p:sp>
        <p:nvSpPr>
          <p:cNvPr id="65" name="Shape 63"/>
          <p:cNvSpPr/>
          <p:nvPr/>
        </p:nvSpPr>
        <p:spPr>
          <a:xfrm>
            <a:off x="6428232" y="2852928"/>
            <a:ext cx="54864" cy="54864"/>
          </a:xfrm>
          <a:prstGeom prst="rect">
            <a:avLst/>
          </a:prstGeom>
          <a:solidFill>
            <a:srgbClr val="9E9E9E"/>
          </a:solidFill>
          <a:ln w="12700">
            <a:solidFill>
              <a:srgbClr val="9E9E9E"/>
            </a:solidFill>
            <a:prstDash val="solid"/>
          </a:ln>
        </p:spPr>
      </p:sp>
      <p:sp>
        <p:nvSpPr>
          <p:cNvPr id="66" name="Shape 64"/>
          <p:cNvSpPr/>
          <p:nvPr/>
        </p:nvSpPr>
        <p:spPr>
          <a:xfrm>
            <a:off x="6428232" y="3099816"/>
            <a:ext cx="54864" cy="54864"/>
          </a:xfrm>
          <a:prstGeom prst="rect">
            <a:avLst/>
          </a:prstGeom>
          <a:solidFill>
            <a:srgbClr val="9E9E9E"/>
          </a:solidFill>
          <a:ln w="12700">
            <a:solidFill>
              <a:srgbClr val="9E9E9E"/>
            </a:solidFill>
            <a:prstDash val="solid"/>
          </a:ln>
        </p:spPr>
      </p:sp>
      <p:sp>
        <p:nvSpPr>
          <p:cNvPr id="67" name="Shape 65"/>
          <p:cNvSpPr/>
          <p:nvPr/>
        </p:nvSpPr>
        <p:spPr>
          <a:xfrm>
            <a:off x="6428232" y="3346704"/>
            <a:ext cx="54864" cy="54864"/>
          </a:xfrm>
          <a:prstGeom prst="rect">
            <a:avLst/>
          </a:prstGeom>
          <a:solidFill>
            <a:srgbClr val="9E9E9E"/>
          </a:solidFill>
          <a:ln w="12700">
            <a:solidFill>
              <a:srgbClr val="9E9E9E"/>
            </a:solidFill>
            <a:prstDash val="solid"/>
          </a:ln>
        </p:spPr>
      </p:sp>
      <p:sp>
        <p:nvSpPr>
          <p:cNvPr id="68" name="Shape 66"/>
          <p:cNvSpPr/>
          <p:nvPr/>
        </p:nvSpPr>
        <p:spPr>
          <a:xfrm>
            <a:off x="6428232" y="3593592"/>
            <a:ext cx="54864" cy="54864"/>
          </a:xfrm>
          <a:prstGeom prst="rect">
            <a:avLst/>
          </a:prstGeom>
          <a:solidFill>
            <a:srgbClr val="9E9E9E"/>
          </a:solidFill>
          <a:ln w="12700">
            <a:solidFill>
              <a:srgbClr val="9E9E9E"/>
            </a:solidFill>
            <a:prstDash val="solid"/>
          </a:ln>
        </p:spPr>
      </p:sp>
      <p:sp>
        <p:nvSpPr>
          <p:cNvPr id="69" name="Shape 67"/>
          <p:cNvSpPr/>
          <p:nvPr/>
        </p:nvSpPr>
        <p:spPr>
          <a:xfrm>
            <a:off x="6428232" y="3840480"/>
            <a:ext cx="54864" cy="54864"/>
          </a:xfrm>
          <a:prstGeom prst="rect">
            <a:avLst/>
          </a:prstGeom>
          <a:solidFill>
            <a:srgbClr val="9E9E9E"/>
          </a:solidFill>
          <a:ln w="12700">
            <a:solidFill>
              <a:srgbClr val="9E9E9E"/>
            </a:solidFill>
            <a:prstDash val="solid"/>
          </a:ln>
        </p:spPr>
      </p:sp>
      <p:sp>
        <p:nvSpPr>
          <p:cNvPr id="70" name="Shape 68"/>
          <p:cNvSpPr/>
          <p:nvPr/>
        </p:nvSpPr>
        <p:spPr>
          <a:xfrm>
            <a:off x="6428232" y="4087368"/>
            <a:ext cx="54864" cy="54864"/>
          </a:xfrm>
          <a:prstGeom prst="rect">
            <a:avLst/>
          </a:prstGeom>
          <a:solidFill>
            <a:srgbClr val="9E9E9E"/>
          </a:solidFill>
          <a:ln w="12700">
            <a:solidFill>
              <a:srgbClr val="9E9E9E"/>
            </a:solidFill>
            <a:prstDash val="solid"/>
          </a:ln>
        </p:spPr>
      </p:sp>
      <p:sp>
        <p:nvSpPr>
          <p:cNvPr id="71" name="Shape 69"/>
          <p:cNvSpPr/>
          <p:nvPr/>
        </p:nvSpPr>
        <p:spPr>
          <a:xfrm>
            <a:off x="6665976" y="1371600"/>
            <a:ext cx="54864" cy="54864"/>
          </a:xfrm>
          <a:prstGeom prst="rect">
            <a:avLst/>
          </a:prstGeom>
          <a:solidFill>
            <a:srgbClr val="9E9E9E"/>
          </a:solidFill>
          <a:ln w="12700">
            <a:solidFill>
              <a:srgbClr val="9E9E9E"/>
            </a:solidFill>
            <a:prstDash val="solid"/>
          </a:ln>
        </p:spPr>
      </p:sp>
      <p:sp>
        <p:nvSpPr>
          <p:cNvPr id="72" name="Shape 70"/>
          <p:cNvSpPr/>
          <p:nvPr/>
        </p:nvSpPr>
        <p:spPr>
          <a:xfrm>
            <a:off x="6665976" y="1618488"/>
            <a:ext cx="54864" cy="54864"/>
          </a:xfrm>
          <a:prstGeom prst="rect">
            <a:avLst/>
          </a:prstGeom>
          <a:solidFill>
            <a:srgbClr val="9E9E9E"/>
          </a:solidFill>
          <a:ln w="12700">
            <a:solidFill>
              <a:srgbClr val="9E9E9E"/>
            </a:solidFill>
            <a:prstDash val="solid"/>
          </a:ln>
        </p:spPr>
      </p:sp>
      <p:sp>
        <p:nvSpPr>
          <p:cNvPr id="73" name="Shape 71"/>
          <p:cNvSpPr/>
          <p:nvPr/>
        </p:nvSpPr>
        <p:spPr>
          <a:xfrm>
            <a:off x="6665976" y="1865376"/>
            <a:ext cx="54864" cy="54864"/>
          </a:xfrm>
          <a:prstGeom prst="rect">
            <a:avLst/>
          </a:prstGeom>
          <a:solidFill>
            <a:srgbClr val="9E9E9E"/>
          </a:solidFill>
          <a:ln w="12700">
            <a:solidFill>
              <a:srgbClr val="9E9E9E"/>
            </a:solidFill>
            <a:prstDash val="solid"/>
          </a:ln>
        </p:spPr>
      </p:sp>
      <p:sp>
        <p:nvSpPr>
          <p:cNvPr id="74" name="Shape 72"/>
          <p:cNvSpPr/>
          <p:nvPr/>
        </p:nvSpPr>
        <p:spPr>
          <a:xfrm>
            <a:off x="6665976" y="2112264"/>
            <a:ext cx="54864" cy="54864"/>
          </a:xfrm>
          <a:prstGeom prst="rect">
            <a:avLst/>
          </a:prstGeom>
          <a:solidFill>
            <a:srgbClr val="9E9E9E"/>
          </a:solidFill>
          <a:ln w="12700">
            <a:solidFill>
              <a:srgbClr val="9E9E9E"/>
            </a:solidFill>
            <a:prstDash val="solid"/>
          </a:ln>
        </p:spPr>
      </p:sp>
      <p:sp>
        <p:nvSpPr>
          <p:cNvPr id="75" name="Shape 73"/>
          <p:cNvSpPr/>
          <p:nvPr/>
        </p:nvSpPr>
        <p:spPr>
          <a:xfrm>
            <a:off x="6665976" y="2359152"/>
            <a:ext cx="54864" cy="54864"/>
          </a:xfrm>
          <a:prstGeom prst="rect">
            <a:avLst/>
          </a:prstGeom>
          <a:solidFill>
            <a:srgbClr val="9E9E9E"/>
          </a:solidFill>
          <a:ln w="12700">
            <a:solidFill>
              <a:srgbClr val="9E9E9E"/>
            </a:solidFill>
            <a:prstDash val="solid"/>
          </a:ln>
        </p:spPr>
      </p:sp>
      <p:sp>
        <p:nvSpPr>
          <p:cNvPr id="76" name="Shape 74"/>
          <p:cNvSpPr/>
          <p:nvPr/>
        </p:nvSpPr>
        <p:spPr>
          <a:xfrm>
            <a:off x="6665976" y="2606040"/>
            <a:ext cx="54864" cy="54864"/>
          </a:xfrm>
          <a:prstGeom prst="rect">
            <a:avLst/>
          </a:prstGeom>
          <a:solidFill>
            <a:srgbClr val="9E9E9E"/>
          </a:solidFill>
          <a:ln w="12700">
            <a:solidFill>
              <a:srgbClr val="9E9E9E"/>
            </a:solidFill>
            <a:prstDash val="solid"/>
          </a:ln>
        </p:spPr>
      </p:sp>
      <p:sp>
        <p:nvSpPr>
          <p:cNvPr id="77" name="Shape 75"/>
          <p:cNvSpPr/>
          <p:nvPr/>
        </p:nvSpPr>
        <p:spPr>
          <a:xfrm>
            <a:off x="6665976" y="2852928"/>
            <a:ext cx="54864" cy="54864"/>
          </a:xfrm>
          <a:prstGeom prst="rect">
            <a:avLst/>
          </a:prstGeom>
          <a:solidFill>
            <a:srgbClr val="9E9E9E"/>
          </a:solidFill>
          <a:ln w="12700">
            <a:solidFill>
              <a:srgbClr val="9E9E9E"/>
            </a:solidFill>
            <a:prstDash val="solid"/>
          </a:ln>
        </p:spPr>
      </p:sp>
      <p:sp>
        <p:nvSpPr>
          <p:cNvPr id="78" name="Shape 76"/>
          <p:cNvSpPr/>
          <p:nvPr/>
        </p:nvSpPr>
        <p:spPr>
          <a:xfrm>
            <a:off x="6665976" y="3099816"/>
            <a:ext cx="54864" cy="54864"/>
          </a:xfrm>
          <a:prstGeom prst="rect">
            <a:avLst/>
          </a:prstGeom>
          <a:solidFill>
            <a:srgbClr val="9E9E9E"/>
          </a:solidFill>
          <a:ln w="12700">
            <a:solidFill>
              <a:srgbClr val="9E9E9E"/>
            </a:solidFill>
            <a:prstDash val="solid"/>
          </a:ln>
        </p:spPr>
      </p:sp>
      <p:sp>
        <p:nvSpPr>
          <p:cNvPr id="79" name="Shape 77"/>
          <p:cNvSpPr/>
          <p:nvPr/>
        </p:nvSpPr>
        <p:spPr>
          <a:xfrm>
            <a:off x="6665976" y="3346704"/>
            <a:ext cx="54864" cy="54864"/>
          </a:xfrm>
          <a:prstGeom prst="rect">
            <a:avLst/>
          </a:prstGeom>
          <a:solidFill>
            <a:srgbClr val="9E9E9E"/>
          </a:solidFill>
          <a:ln w="12700">
            <a:solidFill>
              <a:srgbClr val="9E9E9E"/>
            </a:solidFill>
            <a:prstDash val="solid"/>
          </a:ln>
        </p:spPr>
      </p:sp>
      <p:sp>
        <p:nvSpPr>
          <p:cNvPr id="80" name="Shape 78"/>
          <p:cNvSpPr/>
          <p:nvPr/>
        </p:nvSpPr>
        <p:spPr>
          <a:xfrm>
            <a:off x="6665976" y="3593592"/>
            <a:ext cx="54864" cy="54864"/>
          </a:xfrm>
          <a:prstGeom prst="rect">
            <a:avLst/>
          </a:prstGeom>
          <a:solidFill>
            <a:srgbClr val="9E9E9E"/>
          </a:solidFill>
          <a:ln w="12700">
            <a:solidFill>
              <a:srgbClr val="9E9E9E"/>
            </a:solidFill>
            <a:prstDash val="solid"/>
          </a:ln>
        </p:spPr>
      </p:sp>
      <p:sp>
        <p:nvSpPr>
          <p:cNvPr id="81" name="Shape 79"/>
          <p:cNvSpPr/>
          <p:nvPr/>
        </p:nvSpPr>
        <p:spPr>
          <a:xfrm>
            <a:off x="6665976" y="3840480"/>
            <a:ext cx="54864" cy="54864"/>
          </a:xfrm>
          <a:prstGeom prst="rect">
            <a:avLst/>
          </a:prstGeom>
          <a:solidFill>
            <a:srgbClr val="9E9E9E"/>
          </a:solidFill>
          <a:ln w="12700">
            <a:solidFill>
              <a:srgbClr val="9E9E9E"/>
            </a:solidFill>
            <a:prstDash val="solid"/>
          </a:ln>
        </p:spPr>
      </p:sp>
      <p:sp>
        <p:nvSpPr>
          <p:cNvPr id="82" name="Shape 80"/>
          <p:cNvSpPr/>
          <p:nvPr/>
        </p:nvSpPr>
        <p:spPr>
          <a:xfrm>
            <a:off x="6665976" y="4087368"/>
            <a:ext cx="54864" cy="54864"/>
          </a:xfrm>
          <a:prstGeom prst="rect">
            <a:avLst/>
          </a:prstGeom>
          <a:solidFill>
            <a:srgbClr val="9E9E9E"/>
          </a:solidFill>
          <a:ln w="12700">
            <a:solidFill>
              <a:srgbClr val="9E9E9E"/>
            </a:solidFill>
            <a:prstDash val="solid"/>
          </a:ln>
        </p:spPr>
      </p:sp>
      <p:sp>
        <p:nvSpPr>
          <p:cNvPr id="83" name="Shape 81"/>
          <p:cNvSpPr/>
          <p:nvPr/>
        </p:nvSpPr>
        <p:spPr>
          <a:xfrm>
            <a:off x="7278624" y="1371600"/>
            <a:ext cx="54864" cy="54864"/>
          </a:xfrm>
          <a:prstGeom prst="rect">
            <a:avLst/>
          </a:prstGeom>
          <a:solidFill>
            <a:srgbClr val="9E9E9E"/>
          </a:solidFill>
          <a:ln w="12700">
            <a:solidFill>
              <a:srgbClr val="9E9E9E"/>
            </a:solidFill>
            <a:prstDash val="solid"/>
          </a:ln>
        </p:spPr>
      </p:sp>
      <p:sp>
        <p:nvSpPr>
          <p:cNvPr id="84" name="Shape 82"/>
          <p:cNvSpPr/>
          <p:nvPr/>
        </p:nvSpPr>
        <p:spPr>
          <a:xfrm>
            <a:off x="7278624" y="1618488"/>
            <a:ext cx="54864" cy="54864"/>
          </a:xfrm>
          <a:prstGeom prst="rect">
            <a:avLst/>
          </a:prstGeom>
          <a:solidFill>
            <a:srgbClr val="9E9E9E"/>
          </a:solidFill>
          <a:ln w="12700">
            <a:solidFill>
              <a:srgbClr val="9E9E9E"/>
            </a:solidFill>
            <a:prstDash val="solid"/>
          </a:ln>
        </p:spPr>
      </p:sp>
      <p:sp>
        <p:nvSpPr>
          <p:cNvPr id="85" name="Shape 83"/>
          <p:cNvSpPr/>
          <p:nvPr/>
        </p:nvSpPr>
        <p:spPr>
          <a:xfrm>
            <a:off x="7278624" y="1865376"/>
            <a:ext cx="54864" cy="54864"/>
          </a:xfrm>
          <a:prstGeom prst="rect">
            <a:avLst/>
          </a:prstGeom>
          <a:solidFill>
            <a:srgbClr val="9E9E9E"/>
          </a:solidFill>
          <a:ln w="12700">
            <a:solidFill>
              <a:srgbClr val="9E9E9E"/>
            </a:solidFill>
            <a:prstDash val="solid"/>
          </a:ln>
        </p:spPr>
      </p:sp>
      <p:sp>
        <p:nvSpPr>
          <p:cNvPr id="86" name="Shape 84"/>
          <p:cNvSpPr/>
          <p:nvPr/>
        </p:nvSpPr>
        <p:spPr>
          <a:xfrm>
            <a:off x="7278624" y="2112264"/>
            <a:ext cx="54864" cy="54864"/>
          </a:xfrm>
          <a:prstGeom prst="rect">
            <a:avLst/>
          </a:prstGeom>
          <a:solidFill>
            <a:srgbClr val="9E9E9E"/>
          </a:solidFill>
          <a:ln w="12700">
            <a:solidFill>
              <a:srgbClr val="9E9E9E"/>
            </a:solidFill>
            <a:prstDash val="solid"/>
          </a:ln>
        </p:spPr>
      </p:sp>
      <p:sp>
        <p:nvSpPr>
          <p:cNvPr id="87" name="Shape 85"/>
          <p:cNvSpPr/>
          <p:nvPr/>
        </p:nvSpPr>
        <p:spPr>
          <a:xfrm>
            <a:off x="7278624" y="2359152"/>
            <a:ext cx="54864" cy="54864"/>
          </a:xfrm>
          <a:prstGeom prst="rect">
            <a:avLst/>
          </a:prstGeom>
          <a:solidFill>
            <a:srgbClr val="9E9E9E"/>
          </a:solidFill>
          <a:ln w="12700">
            <a:solidFill>
              <a:srgbClr val="9E9E9E"/>
            </a:solidFill>
            <a:prstDash val="solid"/>
          </a:ln>
        </p:spPr>
      </p:sp>
      <p:sp>
        <p:nvSpPr>
          <p:cNvPr id="88" name="Shape 86"/>
          <p:cNvSpPr/>
          <p:nvPr/>
        </p:nvSpPr>
        <p:spPr>
          <a:xfrm>
            <a:off x="7278624" y="2606040"/>
            <a:ext cx="54864" cy="54864"/>
          </a:xfrm>
          <a:prstGeom prst="rect">
            <a:avLst/>
          </a:prstGeom>
          <a:solidFill>
            <a:srgbClr val="9E9E9E"/>
          </a:solidFill>
          <a:ln w="12700">
            <a:solidFill>
              <a:srgbClr val="9E9E9E"/>
            </a:solidFill>
            <a:prstDash val="solid"/>
          </a:ln>
        </p:spPr>
      </p:sp>
      <p:sp>
        <p:nvSpPr>
          <p:cNvPr id="89" name="Shape 87"/>
          <p:cNvSpPr/>
          <p:nvPr/>
        </p:nvSpPr>
        <p:spPr>
          <a:xfrm>
            <a:off x="7278624" y="2852928"/>
            <a:ext cx="54864" cy="54864"/>
          </a:xfrm>
          <a:prstGeom prst="rect">
            <a:avLst/>
          </a:prstGeom>
          <a:solidFill>
            <a:srgbClr val="9E9E9E"/>
          </a:solidFill>
          <a:ln w="12700">
            <a:solidFill>
              <a:srgbClr val="9E9E9E"/>
            </a:solidFill>
            <a:prstDash val="solid"/>
          </a:ln>
        </p:spPr>
      </p:sp>
      <p:sp>
        <p:nvSpPr>
          <p:cNvPr id="90" name="Shape 88"/>
          <p:cNvSpPr/>
          <p:nvPr/>
        </p:nvSpPr>
        <p:spPr>
          <a:xfrm>
            <a:off x="7278624" y="3099816"/>
            <a:ext cx="54864" cy="54864"/>
          </a:xfrm>
          <a:prstGeom prst="rect">
            <a:avLst/>
          </a:prstGeom>
          <a:solidFill>
            <a:srgbClr val="9E9E9E"/>
          </a:solidFill>
          <a:ln w="12700">
            <a:solidFill>
              <a:srgbClr val="9E9E9E"/>
            </a:solidFill>
            <a:prstDash val="solid"/>
          </a:ln>
        </p:spPr>
      </p:sp>
      <p:sp>
        <p:nvSpPr>
          <p:cNvPr id="91" name="Shape 89"/>
          <p:cNvSpPr/>
          <p:nvPr/>
        </p:nvSpPr>
        <p:spPr>
          <a:xfrm>
            <a:off x="7278624" y="3346704"/>
            <a:ext cx="54864" cy="54864"/>
          </a:xfrm>
          <a:prstGeom prst="rect">
            <a:avLst/>
          </a:prstGeom>
          <a:solidFill>
            <a:srgbClr val="9E9E9E"/>
          </a:solidFill>
          <a:ln w="12700">
            <a:solidFill>
              <a:srgbClr val="9E9E9E"/>
            </a:solidFill>
            <a:prstDash val="solid"/>
          </a:ln>
        </p:spPr>
      </p:sp>
      <p:sp>
        <p:nvSpPr>
          <p:cNvPr id="92" name="Shape 90"/>
          <p:cNvSpPr/>
          <p:nvPr/>
        </p:nvSpPr>
        <p:spPr>
          <a:xfrm>
            <a:off x="7278624" y="3593592"/>
            <a:ext cx="54864" cy="54864"/>
          </a:xfrm>
          <a:prstGeom prst="rect">
            <a:avLst/>
          </a:prstGeom>
          <a:solidFill>
            <a:srgbClr val="9E9E9E"/>
          </a:solidFill>
          <a:ln w="12700">
            <a:solidFill>
              <a:srgbClr val="9E9E9E"/>
            </a:solidFill>
            <a:prstDash val="solid"/>
          </a:ln>
        </p:spPr>
      </p:sp>
      <p:sp>
        <p:nvSpPr>
          <p:cNvPr id="93" name="Shape 91"/>
          <p:cNvSpPr/>
          <p:nvPr/>
        </p:nvSpPr>
        <p:spPr>
          <a:xfrm>
            <a:off x="7278624" y="3840480"/>
            <a:ext cx="54864" cy="54864"/>
          </a:xfrm>
          <a:prstGeom prst="rect">
            <a:avLst/>
          </a:prstGeom>
          <a:solidFill>
            <a:srgbClr val="9E9E9E"/>
          </a:solidFill>
          <a:ln w="12700">
            <a:solidFill>
              <a:srgbClr val="9E9E9E"/>
            </a:solidFill>
            <a:prstDash val="solid"/>
          </a:ln>
        </p:spPr>
      </p:sp>
      <p:sp>
        <p:nvSpPr>
          <p:cNvPr id="94" name="Shape 92"/>
          <p:cNvSpPr/>
          <p:nvPr/>
        </p:nvSpPr>
        <p:spPr>
          <a:xfrm>
            <a:off x="7278624" y="4087368"/>
            <a:ext cx="54864" cy="54864"/>
          </a:xfrm>
          <a:prstGeom prst="rect">
            <a:avLst/>
          </a:prstGeom>
          <a:solidFill>
            <a:srgbClr val="9E9E9E"/>
          </a:solidFill>
          <a:ln w="12700">
            <a:solidFill>
              <a:srgbClr val="9E9E9E"/>
            </a:solidFill>
            <a:prstDash val="solid"/>
          </a:ln>
        </p:spPr>
      </p:sp>
      <p:sp>
        <p:nvSpPr>
          <p:cNvPr id="95" name="Shape 93"/>
          <p:cNvSpPr/>
          <p:nvPr/>
        </p:nvSpPr>
        <p:spPr>
          <a:xfrm>
            <a:off x="7516368" y="1371600"/>
            <a:ext cx="54864" cy="54864"/>
          </a:xfrm>
          <a:prstGeom prst="rect">
            <a:avLst/>
          </a:prstGeom>
          <a:solidFill>
            <a:srgbClr val="9E9E9E"/>
          </a:solidFill>
          <a:ln w="12700">
            <a:solidFill>
              <a:srgbClr val="9E9E9E"/>
            </a:solidFill>
            <a:prstDash val="solid"/>
          </a:ln>
        </p:spPr>
      </p:sp>
      <p:sp>
        <p:nvSpPr>
          <p:cNvPr id="96" name="Shape 94"/>
          <p:cNvSpPr/>
          <p:nvPr/>
        </p:nvSpPr>
        <p:spPr>
          <a:xfrm>
            <a:off x="7516368" y="1618488"/>
            <a:ext cx="54864" cy="54864"/>
          </a:xfrm>
          <a:prstGeom prst="rect">
            <a:avLst/>
          </a:prstGeom>
          <a:solidFill>
            <a:srgbClr val="9E9E9E"/>
          </a:solidFill>
          <a:ln w="12700">
            <a:solidFill>
              <a:srgbClr val="9E9E9E"/>
            </a:solidFill>
            <a:prstDash val="solid"/>
          </a:ln>
        </p:spPr>
      </p:sp>
      <p:sp>
        <p:nvSpPr>
          <p:cNvPr id="97" name="Shape 95"/>
          <p:cNvSpPr/>
          <p:nvPr/>
        </p:nvSpPr>
        <p:spPr>
          <a:xfrm>
            <a:off x="7516368" y="1865376"/>
            <a:ext cx="54864" cy="54864"/>
          </a:xfrm>
          <a:prstGeom prst="rect">
            <a:avLst/>
          </a:prstGeom>
          <a:solidFill>
            <a:srgbClr val="9E9E9E"/>
          </a:solidFill>
          <a:ln w="12700">
            <a:solidFill>
              <a:srgbClr val="9E9E9E"/>
            </a:solidFill>
            <a:prstDash val="solid"/>
          </a:ln>
        </p:spPr>
      </p:sp>
      <p:sp>
        <p:nvSpPr>
          <p:cNvPr id="98" name="Shape 96"/>
          <p:cNvSpPr/>
          <p:nvPr/>
        </p:nvSpPr>
        <p:spPr>
          <a:xfrm>
            <a:off x="7516368" y="2112264"/>
            <a:ext cx="54864" cy="54864"/>
          </a:xfrm>
          <a:prstGeom prst="rect">
            <a:avLst/>
          </a:prstGeom>
          <a:solidFill>
            <a:srgbClr val="9E9E9E"/>
          </a:solidFill>
          <a:ln w="12700">
            <a:solidFill>
              <a:srgbClr val="9E9E9E"/>
            </a:solidFill>
            <a:prstDash val="solid"/>
          </a:ln>
        </p:spPr>
      </p:sp>
      <p:sp>
        <p:nvSpPr>
          <p:cNvPr id="99" name="Shape 97"/>
          <p:cNvSpPr/>
          <p:nvPr/>
        </p:nvSpPr>
        <p:spPr>
          <a:xfrm>
            <a:off x="7516368" y="2359152"/>
            <a:ext cx="54864" cy="54864"/>
          </a:xfrm>
          <a:prstGeom prst="rect">
            <a:avLst/>
          </a:prstGeom>
          <a:solidFill>
            <a:srgbClr val="9E9E9E"/>
          </a:solidFill>
          <a:ln w="12700">
            <a:solidFill>
              <a:srgbClr val="9E9E9E"/>
            </a:solidFill>
            <a:prstDash val="solid"/>
          </a:ln>
        </p:spPr>
      </p:sp>
      <p:sp>
        <p:nvSpPr>
          <p:cNvPr id="100" name="Shape 98"/>
          <p:cNvSpPr/>
          <p:nvPr/>
        </p:nvSpPr>
        <p:spPr>
          <a:xfrm>
            <a:off x="7516368" y="2606040"/>
            <a:ext cx="54864" cy="54864"/>
          </a:xfrm>
          <a:prstGeom prst="rect">
            <a:avLst/>
          </a:prstGeom>
          <a:solidFill>
            <a:srgbClr val="9E9E9E"/>
          </a:solidFill>
          <a:ln w="12700">
            <a:solidFill>
              <a:srgbClr val="9E9E9E"/>
            </a:solidFill>
            <a:prstDash val="solid"/>
          </a:ln>
        </p:spPr>
      </p:sp>
      <p:sp>
        <p:nvSpPr>
          <p:cNvPr id="101" name="Shape 99"/>
          <p:cNvSpPr/>
          <p:nvPr/>
        </p:nvSpPr>
        <p:spPr>
          <a:xfrm>
            <a:off x="7516368" y="2852928"/>
            <a:ext cx="54864" cy="54864"/>
          </a:xfrm>
          <a:prstGeom prst="rect">
            <a:avLst/>
          </a:prstGeom>
          <a:solidFill>
            <a:srgbClr val="9E9E9E"/>
          </a:solidFill>
          <a:ln w="12700">
            <a:solidFill>
              <a:srgbClr val="9E9E9E"/>
            </a:solidFill>
            <a:prstDash val="solid"/>
          </a:ln>
        </p:spPr>
      </p:sp>
      <p:sp>
        <p:nvSpPr>
          <p:cNvPr id="102" name="Shape 100"/>
          <p:cNvSpPr/>
          <p:nvPr/>
        </p:nvSpPr>
        <p:spPr>
          <a:xfrm>
            <a:off x="7516368" y="3099816"/>
            <a:ext cx="54864" cy="54864"/>
          </a:xfrm>
          <a:prstGeom prst="rect">
            <a:avLst/>
          </a:prstGeom>
          <a:solidFill>
            <a:srgbClr val="9E9E9E"/>
          </a:solidFill>
          <a:ln w="12700">
            <a:solidFill>
              <a:srgbClr val="9E9E9E"/>
            </a:solidFill>
            <a:prstDash val="solid"/>
          </a:ln>
        </p:spPr>
      </p:sp>
      <p:sp>
        <p:nvSpPr>
          <p:cNvPr id="103" name="Shape 101"/>
          <p:cNvSpPr/>
          <p:nvPr/>
        </p:nvSpPr>
        <p:spPr>
          <a:xfrm>
            <a:off x="7516368" y="3346704"/>
            <a:ext cx="54864" cy="54864"/>
          </a:xfrm>
          <a:prstGeom prst="rect">
            <a:avLst/>
          </a:prstGeom>
          <a:solidFill>
            <a:srgbClr val="9E9E9E"/>
          </a:solidFill>
          <a:ln w="12700">
            <a:solidFill>
              <a:srgbClr val="9E9E9E"/>
            </a:solidFill>
            <a:prstDash val="solid"/>
          </a:ln>
        </p:spPr>
      </p:sp>
      <p:sp>
        <p:nvSpPr>
          <p:cNvPr id="104" name="Shape 102"/>
          <p:cNvSpPr/>
          <p:nvPr/>
        </p:nvSpPr>
        <p:spPr>
          <a:xfrm>
            <a:off x="7516368" y="3593592"/>
            <a:ext cx="54864" cy="54864"/>
          </a:xfrm>
          <a:prstGeom prst="rect">
            <a:avLst/>
          </a:prstGeom>
          <a:solidFill>
            <a:srgbClr val="9E9E9E"/>
          </a:solidFill>
          <a:ln w="12700">
            <a:solidFill>
              <a:srgbClr val="9E9E9E"/>
            </a:solidFill>
            <a:prstDash val="solid"/>
          </a:ln>
        </p:spPr>
      </p:sp>
      <p:sp>
        <p:nvSpPr>
          <p:cNvPr id="105" name="Shape 103"/>
          <p:cNvSpPr/>
          <p:nvPr/>
        </p:nvSpPr>
        <p:spPr>
          <a:xfrm>
            <a:off x="7516368" y="3840480"/>
            <a:ext cx="54864" cy="54864"/>
          </a:xfrm>
          <a:prstGeom prst="rect">
            <a:avLst/>
          </a:prstGeom>
          <a:solidFill>
            <a:srgbClr val="9E9E9E"/>
          </a:solidFill>
          <a:ln w="12700">
            <a:solidFill>
              <a:srgbClr val="9E9E9E"/>
            </a:solidFill>
            <a:prstDash val="solid"/>
          </a:ln>
        </p:spPr>
      </p:sp>
      <p:sp>
        <p:nvSpPr>
          <p:cNvPr id="106" name="Shape 104"/>
          <p:cNvSpPr/>
          <p:nvPr/>
        </p:nvSpPr>
        <p:spPr>
          <a:xfrm>
            <a:off x="7516368" y="4087368"/>
            <a:ext cx="54864" cy="54864"/>
          </a:xfrm>
          <a:prstGeom prst="rect">
            <a:avLst/>
          </a:prstGeom>
          <a:solidFill>
            <a:srgbClr val="9E9E9E"/>
          </a:solidFill>
          <a:ln w="12700">
            <a:solidFill>
              <a:srgbClr val="9E9E9E"/>
            </a:solidFill>
            <a:prstDash val="solid"/>
          </a:ln>
        </p:spPr>
      </p:sp>
      <p:sp>
        <p:nvSpPr>
          <p:cNvPr id="107" name="Shape 105"/>
          <p:cNvSpPr/>
          <p:nvPr/>
        </p:nvSpPr>
        <p:spPr>
          <a:xfrm>
            <a:off x="7754112" y="1371600"/>
            <a:ext cx="54864" cy="54864"/>
          </a:xfrm>
          <a:prstGeom prst="rect">
            <a:avLst/>
          </a:prstGeom>
          <a:solidFill>
            <a:srgbClr val="9E9E9E"/>
          </a:solidFill>
          <a:ln w="12700">
            <a:solidFill>
              <a:srgbClr val="9E9E9E"/>
            </a:solidFill>
            <a:prstDash val="solid"/>
          </a:ln>
        </p:spPr>
      </p:sp>
      <p:sp>
        <p:nvSpPr>
          <p:cNvPr id="108" name="Shape 106"/>
          <p:cNvSpPr/>
          <p:nvPr/>
        </p:nvSpPr>
        <p:spPr>
          <a:xfrm>
            <a:off x="7754112" y="1618488"/>
            <a:ext cx="54864" cy="54864"/>
          </a:xfrm>
          <a:prstGeom prst="rect">
            <a:avLst/>
          </a:prstGeom>
          <a:solidFill>
            <a:srgbClr val="9E9E9E"/>
          </a:solidFill>
          <a:ln w="12700">
            <a:solidFill>
              <a:srgbClr val="9E9E9E"/>
            </a:solidFill>
            <a:prstDash val="solid"/>
          </a:ln>
        </p:spPr>
      </p:sp>
      <p:sp>
        <p:nvSpPr>
          <p:cNvPr id="109" name="Shape 107"/>
          <p:cNvSpPr/>
          <p:nvPr/>
        </p:nvSpPr>
        <p:spPr>
          <a:xfrm>
            <a:off x="7754112" y="1865376"/>
            <a:ext cx="54864" cy="54864"/>
          </a:xfrm>
          <a:prstGeom prst="rect">
            <a:avLst/>
          </a:prstGeom>
          <a:solidFill>
            <a:srgbClr val="9E9E9E"/>
          </a:solidFill>
          <a:ln w="12700">
            <a:solidFill>
              <a:srgbClr val="9E9E9E"/>
            </a:solidFill>
            <a:prstDash val="solid"/>
          </a:ln>
        </p:spPr>
      </p:sp>
      <p:sp>
        <p:nvSpPr>
          <p:cNvPr id="110" name="Shape 108"/>
          <p:cNvSpPr/>
          <p:nvPr/>
        </p:nvSpPr>
        <p:spPr>
          <a:xfrm>
            <a:off x="7754112" y="2112264"/>
            <a:ext cx="54864" cy="54864"/>
          </a:xfrm>
          <a:prstGeom prst="rect">
            <a:avLst/>
          </a:prstGeom>
          <a:solidFill>
            <a:srgbClr val="9E9E9E"/>
          </a:solidFill>
          <a:ln w="12700">
            <a:solidFill>
              <a:srgbClr val="9E9E9E"/>
            </a:solidFill>
            <a:prstDash val="solid"/>
          </a:ln>
        </p:spPr>
      </p:sp>
      <p:sp>
        <p:nvSpPr>
          <p:cNvPr id="111" name="Shape 109"/>
          <p:cNvSpPr/>
          <p:nvPr/>
        </p:nvSpPr>
        <p:spPr>
          <a:xfrm>
            <a:off x="7754112" y="2359152"/>
            <a:ext cx="54864" cy="54864"/>
          </a:xfrm>
          <a:prstGeom prst="rect">
            <a:avLst/>
          </a:prstGeom>
          <a:solidFill>
            <a:srgbClr val="9E9E9E"/>
          </a:solidFill>
          <a:ln w="12700">
            <a:solidFill>
              <a:srgbClr val="9E9E9E"/>
            </a:solidFill>
            <a:prstDash val="solid"/>
          </a:ln>
        </p:spPr>
      </p:sp>
      <p:sp>
        <p:nvSpPr>
          <p:cNvPr id="112" name="Shape 110"/>
          <p:cNvSpPr/>
          <p:nvPr/>
        </p:nvSpPr>
        <p:spPr>
          <a:xfrm>
            <a:off x="7754112" y="2606040"/>
            <a:ext cx="54864" cy="54864"/>
          </a:xfrm>
          <a:prstGeom prst="rect">
            <a:avLst/>
          </a:prstGeom>
          <a:solidFill>
            <a:srgbClr val="9E9E9E"/>
          </a:solidFill>
          <a:ln w="12700">
            <a:solidFill>
              <a:srgbClr val="9E9E9E"/>
            </a:solidFill>
            <a:prstDash val="solid"/>
          </a:ln>
        </p:spPr>
      </p:sp>
      <p:sp>
        <p:nvSpPr>
          <p:cNvPr id="113" name="Shape 111"/>
          <p:cNvSpPr/>
          <p:nvPr/>
        </p:nvSpPr>
        <p:spPr>
          <a:xfrm>
            <a:off x="7754112" y="2852928"/>
            <a:ext cx="54864" cy="54864"/>
          </a:xfrm>
          <a:prstGeom prst="rect">
            <a:avLst/>
          </a:prstGeom>
          <a:solidFill>
            <a:srgbClr val="9E9E9E"/>
          </a:solidFill>
          <a:ln w="12700">
            <a:solidFill>
              <a:srgbClr val="9E9E9E"/>
            </a:solidFill>
            <a:prstDash val="solid"/>
          </a:ln>
        </p:spPr>
      </p:sp>
      <p:sp>
        <p:nvSpPr>
          <p:cNvPr id="114" name="Shape 112"/>
          <p:cNvSpPr/>
          <p:nvPr/>
        </p:nvSpPr>
        <p:spPr>
          <a:xfrm>
            <a:off x="7754112" y="3099816"/>
            <a:ext cx="54864" cy="54864"/>
          </a:xfrm>
          <a:prstGeom prst="rect">
            <a:avLst/>
          </a:prstGeom>
          <a:solidFill>
            <a:srgbClr val="9E9E9E"/>
          </a:solidFill>
          <a:ln w="12700">
            <a:solidFill>
              <a:srgbClr val="9E9E9E"/>
            </a:solidFill>
            <a:prstDash val="solid"/>
          </a:ln>
        </p:spPr>
      </p:sp>
      <p:sp>
        <p:nvSpPr>
          <p:cNvPr id="115" name="Shape 113"/>
          <p:cNvSpPr/>
          <p:nvPr/>
        </p:nvSpPr>
        <p:spPr>
          <a:xfrm>
            <a:off x="7754112" y="3346704"/>
            <a:ext cx="54864" cy="54864"/>
          </a:xfrm>
          <a:prstGeom prst="rect">
            <a:avLst/>
          </a:prstGeom>
          <a:solidFill>
            <a:srgbClr val="9E9E9E"/>
          </a:solidFill>
          <a:ln w="12700">
            <a:solidFill>
              <a:srgbClr val="9E9E9E"/>
            </a:solidFill>
            <a:prstDash val="solid"/>
          </a:ln>
        </p:spPr>
      </p:sp>
      <p:sp>
        <p:nvSpPr>
          <p:cNvPr id="116" name="Shape 114"/>
          <p:cNvSpPr/>
          <p:nvPr/>
        </p:nvSpPr>
        <p:spPr>
          <a:xfrm>
            <a:off x="7754112" y="3593592"/>
            <a:ext cx="54864" cy="54864"/>
          </a:xfrm>
          <a:prstGeom prst="rect">
            <a:avLst/>
          </a:prstGeom>
          <a:solidFill>
            <a:srgbClr val="9E9E9E"/>
          </a:solidFill>
          <a:ln w="12700">
            <a:solidFill>
              <a:srgbClr val="9E9E9E"/>
            </a:solidFill>
            <a:prstDash val="solid"/>
          </a:ln>
        </p:spPr>
      </p:sp>
      <p:sp>
        <p:nvSpPr>
          <p:cNvPr id="117" name="Shape 115"/>
          <p:cNvSpPr/>
          <p:nvPr/>
        </p:nvSpPr>
        <p:spPr>
          <a:xfrm>
            <a:off x="7754112" y="3840480"/>
            <a:ext cx="54864" cy="54864"/>
          </a:xfrm>
          <a:prstGeom prst="rect">
            <a:avLst/>
          </a:prstGeom>
          <a:solidFill>
            <a:srgbClr val="9E9E9E"/>
          </a:solidFill>
          <a:ln w="12700">
            <a:solidFill>
              <a:srgbClr val="9E9E9E"/>
            </a:solidFill>
            <a:prstDash val="solid"/>
          </a:ln>
        </p:spPr>
      </p:sp>
      <p:sp>
        <p:nvSpPr>
          <p:cNvPr id="118" name="Shape 116"/>
          <p:cNvSpPr/>
          <p:nvPr/>
        </p:nvSpPr>
        <p:spPr>
          <a:xfrm>
            <a:off x="7754112" y="4087368"/>
            <a:ext cx="54864" cy="54864"/>
          </a:xfrm>
          <a:prstGeom prst="rect">
            <a:avLst/>
          </a:prstGeom>
          <a:solidFill>
            <a:srgbClr val="9E9E9E"/>
          </a:solidFill>
          <a:ln w="12700">
            <a:solidFill>
              <a:srgbClr val="9E9E9E"/>
            </a:solidFill>
            <a:prstDash val="solid"/>
          </a:ln>
        </p:spPr>
      </p:sp>
      <p:sp>
        <p:nvSpPr>
          <p:cNvPr id="119" name="Shape 117"/>
          <p:cNvSpPr/>
          <p:nvPr/>
        </p:nvSpPr>
        <p:spPr>
          <a:xfrm>
            <a:off x="7991856" y="1371600"/>
            <a:ext cx="54864" cy="54864"/>
          </a:xfrm>
          <a:prstGeom prst="rect">
            <a:avLst/>
          </a:prstGeom>
          <a:solidFill>
            <a:srgbClr val="9E9E9E"/>
          </a:solidFill>
          <a:ln w="12700">
            <a:solidFill>
              <a:srgbClr val="9E9E9E"/>
            </a:solidFill>
            <a:prstDash val="solid"/>
          </a:ln>
        </p:spPr>
      </p:sp>
      <p:sp>
        <p:nvSpPr>
          <p:cNvPr id="120" name="Shape 118"/>
          <p:cNvSpPr/>
          <p:nvPr/>
        </p:nvSpPr>
        <p:spPr>
          <a:xfrm>
            <a:off x="7991856" y="1618488"/>
            <a:ext cx="54864" cy="54864"/>
          </a:xfrm>
          <a:prstGeom prst="rect">
            <a:avLst/>
          </a:prstGeom>
          <a:solidFill>
            <a:srgbClr val="9E9E9E"/>
          </a:solidFill>
          <a:ln w="12700">
            <a:solidFill>
              <a:srgbClr val="9E9E9E"/>
            </a:solidFill>
            <a:prstDash val="solid"/>
          </a:ln>
        </p:spPr>
      </p:sp>
      <p:sp>
        <p:nvSpPr>
          <p:cNvPr id="121" name="Shape 119"/>
          <p:cNvSpPr/>
          <p:nvPr/>
        </p:nvSpPr>
        <p:spPr>
          <a:xfrm>
            <a:off x="7991856" y="1865376"/>
            <a:ext cx="54864" cy="54864"/>
          </a:xfrm>
          <a:prstGeom prst="rect">
            <a:avLst/>
          </a:prstGeom>
          <a:solidFill>
            <a:srgbClr val="9E9E9E"/>
          </a:solidFill>
          <a:ln w="12700">
            <a:solidFill>
              <a:srgbClr val="9E9E9E"/>
            </a:solidFill>
            <a:prstDash val="solid"/>
          </a:ln>
        </p:spPr>
      </p:sp>
      <p:sp>
        <p:nvSpPr>
          <p:cNvPr id="122" name="Shape 120"/>
          <p:cNvSpPr/>
          <p:nvPr/>
        </p:nvSpPr>
        <p:spPr>
          <a:xfrm>
            <a:off x="7991856" y="2112264"/>
            <a:ext cx="54864" cy="54864"/>
          </a:xfrm>
          <a:prstGeom prst="rect">
            <a:avLst/>
          </a:prstGeom>
          <a:solidFill>
            <a:srgbClr val="9E9E9E"/>
          </a:solidFill>
          <a:ln w="12700">
            <a:solidFill>
              <a:srgbClr val="9E9E9E"/>
            </a:solidFill>
            <a:prstDash val="solid"/>
          </a:ln>
        </p:spPr>
      </p:sp>
      <p:sp>
        <p:nvSpPr>
          <p:cNvPr id="123" name="Shape 121"/>
          <p:cNvSpPr/>
          <p:nvPr/>
        </p:nvSpPr>
        <p:spPr>
          <a:xfrm>
            <a:off x="7991856" y="2359152"/>
            <a:ext cx="54864" cy="54864"/>
          </a:xfrm>
          <a:prstGeom prst="rect">
            <a:avLst/>
          </a:prstGeom>
          <a:solidFill>
            <a:srgbClr val="9E9E9E"/>
          </a:solidFill>
          <a:ln w="12700">
            <a:solidFill>
              <a:srgbClr val="9E9E9E"/>
            </a:solidFill>
            <a:prstDash val="solid"/>
          </a:ln>
        </p:spPr>
      </p:sp>
      <p:sp>
        <p:nvSpPr>
          <p:cNvPr id="124" name="Shape 122"/>
          <p:cNvSpPr/>
          <p:nvPr/>
        </p:nvSpPr>
        <p:spPr>
          <a:xfrm>
            <a:off x="7991856" y="2606040"/>
            <a:ext cx="54864" cy="54864"/>
          </a:xfrm>
          <a:prstGeom prst="rect">
            <a:avLst/>
          </a:prstGeom>
          <a:solidFill>
            <a:srgbClr val="9E9E9E"/>
          </a:solidFill>
          <a:ln w="12700">
            <a:solidFill>
              <a:srgbClr val="9E9E9E"/>
            </a:solidFill>
            <a:prstDash val="solid"/>
          </a:ln>
        </p:spPr>
      </p:sp>
      <p:sp>
        <p:nvSpPr>
          <p:cNvPr id="125" name="Shape 123"/>
          <p:cNvSpPr/>
          <p:nvPr/>
        </p:nvSpPr>
        <p:spPr>
          <a:xfrm>
            <a:off x="7991856" y="2852928"/>
            <a:ext cx="54864" cy="54864"/>
          </a:xfrm>
          <a:prstGeom prst="rect">
            <a:avLst/>
          </a:prstGeom>
          <a:solidFill>
            <a:srgbClr val="9E9E9E"/>
          </a:solidFill>
          <a:ln w="12700">
            <a:solidFill>
              <a:srgbClr val="9E9E9E"/>
            </a:solidFill>
            <a:prstDash val="solid"/>
          </a:ln>
        </p:spPr>
      </p:sp>
      <p:sp>
        <p:nvSpPr>
          <p:cNvPr id="126" name="Shape 124"/>
          <p:cNvSpPr/>
          <p:nvPr/>
        </p:nvSpPr>
        <p:spPr>
          <a:xfrm>
            <a:off x="7991856" y="3099816"/>
            <a:ext cx="54864" cy="54864"/>
          </a:xfrm>
          <a:prstGeom prst="rect">
            <a:avLst/>
          </a:prstGeom>
          <a:solidFill>
            <a:srgbClr val="9E9E9E"/>
          </a:solidFill>
          <a:ln w="12700">
            <a:solidFill>
              <a:srgbClr val="9E9E9E"/>
            </a:solidFill>
            <a:prstDash val="solid"/>
          </a:ln>
        </p:spPr>
      </p:sp>
      <p:sp>
        <p:nvSpPr>
          <p:cNvPr id="127" name="Shape 125"/>
          <p:cNvSpPr/>
          <p:nvPr/>
        </p:nvSpPr>
        <p:spPr>
          <a:xfrm>
            <a:off x="7991856" y="3346704"/>
            <a:ext cx="54864" cy="54864"/>
          </a:xfrm>
          <a:prstGeom prst="rect">
            <a:avLst/>
          </a:prstGeom>
          <a:solidFill>
            <a:srgbClr val="9E9E9E"/>
          </a:solidFill>
          <a:ln w="12700">
            <a:solidFill>
              <a:srgbClr val="9E9E9E"/>
            </a:solidFill>
            <a:prstDash val="solid"/>
          </a:ln>
        </p:spPr>
      </p:sp>
      <p:sp>
        <p:nvSpPr>
          <p:cNvPr id="128" name="Shape 126"/>
          <p:cNvSpPr/>
          <p:nvPr/>
        </p:nvSpPr>
        <p:spPr>
          <a:xfrm>
            <a:off x="7991856" y="3593592"/>
            <a:ext cx="54864" cy="54864"/>
          </a:xfrm>
          <a:prstGeom prst="rect">
            <a:avLst/>
          </a:prstGeom>
          <a:solidFill>
            <a:srgbClr val="9E9E9E"/>
          </a:solidFill>
          <a:ln w="12700">
            <a:solidFill>
              <a:srgbClr val="9E9E9E"/>
            </a:solidFill>
            <a:prstDash val="solid"/>
          </a:ln>
        </p:spPr>
      </p:sp>
      <p:sp>
        <p:nvSpPr>
          <p:cNvPr id="129" name="Shape 127"/>
          <p:cNvSpPr/>
          <p:nvPr/>
        </p:nvSpPr>
        <p:spPr>
          <a:xfrm>
            <a:off x="7991856" y="3840480"/>
            <a:ext cx="54864" cy="54864"/>
          </a:xfrm>
          <a:prstGeom prst="rect">
            <a:avLst/>
          </a:prstGeom>
          <a:solidFill>
            <a:srgbClr val="9E9E9E"/>
          </a:solidFill>
          <a:ln w="12700">
            <a:solidFill>
              <a:srgbClr val="9E9E9E"/>
            </a:solidFill>
            <a:prstDash val="solid"/>
          </a:ln>
        </p:spPr>
      </p:sp>
      <p:sp>
        <p:nvSpPr>
          <p:cNvPr id="130" name="Shape 128"/>
          <p:cNvSpPr/>
          <p:nvPr/>
        </p:nvSpPr>
        <p:spPr>
          <a:xfrm>
            <a:off x="7991856" y="4087368"/>
            <a:ext cx="54864" cy="54864"/>
          </a:xfrm>
          <a:prstGeom prst="rect">
            <a:avLst/>
          </a:prstGeom>
          <a:solidFill>
            <a:srgbClr val="9E9E9E"/>
          </a:solidFill>
          <a:ln w="12700">
            <a:solidFill>
              <a:srgbClr val="9E9E9E"/>
            </a:solidFill>
            <a:prstDash val="solid"/>
          </a:ln>
        </p:spPr>
      </p:sp>
      <p:sp>
        <p:nvSpPr>
          <p:cNvPr id="131" name="Shape 129"/>
          <p:cNvSpPr/>
          <p:nvPr/>
        </p:nvSpPr>
        <p:spPr>
          <a:xfrm>
            <a:off x="8229600" y="1371600"/>
            <a:ext cx="54864" cy="54864"/>
          </a:xfrm>
          <a:prstGeom prst="rect">
            <a:avLst/>
          </a:prstGeom>
          <a:solidFill>
            <a:srgbClr val="9E9E9E"/>
          </a:solidFill>
          <a:ln w="12700">
            <a:solidFill>
              <a:srgbClr val="9E9E9E"/>
            </a:solidFill>
            <a:prstDash val="solid"/>
          </a:ln>
        </p:spPr>
      </p:sp>
      <p:sp>
        <p:nvSpPr>
          <p:cNvPr id="132" name="Shape 130"/>
          <p:cNvSpPr/>
          <p:nvPr/>
        </p:nvSpPr>
        <p:spPr>
          <a:xfrm>
            <a:off x="8229600" y="1618488"/>
            <a:ext cx="54864" cy="54864"/>
          </a:xfrm>
          <a:prstGeom prst="rect">
            <a:avLst/>
          </a:prstGeom>
          <a:solidFill>
            <a:srgbClr val="9E9E9E"/>
          </a:solidFill>
          <a:ln w="12700">
            <a:solidFill>
              <a:srgbClr val="9E9E9E"/>
            </a:solidFill>
            <a:prstDash val="solid"/>
          </a:ln>
        </p:spPr>
      </p:sp>
      <p:sp>
        <p:nvSpPr>
          <p:cNvPr id="133" name="Shape 131"/>
          <p:cNvSpPr/>
          <p:nvPr/>
        </p:nvSpPr>
        <p:spPr>
          <a:xfrm>
            <a:off x="8229600" y="1865376"/>
            <a:ext cx="54864" cy="54864"/>
          </a:xfrm>
          <a:prstGeom prst="rect">
            <a:avLst/>
          </a:prstGeom>
          <a:solidFill>
            <a:srgbClr val="9E9E9E"/>
          </a:solidFill>
          <a:ln w="12700">
            <a:solidFill>
              <a:srgbClr val="9E9E9E"/>
            </a:solidFill>
            <a:prstDash val="solid"/>
          </a:ln>
        </p:spPr>
      </p:sp>
      <p:sp>
        <p:nvSpPr>
          <p:cNvPr id="134" name="Shape 132"/>
          <p:cNvSpPr/>
          <p:nvPr/>
        </p:nvSpPr>
        <p:spPr>
          <a:xfrm>
            <a:off x="8229600" y="2112264"/>
            <a:ext cx="54864" cy="54864"/>
          </a:xfrm>
          <a:prstGeom prst="rect">
            <a:avLst/>
          </a:prstGeom>
          <a:solidFill>
            <a:srgbClr val="9E9E9E"/>
          </a:solidFill>
          <a:ln w="12700">
            <a:solidFill>
              <a:srgbClr val="9E9E9E"/>
            </a:solidFill>
            <a:prstDash val="solid"/>
          </a:ln>
        </p:spPr>
      </p:sp>
      <p:sp>
        <p:nvSpPr>
          <p:cNvPr id="135" name="Shape 133"/>
          <p:cNvSpPr/>
          <p:nvPr/>
        </p:nvSpPr>
        <p:spPr>
          <a:xfrm>
            <a:off x="8229600" y="2359152"/>
            <a:ext cx="54864" cy="54864"/>
          </a:xfrm>
          <a:prstGeom prst="rect">
            <a:avLst/>
          </a:prstGeom>
          <a:solidFill>
            <a:srgbClr val="9E9E9E"/>
          </a:solidFill>
          <a:ln w="12700">
            <a:solidFill>
              <a:srgbClr val="9E9E9E"/>
            </a:solidFill>
            <a:prstDash val="solid"/>
          </a:ln>
        </p:spPr>
      </p:sp>
      <p:sp>
        <p:nvSpPr>
          <p:cNvPr id="136" name="Shape 134"/>
          <p:cNvSpPr/>
          <p:nvPr/>
        </p:nvSpPr>
        <p:spPr>
          <a:xfrm>
            <a:off x="8229600" y="2606040"/>
            <a:ext cx="54864" cy="54864"/>
          </a:xfrm>
          <a:prstGeom prst="rect">
            <a:avLst/>
          </a:prstGeom>
          <a:solidFill>
            <a:srgbClr val="9E9E9E"/>
          </a:solidFill>
          <a:ln w="12700">
            <a:solidFill>
              <a:srgbClr val="9E9E9E"/>
            </a:solidFill>
            <a:prstDash val="solid"/>
          </a:ln>
        </p:spPr>
      </p:sp>
      <p:sp>
        <p:nvSpPr>
          <p:cNvPr id="137" name="Shape 135"/>
          <p:cNvSpPr/>
          <p:nvPr/>
        </p:nvSpPr>
        <p:spPr>
          <a:xfrm>
            <a:off x="8229600" y="2852928"/>
            <a:ext cx="54864" cy="54864"/>
          </a:xfrm>
          <a:prstGeom prst="rect">
            <a:avLst/>
          </a:prstGeom>
          <a:solidFill>
            <a:srgbClr val="9E9E9E"/>
          </a:solidFill>
          <a:ln w="12700">
            <a:solidFill>
              <a:srgbClr val="9E9E9E"/>
            </a:solidFill>
            <a:prstDash val="solid"/>
          </a:ln>
        </p:spPr>
      </p:sp>
      <p:sp>
        <p:nvSpPr>
          <p:cNvPr id="138" name="Shape 136"/>
          <p:cNvSpPr/>
          <p:nvPr/>
        </p:nvSpPr>
        <p:spPr>
          <a:xfrm>
            <a:off x="8229600" y="3099816"/>
            <a:ext cx="54864" cy="54864"/>
          </a:xfrm>
          <a:prstGeom prst="rect">
            <a:avLst/>
          </a:prstGeom>
          <a:solidFill>
            <a:srgbClr val="9E9E9E"/>
          </a:solidFill>
          <a:ln w="12700">
            <a:solidFill>
              <a:srgbClr val="9E9E9E"/>
            </a:solidFill>
            <a:prstDash val="solid"/>
          </a:ln>
        </p:spPr>
      </p:sp>
      <p:sp>
        <p:nvSpPr>
          <p:cNvPr id="139" name="Shape 137"/>
          <p:cNvSpPr/>
          <p:nvPr/>
        </p:nvSpPr>
        <p:spPr>
          <a:xfrm>
            <a:off x="8229600" y="3346704"/>
            <a:ext cx="54864" cy="54864"/>
          </a:xfrm>
          <a:prstGeom prst="rect">
            <a:avLst/>
          </a:prstGeom>
          <a:solidFill>
            <a:srgbClr val="9E9E9E"/>
          </a:solidFill>
          <a:ln w="12700">
            <a:solidFill>
              <a:srgbClr val="9E9E9E"/>
            </a:solidFill>
            <a:prstDash val="solid"/>
          </a:ln>
        </p:spPr>
      </p:sp>
      <p:sp>
        <p:nvSpPr>
          <p:cNvPr id="140" name="Shape 138"/>
          <p:cNvSpPr/>
          <p:nvPr/>
        </p:nvSpPr>
        <p:spPr>
          <a:xfrm>
            <a:off x="8229600" y="3593592"/>
            <a:ext cx="54864" cy="54864"/>
          </a:xfrm>
          <a:prstGeom prst="rect">
            <a:avLst/>
          </a:prstGeom>
          <a:solidFill>
            <a:srgbClr val="9E9E9E"/>
          </a:solidFill>
          <a:ln w="12700">
            <a:solidFill>
              <a:srgbClr val="9E9E9E"/>
            </a:solidFill>
            <a:prstDash val="solid"/>
          </a:ln>
        </p:spPr>
      </p:sp>
      <p:sp>
        <p:nvSpPr>
          <p:cNvPr id="141" name="Shape 139"/>
          <p:cNvSpPr/>
          <p:nvPr/>
        </p:nvSpPr>
        <p:spPr>
          <a:xfrm>
            <a:off x="8229600" y="3840480"/>
            <a:ext cx="54864" cy="54864"/>
          </a:xfrm>
          <a:prstGeom prst="rect">
            <a:avLst/>
          </a:prstGeom>
          <a:solidFill>
            <a:srgbClr val="9E9E9E"/>
          </a:solidFill>
          <a:ln w="12700">
            <a:solidFill>
              <a:srgbClr val="9E9E9E"/>
            </a:solidFill>
            <a:prstDash val="solid"/>
          </a:ln>
        </p:spPr>
      </p:sp>
      <p:sp>
        <p:nvSpPr>
          <p:cNvPr id="142" name="Shape 140"/>
          <p:cNvSpPr/>
          <p:nvPr/>
        </p:nvSpPr>
        <p:spPr>
          <a:xfrm>
            <a:off x="8229600" y="4087368"/>
            <a:ext cx="54864" cy="54864"/>
          </a:xfrm>
          <a:prstGeom prst="rect">
            <a:avLst/>
          </a:prstGeom>
          <a:solidFill>
            <a:srgbClr val="9E9E9E"/>
          </a:solidFill>
          <a:ln w="12700">
            <a:solidFill>
              <a:srgbClr val="9E9E9E"/>
            </a:solidFill>
            <a:prstDash val="solid"/>
          </a:ln>
        </p:spPr>
      </p:sp>
      <p:sp>
        <p:nvSpPr>
          <p:cNvPr id="143" name="Shape 141"/>
          <p:cNvSpPr/>
          <p:nvPr/>
        </p:nvSpPr>
        <p:spPr>
          <a:xfrm>
            <a:off x="6469380" y="1463040"/>
            <a:ext cx="1143000" cy="2651760"/>
          </a:xfrm>
          <a:prstGeom prst="rect">
            <a:avLst/>
          </a:prstGeom>
          <a:solidFill>
            <a:srgbClr val="2E7D32">
              <a:alpha val="75000"/>
            </a:srgbClr>
          </a:solidFill>
          <a:ln w="19050">
            <a:solidFill>
              <a:srgbClr val="1B5E20"/>
            </a:solidFill>
            <a:prstDash val="solid"/>
          </a:ln>
        </p:spPr>
      </p:sp>
      <p:sp>
        <p:nvSpPr>
          <p:cNvPr id="144" name="Shape 142"/>
          <p:cNvSpPr/>
          <p:nvPr/>
        </p:nvSpPr>
        <p:spPr>
          <a:xfrm>
            <a:off x="6858000" y="1353312"/>
            <a:ext cx="365760" cy="201168"/>
          </a:xfrm>
          <a:prstGeom prst="rect">
            <a:avLst/>
          </a:prstGeom>
          <a:solidFill>
            <a:srgbClr val="B0BEC5"/>
          </a:solidFill>
          <a:ln w="12700">
            <a:solidFill>
              <a:srgbClr val="78909C"/>
            </a:solidFill>
            <a:prstDash val="solid"/>
          </a:ln>
        </p:spPr>
      </p:sp>
      <p:sp>
        <p:nvSpPr>
          <p:cNvPr id="145" name="Shape 143"/>
          <p:cNvSpPr/>
          <p:nvPr/>
        </p:nvSpPr>
        <p:spPr>
          <a:xfrm>
            <a:off x="6542532" y="1600200"/>
            <a:ext cx="109728" cy="2377440"/>
          </a:xfrm>
          <a:prstGeom prst="rect">
            <a:avLst/>
          </a:prstGeom>
          <a:solidFill>
            <a:srgbClr val="212121"/>
          </a:solidFill>
          <a:ln w="12700">
            <a:solidFill>
              <a:srgbClr val="000000"/>
            </a:solidFill>
            <a:prstDash val="solid"/>
          </a:ln>
        </p:spPr>
      </p:sp>
      <p:sp>
        <p:nvSpPr>
          <p:cNvPr id="146" name="Shape 144"/>
          <p:cNvSpPr/>
          <p:nvPr/>
        </p:nvSpPr>
        <p:spPr>
          <a:xfrm>
            <a:off x="7429500" y="1600200"/>
            <a:ext cx="109728" cy="2377440"/>
          </a:xfrm>
          <a:prstGeom prst="rect">
            <a:avLst/>
          </a:prstGeom>
          <a:solidFill>
            <a:srgbClr val="212121"/>
          </a:solidFill>
          <a:ln w="12700">
            <a:solidFill>
              <a:srgbClr val="000000"/>
            </a:solidFill>
            <a:prstDash val="solid"/>
          </a:ln>
        </p:spPr>
      </p:sp>
      <p:sp>
        <p:nvSpPr>
          <p:cNvPr id="147" name="Text 145"/>
          <p:cNvSpPr/>
          <p:nvPr/>
        </p:nvSpPr>
        <p:spPr>
          <a:xfrm>
            <a:off x="6469380" y="2606040"/>
            <a:ext cx="114300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Pico on top</a:t>
            </a:r>
            <a:endParaRPr lang="en-US" sz="1200" dirty="0"/>
          </a:p>
        </p:txBody>
      </p:sp>
      <p:sp>
        <p:nvSpPr>
          <p:cNvPr id="148" name="Text 146"/>
          <p:cNvSpPr/>
          <p:nvPr/>
        </p:nvSpPr>
        <p:spPr>
          <a:xfrm>
            <a:off x="6195060" y="896112"/>
            <a:ext cx="1691640" cy="228600"/>
          </a:xfrm>
          <a:prstGeom prst="rect">
            <a:avLst/>
          </a:prstGeom>
          <a:noFill/>
          <a:ln/>
        </p:spPr>
        <p:txBody>
          <a:bodyPr wrap="square" lIns="0" tIns="0" rIns="0" bIns="0" rtlCol="0" anchor="t"/>
          <a:lstStyle/>
          <a:p>
            <a:pPr algn="ctr" indent="0" marL="0">
              <a:buNone/>
            </a:pPr>
            <a:r>
              <a:rPr lang="en-US" sz="1100" dirty="0">
                <a:solidFill>
                  <a:srgbClr val="8892B0"/>
                </a:solidFill>
                <a:latin typeface="Calibri" pitchFamily="34" charset="0"/>
                <a:ea typeface="Calibri" pitchFamily="34" charset="-122"/>
                <a:cs typeface="Calibri" pitchFamily="34" charset="-120"/>
              </a:rPr>
              <a:t>USB end</a:t>
            </a:r>
            <a:endParaRPr lang="en-US" sz="1100" dirty="0"/>
          </a:p>
        </p:txBody>
      </p:sp>
      <p:sp>
        <p:nvSpPr>
          <p:cNvPr id="149" name="Text 147"/>
          <p:cNvSpPr/>
          <p:nvPr/>
        </p:nvSpPr>
        <p:spPr>
          <a:xfrm>
            <a:off x="5486400" y="4443984"/>
            <a:ext cx="3108960" cy="274320"/>
          </a:xfrm>
          <a:prstGeom prst="rect">
            <a:avLst/>
          </a:prstGeom>
          <a:noFill/>
          <a:ln/>
        </p:spPr>
        <p:txBody>
          <a:bodyPr wrap="square" lIns="0" tIns="0" rIns="0" bIns="0" rtlCol="0" anchor="t"/>
          <a:lstStyle/>
          <a:p>
            <a:pPr algn="ctr" indent="0" marL="0">
              <a:buNone/>
            </a:pPr>
            <a:r>
              <a:rPr lang="en-US" sz="1100" i="1" dirty="0">
                <a:solidFill>
                  <a:srgbClr val="8892B0"/>
                </a:solidFill>
                <a:latin typeface="Calibri" pitchFamily="34" charset="0"/>
                <a:ea typeface="Calibri" pitchFamily="34" charset="-122"/>
                <a:cs typeface="Calibri" pitchFamily="34" charset="-120"/>
              </a:rPr>
              <a:t>headers in the breadboard, centre gap between them</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Check before you plug in USB</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457200" y="1097280"/>
            <a:ext cx="3977640" cy="224028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7" name="Text 5"/>
          <p:cNvSpPr/>
          <p:nvPr/>
        </p:nvSpPr>
        <p:spPr>
          <a:xfrm>
            <a:off x="685800" y="1207008"/>
            <a:ext cx="3520440" cy="365760"/>
          </a:xfrm>
          <a:prstGeom prst="rect">
            <a:avLst/>
          </a:prstGeom>
          <a:noFill/>
          <a:ln/>
        </p:spPr>
        <p:txBody>
          <a:bodyPr wrap="square" lIns="0" tIns="0" rIns="0" bIns="0" rtlCol="0" anchor="t"/>
          <a:lstStyle/>
          <a:p>
            <a:pPr indent="0" marL="0">
              <a:buNone/>
            </a:pPr>
            <a:r>
              <a:rPr lang="en-US" sz="1800" b="1" dirty="0">
                <a:solidFill>
                  <a:srgbClr val="FFFFFF"/>
                </a:solidFill>
                <a:latin typeface="Trebuchet MS" pitchFamily="34" charset="0"/>
                <a:ea typeface="Trebuchet MS" pitchFamily="34" charset="-122"/>
                <a:cs typeface="Trebuchet MS" pitchFamily="34" charset="-120"/>
              </a:rPr>
              <a:t>Look</a:t>
            </a:r>
            <a:endParaRPr lang="en-US" sz="1800" dirty="0"/>
          </a:p>
        </p:txBody>
      </p:sp>
      <p:sp>
        <p:nvSpPr>
          <p:cNvPr id="8" name="Text 6"/>
          <p:cNvSpPr/>
          <p:nvPr/>
        </p:nvSpPr>
        <p:spPr>
          <a:xfrm>
            <a:off x="685800" y="1645920"/>
            <a:ext cx="3566160" cy="164592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Every joint with the loupe</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A small cone around the pin, no ball, no gap</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No bridge between neighbouring pins</a:t>
            </a:r>
            <a:endParaRPr lang="en-US" sz="1500" dirty="0"/>
          </a:p>
        </p:txBody>
      </p:sp>
      <p:sp>
        <p:nvSpPr>
          <p:cNvPr id="9" name="Shape 7"/>
          <p:cNvSpPr/>
          <p:nvPr/>
        </p:nvSpPr>
        <p:spPr>
          <a:xfrm>
            <a:off x="4709160" y="1097280"/>
            <a:ext cx="3977640" cy="224028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10" name="Text 8"/>
          <p:cNvSpPr/>
          <p:nvPr/>
        </p:nvSpPr>
        <p:spPr>
          <a:xfrm>
            <a:off x="4937760" y="1207008"/>
            <a:ext cx="3520440" cy="365760"/>
          </a:xfrm>
          <a:prstGeom prst="rect">
            <a:avLst/>
          </a:prstGeom>
          <a:noFill/>
          <a:ln/>
        </p:spPr>
        <p:txBody>
          <a:bodyPr wrap="square" lIns="0" tIns="0" rIns="0" bIns="0" rtlCol="0" anchor="t"/>
          <a:lstStyle/>
          <a:p>
            <a:pPr indent="0" marL="0">
              <a:buNone/>
            </a:pPr>
            <a:r>
              <a:rPr lang="en-US" sz="1800" b="1" dirty="0">
                <a:solidFill>
                  <a:srgbClr val="FFFFFF"/>
                </a:solidFill>
                <a:latin typeface="Trebuchet MS" pitchFamily="34" charset="0"/>
                <a:ea typeface="Trebuchet MS" pitchFamily="34" charset="-122"/>
                <a:cs typeface="Trebuchet MS" pitchFamily="34" charset="-120"/>
              </a:rPr>
              <a:t>Measure</a:t>
            </a:r>
            <a:endParaRPr lang="en-US" sz="1800" dirty="0"/>
          </a:p>
        </p:txBody>
      </p:sp>
      <p:sp>
        <p:nvSpPr>
          <p:cNvPr id="11" name="Text 9"/>
          <p:cNvSpPr/>
          <p:nvPr/>
        </p:nvSpPr>
        <p:spPr>
          <a:xfrm>
            <a:off x="4937760" y="1645920"/>
            <a:ext cx="3566160" cy="164592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Multimeter on continuity</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Neighbouring pins must not beep</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GND pins beep with each other: they are one net, that is correct</a:t>
            </a:r>
            <a:endParaRPr lang="en-US" sz="1500" dirty="0"/>
          </a:p>
        </p:txBody>
      </p:sp>
      <p:sp>
        <p:nvSpPr>
          <p:cNvPr id="12" name="Shape 10"/>
          <p:cNvSpPr/>
          <p:nvPr/>
        </p:nvSpPr>
        <p:spPr>
          <a:xfrm>
            <a:off x="457200" y="3566160"/>
            <a:ext cx="8229600" cy="868680"/>
          </a:xfrm>
          <a:prstGeom prst="rect">
            <a:avLst/>
          </a:prstGeom>
          <a:solidFill>
            <a:srgbClr val="253270"/>
          </a:solidFill>
          <a:ln w="12700">
            <a:solidFill>
              <a:srgbClr val="4CAF50"/>
            </a:solidFill>
            <a:prstDash val="solid"/>
          </a:ln>
        </p:spPr>
      </p:sp>
      <p:sp>
        <p:nvSpPr>
          <p:cNvPr id="13" name="Shape 11"/>
          <p:cNvSpPr/>
          <p:nvPr/>
        </p:nvSpPr>
        <p:spPr>
          <a:xfrm>
            <a:off x="457200" y="3566160"/>
            <a:ext cx="64008" cy="868680"/>
          </a:xfrm>
          <a:prstGeom prst="rect">
            <a:avLst/>
          </a:prstGeom>
          <a:solidFill>
            <a:srgbClr val="4CAF50"/>
          </a:solidFill>
          <a:ln/>
        </p:spPr>
      </p:sp>
      <p:sp>
        <p:nvSpPr>
          <p:cNvPr id="14" name="Text 12"/>
          <p:cNvSpPr/>
          <p:nvPr/>
        </p:nvSpPr>
        <p:spPr>
          <a:xfrm>
            <a:off x="685800" y="3639312"/>
            <a:ext cx="7863840" cy="274320"/>
          </a:xfrm>
          <a:prstGeom prst="rect">
            <a:avLst/>
          </a:prstGeom>
          <a:noFill/>
          <a:ln/>
        </p:spPr>
        <p:txBody>
          <a:bodyPr wrap="square" lIns="0" tIns="0" rIns="0" bIns="0" rtlCol="0" anchor="ctr"/>
          <a:lstStyle/>
          <a:p>
            <a:pPr indent="0" marL="0">
              <a:buNone/>
            </a:pPr>
            <a:r>
              <a:rPr lang="en-US" sz="1300" b="1" dirty="0">
                <a:solidFill>
                  <a:srgbClr val="4CAF50"/>
                </a:solidFill>
                <a:latin typeface="Trebuchet MS" pitchFamily="34" charset="0"/>
                <a:ea typeface="Trebuchet MS" pitchFamily="34" charset="-122"/>
                <a:cs typeface="Trebuchet MS" pitchFamily="34" charset="-120"/>
              </a:rPr>
              <a:t>Then the real test</a:t>
            </a:r>
            <a:endParaRPr lang="en-US" sz="1300" dirty="0"/>
          </a:p>
        </p:txBody>
      </p:sp>
      <p:sp>
        <p:nvSpPr>
          <p:cNvPr id="15" name="Text 13"/>
          <p:cNvSpPr/>
          <p:nvPr/>
        </p:nvSpPr>
        <p:spPr>
          <a:xfrm>
            <a:off x="685800" y="3913632"/>
            <a:ext cx="7863840" cy="4572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Plug in USB. Your blink from the homework must still run. If the LED is dark or the board gets warm: unplug and look again.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3</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Three buses</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UART, I2C, SPI - one table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UART vs I2C vs SPI</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2103120"/>
                <a:gridCol w="2103120"/>
                <a:gridCol w="2194560"/>
              </a:tblGrid>
              <a:tr h="320040">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UART</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I2C</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SPI</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Signal wires</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TX, RX</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SDA, SCL</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SCK, MOSI, MISO, CS</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Clock</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none - agreed baud rate</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SCL, from controller</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SCK, from controller</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Devices</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2, point to point</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many, by address</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many, one CS each</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Direction</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both at once</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one at a time</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both at once</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Typical speed</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9600 - 115200 baud</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100 / 400 kHz</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1 - tens of MHz</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Outputs</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push-pull</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open-drain + pull-ups</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push-pull</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In this course</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tonight: board to board</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session 13: OPT4001</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session 14: Nokia 5110</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bl>
          </a:graphicData>
        </a:graphic>
      </p:graphicFrame>
      <p:sp>
        <p:nvSpPr>
          <p:cNvPr id="7" name="Text 4"/>
          <p:cNvSpPr/>
          <p:nvPr/>
        </p:nvSpPr>
        <p:spPr>
          <a:xfrm>
            <a:off x="457200" y="3886200"/>
            <a:ext cx="8229600" cy="365760"/>
          </a:xfrm>
          <a:prstGeom prst="rect">
            <a:avLst/>
          </a:prstGeom>
          <a:noFill/>
          <a:ln/>
        </p:spPr>
        <p:txBody>
          <a:bodyPr wrap="square" lIns="0" tIns="0" rIns="0" bIns="0" rtlCol="0" anchor="t"/>
          <a:lstStyle/>
          <a:p>
            <a:pPr indent="0" marL="0">
              <a:buNone/>
            </a:pPr>
            <a:r>
              <a:rPr lang="en-US" sz="1400" i="1" dirty="0">
                <a:solidFill>
                  <a:srgbClr val="CADCFC"/>
                </a:solidFill>
                <a:latin typeface="Calibri" pitchFamily="34" charset="0"/>
                <a:ea typeface="Calibri" pitchFamily="34" charset="-122"/>
                <a:cs typeface="Calibri" pitchFamily="34" charset="-120"/>
              </a:rPr>
              <a:t>Plus GND on every bus: a voltage only means something against a shared reference.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Pico pin map for the rest of K4</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017520"/>
                <a:gridCol w="1920240"/>
                <a:gridCol w="1920240"/>
                <a:gridCol w="1371600"/>
              </a:tblGrid>
              <a:tr h="32004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Function</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GPIO</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Pin</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When</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UART0 (Serial1) TX / RX</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GP0 / GP1</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1 / 2</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tonight</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On-board LED</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GP25</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tonight</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I2C0 SDA / SCL (OPT4001)</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GP4 / GP5</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6 / 7</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session 13</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SPI0 MISO / CS / SCK / MOSI</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GP16 / 17 / 18 / 19</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21 / 22 / 24 / 25</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session 14</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Nokia 5110 D/C / RST</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GP20 / GP21</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26 / 27</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session 14</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RGB LED R / G / B</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GP10 / GP11 / GP12</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14 / 15 / 16</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later</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Buttons A / B</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GP14 / GP15</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19 / 20</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later</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Potentiometer (ADC0)</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GP26</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31</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300" dirty="0">
                          <a:solidFill>
                            <a:srgbClr val="CADCFC"/>
                          </a:solidFill>
                          <a:latin typeface="Calibri" pitchFamily="34" charset="0"/>
                          <a:ea typeface="Calibri" pitchFamily="34" charset="-122"/>
                          <a:cs typeface="Calibri" pitchFamily="34" charset="-120"/>
                        </a:rPr>
                        <a:t>tonight</a:t>
                      </a:r>
                      <a:endParaRPr lang="en-US" sz="13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bl>
          </a:graphicData>
        </a:graphic>
      </p:graphicFrame>
      <p:sp>
        <p:nvSpPr>
          <p:cNvPr id="7" name="Text 4"/>
          <p:cNvSpPr/>
          <p:nvPr/>
        </p:nvSpPr>
        <p:spPr>
          <a:xfrm>
            <a:off x="457200" y="4069080"/>
            <a:ext cx="8229600" cy="457200"/>
          </a:xfrm>
          <a:prstGeom prst="rect">
            <a:avLst/>
          </a:prstGeom>
          <a:noFill/>
          <a:ln/>
        </p:spPr>
        <p:txBody>
          <a:bodyPr wrap="square" lIns="0" tIns="0" rIns="0" bIns="0" rtlCol="0" anchor="t"/>
          <a:lstStyle/>
          <a:p>
            <a:pPr indent="0" marL="0">
              <a:buNone/>
            </a:pPr>
            <a:r>
              <a:rPr lang="en-US" sz="1300" i="1" dirty="0">
                <a:solidFill>
                  <a:srgbClr val="8892B0"/>
                </a:solidFill>
                <a:latin typeface="Calibri" pitchFamily="34" charset="0"/>
                <a:ea typeface="Calibri" pitchFamily="34" charset="-122"/>
                <a:cs typeface="Calibri" pitchFamily="34" charset="-120"/>
              </a:rPr>
              <a:t>The buses sit on the Arduino-Pico default pins, so Serial1, Wire and SPI work without setTX() or setSDA().</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4</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UART</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Two wires, no clock</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No clock wire: one byte on the line</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2407920" y="1325880"/>
            <a:ext cx="4876800" cy="1097280"/>
          </a:xfrm>
          <a:prstGeom prst="rect">
            <a:avLst/>
          </a:prstGeom>
          <a:solidFill>
            <a:srgbClr val="253270"/>
          </a:solidFill>
          <a:ln w="12700">
            <a:solidFill>
              <a:srgbClr val="253270"/>
            </a:solidFill>
            <a:prstDash val="solid"/>
          </a:ln>
        </p:spPr>
      </p:sp>
      <p:sp>
        <p:nvSpPr>
          <p:cNvPr id="7" name="Text 5"/>
          <p:cNvSpPr/>
          <p:nvPr/>
        </p:nvSpPr>
        <p:spPr>
          <a:xfrm>
            <a:off x="457200" y="1325880"/>
            <a:ext cx="685800" cy="274320"/>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HIGH</a:t>
            </a:r>
            <a:endParaRPr lang="en-US" sz="1100" dirty="0"/>
          </a:p>
        </p:txBody>
      </p:sp>
      <p:sp>
        <p:nvSpPr>
          <p:cNvPr id="8" name="Text 6"/>
          <p:cNvSpPr/>
          <p:nvPr/>
        </p:nvSpPr>
        <p:spPr>
          <a:xfrm>
            <a:off x="457200" y="2148840"/>
            <a:ext cx="685800" cy="274320"/>
          </a:xfrm>
          <a:prstGeom prst="rect">
            <a:avLst/>
          </a:prstGeom>
          <a:noFill/>
          <a:ln/>
        </p:spPr>
        <p:txBody>
          <a:bodyPr wrap="square" lIns="0" tIns="0" rIns="0" bIns="0" rtlCol="0" anchor="t"/>
          <a:lstStyle/>
          <a:p>
            <a:pPr indent="0" marL="0">
              <a:buNone/>
            </a:pPr>
            <a:r>
              <a:rPr lang="en-US" sz="1100" dirty="0">
                <a:solidFill>
                  <a:srgbClr val="8892B0"/>
                </a:solidFill>
                <a:latin typeface="Calibri" pitchFamily="34" charset="0"/>
                <a:ea typeface="Calibri" pitchFamily="34" charset="-122"/>
                <a:cs typeface="Calibri" pitchFamily="34" charset="-120"/>
              </a:rPr>
              <a:t>LOW</a:t>
            </a:r>
            <a:endParaRPr lang="en-US" sz="1100" dirty="0"/>
          </a:p>
        </p:txBody>
      </p:sp>
      <p:sp>
        <p:nvSpPr>
          <p:cNvPr id="9" name="Shape 7"/>
          <p:cNvSpPr/>
          <p:nvPr/>
        </p:nvSpPr>
        <p:spPr>
          <a:xfrm>
            <a:off x="1188720" y="1463040"/>
            <a:ext cx="609600" cy="0"/>
          </a:xfrm>
          <a:prstGeom prst="line">
            <a:avLst/>
          </a:prstGeom>
          <a:noFill/>
          <a:ln w="31750">
            <a:solidFill>
              <a:srgbClr val="4CAF50"/>
            </a:solidFill>
            <a:prstDash val="solid"/>
          </a:ln>
        </p:spPr>
      </p:sp>
      <p:sp>
        <p:nvSpPr>
          <p:cNvPr id="10" name="Text 8"/>
          <p:cNvSpPr/>
          <p:nvPr/>
        </p:nvSpPr>
        <p:spPr>
          <a:xfrm>
            <a:off x="1188720" y="2514600"/>
            <a:ext cx="609600" cy="274320"/>
          </a:xfrm>
          <a:prstGeom prst="rect">
            <a:avLst/>
          </a:prstGeom>
          <a:noFill/>
          <a:ln/>
        </p:spPr>
        <p:txBody>
          <a:bodyPr wrap="square" lIns="0" tIns="0" rIns="0" bIns="0" rtlCol="0" anchor="t"/>
          <a:lstStyle/>
          <a:p>
            <a:pPr algn="ctr" indent="0" marL="0">
              <a:buNone/>
            </a:pPr>
            <a:r>
              <a:rPr lang="en-US" sz="1100" dirty="0">
                <a:solidFill>
                  <a:srgbClr val="8892B0"/>
                </a:solidFill>
                <a:latin typeface="Consolas" pitchFamily="34" charset="0"/>
                <a:ea typeface="Consolas" pitchFamily="34" charset="-122"/>
                <a:cs typeface="Consolas" pitchFamily="34" charset="-120"/>
              </a:rPr>
              <a:t>idle</a:t>
            </a:r>
            <a:endParaRPr lang="en-US" sz="1100" dirty="0"/>
          </a:p>
        </p:txBody>
      </p:sp>
      <p:sp>
        <p:nvSpPr>
          <p:cNvPr id="11" name="Shape 9"/>
          <p:cNvSpPr/>
          <p:nvPr/>
        </p:nvSpPr>
        <p:spPr>
          <a:xfrm>
            <a:off x="1798320" y="1463040"/>
            <a:ext cx="0" cy="822960"/>
          </a:xfrm>
          <a:prstGeom prst="line">
            <a:avLst/>
          </a:prstGeom>
          <a:noFill/>
          <a:ln w="31750">
            <a:solidFill>
              <a:srgbClr val="4CAF50"/>
            </a:solidFill>
            <a:prstDash val="solid"/>
          </a:ln>
        </p:spPr>
      </p:sp>
      <p:sp>
        <p:nvSpPr>
          <p:cNvPr id="12" name="Shape 10"/>
          <p:cNvSpPr/>
          <p:nvPr/>
        </p:nvSpPr>
        <p:spPr>
          <a:xfrm>
            <a:off x="1798320" y="2286000"/>
            <a:ext cx="609600" cy="0"/>
          </a:xfrm>
          <a:prstGeom prst="line">
            <a:avLst/>
          </a:prstGeom>
          <a:noFill/>
          <a:ln w="31750">
            <a:solidFill>
              <a:srgbClr val="FFB300"/>
            </a:solidFill>
            <a:prstDash val="solid"/>
          </a:ln>
        </p:spPr>
      </p:sp>
      <p:sp>
        <p:nvSpPr>
          <p:cNvPr id="13" name="Text 11"/>
          <p:cNvSpPr/>
          <p:nvPr/>
        </p:nvSpPr>
        <p:spPr>
          <a:xfrm>
            <a:off x="1798320" y="2514600"/>
            <a:ext cx="609600" cy="274320"/>
          </a:xfrm>
          <a:prstGeom prst="rect">
            <a:avLst/>
          </a:prstGeom>
          <a:noFill/>
          <a:ln/>
        </p:spPr>
        <p:txBody>
          <a:bodyPr wrap="square" lIns="0" tIns="0" rIns="0" bIns="0" rtlCol="0" anchor="t"/>
          <a:lstStyle/>
          <a:p>
            <a:pPr algn="ctr" indent="0" marL="0">
              <a:buNone/>
            </a:pPr>
            <a:r>
              <a:rPr lang="en-US" sz="1100" dirty="0">
                <a:solidFill>
                  <a:srgbClr val="8892B0"/>
                </a:solidFill>
                <a:latin typeface="Consolas" pitchFamily="34" charset="0"/>
                <a:ea typeface="Consolas" pitchFamily="34" charset="-122"/>
                <a:cs typeface="Consolas" pitchFamily="34" charset="-120"/>
              </a:rPr>
              <a:t>start</a:t>
            </a:r>
            <a:endParaRPr lang="en-US" sz="1100" dirty="0"/>
          </a:p>
        </p:txBody>
      </p:sp>
      <p:sp>
        <p:nvSpPr>
          <p:cNvPr id="14" name="Shape 12"/>
          <p:cNvSpPr/>
          <p:nvPr/>
        </p:nvSpPr>
        <p:spPr>
          <a:xfrm flipV="1">
            <a:off x="2407920" y="1463040"/>
            <a:ext cx="0" cy="822960"/>
          </a:xfrm>
          <a:prstGeom prst="line">
            <a:avLst/>
          </a:prstGeom>
          <a:noFill/>
          <a:ln w="31750">
            <a:solidFill>
              <a:srgbClr val="4CAF50"/>
            </a:solidFill>
            <a:prstDash val="solid"/>
          </a:ln>
        </p:spPr>
      </p:sp>
      <p:sp>
        <p:nvSpPr>
          <p:cNvPr id="15" name="Shape 13"/>
          <p:cNvSpPr/>
          <p:nvPr/>
        </p:nvSpPr>
        <p:spPr>
          <a:xfrm>
            <a:off x="2407920" y="1463040"/>
            <a:ext cx="609600" cy="0"/>
          </a:xfrm>
          <a:prstGeom prst="line">
            <a:avLst/>
          </a:prstGeom>
          <a:noFill/>
          <a:ln w="31750">
            <a:solidFill>
              <a:srgbClr val="4CAF50"/>
            </a:solidFill>
            <a:prstDash val="solid"/>
          </a:ln>
        </p:spPr>
      </p:sp>
      <p:sp>
        <p:nvSpPr>
          <p:cNvPr id="16" name="Text 14"/>
          <p:cNvSpPr/>
          <p:nvPr/>
        </p:nvSpPr>
        <p:spPr>
          <a:xfrm>
            <a:off x="2407920" y="2514600"/>
            <a:ext cx="6096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onsolas" pitchFamily="34" charset="0"/>
                <a:ea typeface="Consolas" pitchFamily="34" charset="-122"/>
                <a:cs typeface="Consolas" pitchFamily="34" charset="-120"/>
              </a:rPr>
              <a:t>d0</a:t>
            </a:r>
            <a:endParaRPr lang="en-US" sz="1100" dirty="0"/>
          </a:p>
        </p:txBody>
      </p:sp>
      <p:sp>
        <p:nvSpPr>
          <p:cNvPr id="17" name="Text 15"/>
          <p:cNvSpPr/>
          <p:nvPr/>
        </p:nvSpPr>
        <p:spPr>
          <a:xfrm>
            <a:off x="2407920" y="2788920"/>
            <a:ext cx="609600" cy="274320"/>
          </a:xfrm>
          <a:prstGeom prst="rect">
            <a:avLst/>
          </a:prstGeom>
          <a:noFill/>
          <a:ln/>
        </p:spPr>
        <p:txBody>
          <a:bodyPr wrap="square" lIns="0" tIns="0" rIns="0" bIns="0" rtlCol="0" anchor="t"/>
          <a:lstStyle/>
          <a:p>
            <a:pPr algn="ctr" indent="0" marL="0">
              <a:buNone/>
            </a:pPr>
            <a:r>
              <a:rPr lang="en-US" sz="1300" b="1" dirty="0">
                <a:solidFill>
                  <a:srgbClr val="4CAF50"/>
                </a:solidFill>
                <a:latin typeface="Consolas" pitchFamily="34" charset="0"/>
                <a:ea typeface="Consolas" pitchFamily="34" charset="-122"/>
                <a:cs typeface="Consolas" pitchFamily="34" charset="-120"/>
              </a:rPr>
              <a:t>1</a:t>
            </a:r>
            <a:endParaRPr lang="en-US" sz="1300" dirty="0"/>
          </a:p>
        </p:txBody>
      </p:sp>
      <p:sp>
        <p:nvSpPr>
          <p:cNvPr id="18" name="Shape 16"/>
          <p:cNvSpPr/>
          <p:nvPr/>
        </p:nvSpPr>
        <p:spPr>
          <a:xfrm>
            <a:off x="3017520" y="1463040"/>
            <a:ext cx="0" cy="822960"/>
          </a:xfrm>
          <a:prstGeom prst="line">
            <a:avLst/>
          </a:prstGeom>
          <a:noFill/>
          <a:ln w="31750">
            <a:solidFill>
              <a:srgbClr val="4CAF50"/>
            </a:solidFill>
            <a:prstDash val="solid"/>
          </a:ln>
        </p:spPr>
      </p:sp>
      <p:sp>
        <p:nvSpPr>
          <p:cNvPr id="19" name="Shape 17"/>
          <p:cNvSpPr/>
          <p:nvPr/>
        </p:nvSpPr>
        <p:spPr>
          <a:xfrm>
            <a:off x="3017520" y="2286000"/>
            <a:ext cx="609600" cy="0"/>
          </a:xfrm>
          <a:prstGeom prst="line">
            <a:avLst/>
          </a:prstGeom>
          <a:noFill/>
          <a:ln w="31750">
            <a:solidFill>
              <a:srgbClr val="4CAF50"/>
            </a:solidFill>
            <a:prstDash val="solid"/>
          </a:ln>
        </p:spPr>
      </p:sp>
      <p:sp>
        <p:nvSpPr>
          <p:cNvPr id="20" name="Text 18"/>
          <p:cNvSpPr/>
          <p:nvPr/>
        </p:nvSpPr>
        <p:spPr>
          <a:xfrm>
            <a:off x="3017520" y="2514600"/>
            <a:ext cx="6096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onsolas" pitchFamily="34" charset="0"/>
                <a:ea typeface="Consolas" pitchFamily="34" charset="-122"/>
                <a:cs typeface="Consolas" pitchFamily="34" charset="-120"/>
              </a:rPr>
              <a:t>d1</a:t>
            </a:r>
            <a:endParaRPr lang="en-US" sz="1100" dirty="0"/>
          </a:p>
        </p:txBody>
      </p:sp>
      <p:sp>
        <p:nvSpPr>
          <p:cNvPr id="21" name="Text 19"/>
          <p:cNvSpPr/>
          <p:nvPr/>
        </p:nvSpPr>
        <p:spPr>
          <a:xfrm>
            <a:off x="3017520" y="2788920"/>
            <a:ext cx="609600" cy="274320"/>
          </a:xfrm>
          <a:prstGeom prst="rect">
            <a:avLst/>
          </a:prstGeom>
          <a:noFill/>
          <a:ln/>
        </p:spPr>
        <p:txBody>
          <a:bodyPr wrap="square" lIns="0" tIns="0" rIns="0" bIns="0" rtlCol="0" anchor="t"/>
          <a:lstStyle/>
          <a:p>
            <a:pPr algn="ctr" indent="0" marL="0">
              <a:buNone/>
            </a:pPr>
            <a:r>
              <a:rPr lang="en-US" sz="1300" b="1" dirty="0">
                <a:solidFill>
                  <a:srgbClr val="4CAF50"/>
                </a:solidFill>
                <a:latin typeface="Consolas" pitchFamily="34" charset="0"/>
                <a:ea typeface="Consolas" pitchFamily="34" charset="-122"/>
                <a:cs typeface="Consolas" pitchFamily="34" charset="-120"/>
              </a:rPr>
              <a:t>0</a:t>
            </a:r>
            <a:endParaRPr lang="en-US" sz="1300" dirty="0"/>
          </a:p>
        </p:txBody>
      </p:sp>
      <p:sp>
        <p:nvSpPr>
          <p:cNvPr id="22" name="Shape 20"/>
          <p:cNvSpPr/>
          <p:nvPr/>
        </p:nvSpPr>
        <p:spPr>
          <a:xfrm>
            <a:off x="3627120" y="2286000"/>
            <a:ext cx="609600" cy="0"/>
          </a:xfrm>
          <a:prstGeom prst="line">
            <a:avLst/>
          </a:prstGeom>
          <a:noFill/>
          <a:ln w="31750">
            <a:solidFill>
              <a:srgbClr val="4CAF50"/>
            </a:solidFill>
            <a:prstDash val="solid"/>
          </a:ln>
        </p:spPr>
      </p:sp>
      <p:sp>
        <p:nvSpPr>
          <p:cNvPr id="23" name="Text 21"/>
          <p:cNvSpPr/>
          <p:nvPr/>
        </p:nvSpPr>
        <p:spPr>
          <a:xfrm>
            <a:off x="3627120" y="2514600"/>
            <a:ext cx="6096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onsolas" pitchFamily="34" charset="0"/>
                <a:ea typeface="Consolas" pitchFamily="34" charset="-122"/>
                <a:cs typeface="Consolas" pitchFamily="34" charset="-120"/>
              </a:rPr>
              <a:t>d2</a:t>
            </a:r>
            <a:endParaRPr lang="en-US" sz="1100" dirty="0"/>
          </a:p>
        </p:txBody>
      </p:sp>
      <p:sp>
        <p:nvSpPr>
          <p:cNvPr id="24" name="Text 22"/>
          <p:cNvSpPr/>
          <p:nvPr/>
        </p:nvSpPr>
        <p:spPr>
          <a:xfrm>
            <a:off x="3627120" y="2788920"/>
            <a:ext cx="609600" cy="274320"/>
          </a:xfrm>
          <a:prstGeom prst="rect">
            <a:avLst/>
          </a:prstGeom>
          <a:noFill/>
          <a:ln/>
        </p:spPr>
        <p:txBody>
          <a:bodyPr wrap="square" lIns="0" tIns="0" rIns="0" bIns="0" rtlCol="0" anchor="t"/>
          <a:lstStyle/>
          <a:p>
            <a:pPr algn="ctr" indent="0" marL="0">
              <a:buNone/>
            </a:pPr>
            <a:r>
              <a:rPr lang="en-US" sz="1300" b="1" dirty="0">
                <a:solidFill>
                  <a:srgbClr val="4CAF50"/>
                </a:solidFill>
                <a:latin typeface="Consolas" pitchFamily="34" charset="0"/>
                <a:ea typeface="Consolas" pitchFamily="34" charset="-122"/>
                <a:cs typeface="Consolas" pitchFamily="34" charset="-120"/>
              </a:rPr>
              <a:t>0</a:t>
            </a:r>
            <a:endParaRPr lang="en-US" sz="1300" dirty="0"/>
          </a:p>
        </p:txBody>
      </p:sp>
      <p:sp>
        <p:nvSpPr>
          <p:cNvPr id="25" name="Shape 23"/>
          <p:cNvSpPr/>
          <p:nvPr/>
        </p:nvSpPr>
        <p:spPr>
          <a:xfrm>
            <a:off x="4236720" y="2286000"/>
            <a:ext cx="609600" cy="0"/>
          </a:xfrm>
          <a:prstGeom prst="line">
            <a:avLst/>
          </a:prstGeom>
          <a:noFill/>
          <a:ln w="31750">
            <a:solidFill>
              <a:srgbClr val="4CAF50"/>
            </a:solidFill>
            <a:prstDash val="solid"/>
          </a:ln>
        </p:spPr>
      </p:sp>
      <p:sp>
        <p:nvSpPr>
          <p:cNvPr id="26" name="Text 24"/>
          <p:cNvSpPr/>
          <p:nvPr/>
        </p:nvSpPr>
        <p:spPr>
          <a:xfrm>
            <a:off x="4236720" y="2514600"/>
            <a:ext cx="6096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onsolas" pitchFamily="34" charset="0"/>
                <a:ea typeface="Consolas" pitchFamily="34" charset="-122"/>
                <a:cs typeface="Consolas" pitchFamily="34" charset="-120"/>
              </a:rPr>
              <a:t>d3</a:t>
            </a:r>
            <a:endParaRPr lang="en-US" sz="1100" dirty="0"/>
          </a:p>
        </p:txBody>
      </p:sp>
      <p:sp>
        <p:nvSpPr>
          <p:cNvPr id="27" name="Text 25"/>
          <p:cNvSpPr/>
          <p:nvPr/>
        </p:nvSpPr>
        <p:spPr>
          <a:xfrm>
            <a:off x="4236720" y="2788920"/>
            <a:ext cx="609600" cy="274320"/>
          </a:xfrm>
          <a:prstGeom prst="rect">
            <a:avLst/>
          </a:prstGeom>
          <a:noFill/>
          <a:ln/>
        </p:spPr>
        <p:txBody>
          <a:bodyPr wrap="square" lIns="0" tIns="0" rIns="0" bIns="0" rtlCol="0" anchor="t"/>
          <a:lstStyle/>
          <a:p>
            <a:pPr algn="ctr" indent="0" marL="0">
              <a:buNone/>
            </a:pPr>
            <a:r>
              <a:rPr lang="en-US" sz="1300" b="1" dirty="0">
                <a:solidFill>
                  <a:srgbClr val="4CAF50"/>
                </a:solidFill>
                <a:latin typeface="Consolas" pitchFamily="34" charset="0"/>
                <a:ea typeface="Consolas" pitchFamily="34" charset="-122"/>
                <a:cs typeface="Consolas" pitchFamily="34" charset="-120"/>
              </a:rPr>
              <a:t>0</a:t>
            </a:r>
            <a:endParaRPr lang="en-US" sz="1300" dirty="0"/>
          </a:p>
        </p:txBody>
      </p:sp>
      <p:sp>
        <p:nvSpPr>
          <p:cNvPr id="28" name="Shape 26"/>
          <p:cNvSpPr/>
          <p:nvPr/>
        </p:nvSpPr>
        <p:spPr>
          <a:xfrm>
            <a:off x="4846320" y="2286000"/>
            <a:ext cx="609600" cy="0"/>
          </a:xfrm>
          <a:prstGeom prst="line">
            <a:avLst/>
          </a:prstGeom>
          <a:noFill/>
          <a:ln w="31750">
            <a:solidFill>
              <a:srgbClr val="4CAF50"/>
            </a:solidFill>
            <a:prstDash val="solid"/>
          </a:ln>
        </p:spPr>
      </p:sp>
      <p:sp>
        <p:nvSpPr>
          <p:cNvPr id="29" name="Text 27"/>
          <p:cNvSpPr/>
          <p:nvPr/>
        </p:nvSpPr>
        <p:spPr>
          <a:xfrm>
            <a:off x="4846320" y="2514600"/>
            <a:ext cx="6096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onsolas" pitchFamily="34" charset="0"/>
                <a:ea typeface="Consolas" pitchFamily="34" charset="-122"/>
                <a:cs typeface="Consolas" pitchFamily="34" charset="-120"/>
              </a:rPr>
              <a:t>d4</a:t>
            </a:r>
            <a:endParaRPr lang="en-US" sz="1100" dirty="0"/>
          </a:p>
        </p:txBody>
      </p:sp>
      <p:sp>
        <p:nvSpPr>
          <p:cNvPr id="30" name="Text 28"/>
          <p:cNvSpPr/>
          <p:nvPr/>
        </p:nvSpPr>
        <p:spPr>
          <a:xfrm>
            <a:off x="4846320" y="2788920"/>
            <a:ext cx="609600" cy="274320"/>
          </a:xfrm>
          <a:prstGeom prst="rect">
            <a:avLst/>
          </a:prstGeom>
          <a:noFill/>
          <a:ln/>
        </p:spPr>
        <p:txBody>
          <a:bodyPr wrap="square" lIns="0" tIns="0" rIns="0" bIns="0" rtlCol="0" anchor="t"/>
          <a:lstStyle/>
          <a:p>
            <a:pPr algn="ctr" indent="0" marL="0">
              <a:buNone/>
            </a:pPr>
            <a:r>
              <a:rPr lang="en-US" sz="1300" b="1" dirty="0">
                <a:solidFill>
                  <a:srgbClr val="4CAF50"/>
                </a:solidFill>
                <a:latin typeface="Consolas" pitchFamily="34" charset="0"/>
                <a:ea typeface="Consolas" pitchFamily="34" charset="-122"/>
                <a:cs typeface="Consolas" pitchFamily="34" charset="-120"/>
              </a:rPr>
              <a:t>0</a:t>
            </a:r>
            <a:endParaRPr lang="en-US" sz="1300" dirty="0"/>
          </a:p>
        </p:txBody>
      </p:sp>
      <p:sp>
        <p:nvSpPr>
          <p:cNvPr id="31" name="Shape 29"/>
          <p:cNvSpPr/>
          <p:nvPr/>
        </p:nvSpPr>
        <p:spPr>
          <a:xfrm>
            <a:off x="5455920" y="2286000"/>
            <a:ext cx="609600" cy="0"/>
          </a:xfrm>
          <a:prstGeom prst="line">
            <a:avLst/>
          </a:prstGeom>
          <a:noFill/>
          <a:ln w="31750">
            <a:solidFill>
              <a:srgbClr val="4CAF50"/>
            </a:solidFill>
            <a:prstDash val="solid"/>
          </a:ln>
        </p:spPr>
      </p:sp>
      <p:sp>
        <p:nvSpPr>
          <p:cNvPr id="32" name="Text 30"/>
          <p:cNvSpPr/>
          <p:nvPr/>
        </p:nvSpPr>
        <p:spPr>
          <a:xfrm>
            <a:off x="5455920" y="2514600"/>
            <a:ext cx="6096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onsolas" pitchFamily="34" charset="0"/>
                <a:ea typeface="Consolas" pitchFamily="34" charset="-122"/>
                <a:cs typeface="Consolas" pitchFamily="34" charset="-120"/>
              </a:rPr>
              <a:t>d5</a:t>
            </a:r>
            <a:endParaRPr lang="en-US" sz="1100" dirty="0"/>
          </a:p>
        </p:txBody>
      </p:sp>
      <p:sp>
        <p:nvSpPr>
          <p:cNvPr id="33" name="Text 31"/>
          <p:cNvSpPr/>
          <p:nvPr/>
        </p:nvSpPr>
        <p:spPr>
          <a:xfrm>
            <a:off x="5455920" y="2788920"/>
            <a:ext cx="609600" cy="274320"/>
          </a:xfrm>
          <a:prstGeom prst="rect">
            <a:avLst/>
          </a:prstGeom>
          <a:noFill/>
          <a:ln/>
        </p:spPr>
        <p:txBody>
          <a:bodyPr wrap="square" lIns="0" tIns="0" rIns="0" bIns="0" rtlCol="0" anchor="t"/>
          <a:lstStyle/>
          <a:p>
            <a:pPr algn="ctr" indent="0" marL="0">
              <a:buNone/>
            </a:pPr>
            <a:r>
              <a:rPr lang="en-US" sz="1300" b="1" dirty="0">
                <a:solidFill>
                  <a:srgbClr val="4CAF50"/>
                </a:solidFill>
                <a:latin typeface="Consolas" pitchFamily="34" charset="0"/>
                <a:ea typeface="Consolas" pitchFamily="34" charset="-122"/>
                <a:cs typeface="Consolas" pitchFamily="34" charset="-120"/>
              </a:rPr>
              <a:t>0</a:t>
            </a:r>
            <a:endParaRPr lang="en-US" sz="1300" dirty="0"/>
          </a:p>
        </p:txBody>
      </p:sp>
      <p:sp>
        <p:nvSpPr>
          <p:cNvPr id="34" name="Shape 32"/>
          <p:cNvSpPr/>
          <p:nvPr/>
        </p:nvSpPr>
        <p:spPr>
          <a:xfrm flipV="1">
            <a:off x="6065520" y="1463040"/>
            <a:ext cx="0" cy="822960"/>
          </a:xfrm>
          <a:prstGeom prst="line">
            <a:avLst/>
          </a:prstGeom>
          <a:noFill/>
          <a:ln w="31750">
            <a:solidFill>
              <a:srgbClr val="4CAF50"/>
            </a:solidFill>
            <a:prstDash val="solid"/>
          </a:ln>
        </p:spPr>
      </p:sp>
      <p:sp>
        <p:nvSpPr>
          <p:cNvPr id="35" name="Shape 33"/>
          <p:cNvSpPr/>
          <p:nvPr/>
        </p:nvSpPr>
        <p:spPr>
          <a:xfrm>
            <a:off x="6065520" y="1463040"/>
            <a:ext cx="609600" cy="0"/>
          </a:xfrm>
          <a:prstGeom prst="line">
            <a:avLst/>
          </a:prstGeom>
          <a:noFill/>
          <a:ln w="31750">
            <a:solidFill>
              <a:srgbClr val="4CAF50"/>
            </a:solidFill>
            <a:prstDash val="solid"/>
          </a:ln>
        </p:spPr>
      </p:sp>
      <p:sp>
        <p:nvSpPr>
          <p:cNvPr id="36" name="Text 34"/>
          <p:cNvSpPr/>
          <p:nvPr/>
        </p:nvSpPr>
        <p:spPr>
          <a:xfrm>
            <a:off x="6065520" y="2514600"/>
            <a:ext cx="6096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onsolas" pitchFamily="34" charset="0"/>
                <a:ea typeface="Consolas" pitchFamily="34" charset="-122"/>
                <a:cs typeface="Consolas" pitchFamily="34" charset="-120"/>
              </a:rPr>
              <a:t>d6</a:t>
            </a:r>
            <a:endParaRPr lang="en-US" sz="1100" dirty="0"/>
          </a:p>
        </p:txBody>
      </p:sp>
      <p:sp>
        <p:nvSpPr>
          <p:cNvPr id="37" name="Text 35"/>
          <p:cNvSpPr/>
          <p:nvPr/>
        </p:nvSpPr>
        <p:spPr>
          <a:xfrm>
            <a:off x="6065520" y="2788920"/>
            <a:ext cx="609600" cy="274320"/>
          </a:xfrm>
          <a:prstGeom prst="rect">
            <a:avLst/>
          </a:prstGeom>
          <a:noFill/>
          <a:ln/>
        </p:spPr>
        <p:txBody>
          <a:bodyPr wrap="square" lIns="0" tIns="0" rIns="0" bIns="0" rtlCol="0" anchor="t"/>
          <a:lstStyle/>
          <a:p>
            <a:pPr algn="ctr" indent="0" marL="0">
              <a:buNone/>
            </a:pPr>
            <a:r>
              <a:rPr lang="en-US" sz="1300" b="1" dirty="0">
                <a:solidFill>
                  <a:srgbClr val="4CAF50"/>
                </a:solidFill>
                <a:latin typeface="Consolas" pitchFamily="34" charset="0"/>
                <a:ea typeface="Consolas" pitchFamily="34" charset="-122"/>
                <a:cs typeface="Consolas" pitchFamily="34" charset="-120"/>
              </a:rPr>
              <a:t>1</a:t>
            </a:r>
            <a:endParaRPr lang="en-US" sz="1300" dirty="0"/>
          </a:p>
        </p:txBody>
      </p:sp>
      <p:sp>
        <p:nvSpPr>
          <p:cNvPr id="38" name="Shape 36"/>
          <p:cNvSpPr/>
          <p:nvPr/>
        </p:nvSpPr>
        <p:spPr>
          <a:xfrm>
            <a:off x="6675120" y="1463040"/>
            <a:ext cx="0" cy="822960"/>
          </a:xfrm>
          <a:prstGeom prst="line">
            <a:avLst/>
          </a:prstGeom>
          <a:noFill/>
          <a:ln w="31750">
            <a:solidFill>
              <a:srgbClr val="4CAF50"/>
            </a:solidFill>
            <a:prstDash val="solid"/>
          </a:ln>
        </p:spPr>
      </p:sp>
      <p:sp>
        <p:nvSpPr>
          <p:cNvPr id="39" name="Shape 37"/>
          <p:cNvSpPr/>
          <p:nvPr/>
        </p:nvSpPr>
        <p:spPr>
          <a:xfrm>
            <a:off x="6675120" y="2286000"/>
            <a:ext cx="609600" cy="0"/>
          </a:xfrm>
          <a:prstGeom prst="line">
            <a:avLst/>
          </a:prstGeom>
          <a:noFill/>
          <a:ln w="31750">
            <a:solidFill>
              <a:srgbClr val="4CAF50"/>
            </a:solidFill>
            <a:prstDash val="solid"/>
          </a:ln>
        </p:spPr>
      </p:sp>
      <p:sp>
        <p:nvSpPr>
          <p:cNvPr id="40" name="Text 38"/>
          <p:cNvSpPr/>
          <p:nvPr/>
        </p:nvSpPr>
        <p:spPr>
          <a:xfrm>
            <a:off x="6675120" y="2514600"/>
            <a:ext cx="609600" cy="274320"/>
          </a:xfrm>
          <a:prstGeom prst="rect">
            <a:avLst/>
          </a:prstGeom>
          <a:noFill/>
          <a:ln/>
        </p:spPr>
        <p:txBody>
          <a:bodyPr wrap="square" lIns="0" tIns="0" rIns="0" bIns="0" rtlCol="0" anchor="t"/>
          <a:lstStyle/>
          <a:p>
            <a:pPr algn="ctr" indent="0" marL="0">
              <a:buNone/>
            </a:pPr>
            <a:r>
              <a:rPr lang="en-US" sz="1100" dirty="0">
                <a:solidFill>
                  <a:srgbClr val="FFFFFF"/>
                </a:solidFill>
                <a:latin typeface="Consolas" pitchFamily="34" charset="0"/>
                <a:ea typeface="Consolas" pitchFamily="34" charset="-122"/>
                <a:cs typeface="Consolas" pitchFamily="34" charset="-120"/>
              </a:rPr>
              <a:t>d7</a:t>
            </a:r>
            <a:endParaRPr lang="en-US" sz="1100" dirty="0"/>
          </a:p>
        </p:txBody>
      </p:sp>
      <p:sp>
        <p:nvSpPr>
          <p:cNvPr id="41" name="Text 39"/>
          <p:cNvSpPr/>
          <p:nvPr/>
        </p:nvSpPr>
        <p:spPr>
          <a:xfrm>
            <a:off x="6675120" y="2788920"/>
            <a:ext cx="609600" cy="274320"/>
          </a:xfrm>
          <a:prstGeom prst="rect">
            <a:avLst/>
          </a:prstGeom>
          <a:noFill/>
          <a:ln/>
        </p:spPr>
        <p:txBody>
          <a:bodyPr wrap="square" lIns="0" tIns="0" rIns="0" bIns="0" rtlCol="0" anchor="t"/>
          <a:lstStyle/>
          <a:p>
            <a:pPr algn="ctr" indent="0" marL="0">
              <a:buNone/>
            </a:pPr>
            <a:r>
              <a:rPr lang="en-US" sz="1300" b="1" dirty="0">
                <a:solidFill>
                  <a:srgbClr val="4CAF50"/>
                </a:solidFill>
                <a:latin typeface="Consolas" pitchFamily="34" charset="0"/>
                <a:ea typeface="Consolas" pitchFamily="34" charset="-122"/>
                <a:cs typeface="Consolas" pitchFamily="34" charset="-120"/>
              </a:rPr>
              <a:t>0</a:t>
            </a:r>
            <a:endParaRPr lang="en-US" sz="1300" dirty="0"/>
          </a:p>
        </p:txBody>
      </p:sp>
      <p:sp>
        <p:nvSpPr>
          <p:cNvPr id="42" name="Shape 40"/>
          <p:cNvSpPr/>
          <p:nvPr/>
        </p:nvSpPr>
        <p:spPr>
          <a:xfrm flipV="1">
            <a:off x="7284720" y="1463040"/>
            <a:ext cx="0" cy="822960"/>
          </a:xfrm>
          <a:prstGeom prst="line">
            <a:avLst/>
          </a:prstGeom>
          <a:noFill/>
          <a:ln w="31750">
            <a:solidFill>
              <a:srgbClr val="4CAF50"/>
            </a:solidFill>
            <a:prstDash val="solid"/>
          </a:ln>
        </p:spPr>
      </p:sp>
      <p:sp>
        <p:nvSpPr>
          <p:cNvPr id="43" name="Shape 41"/>
          <p:cNvSpPr/>
          <p:nvPr/>
        </p:nvSpPr>
        <p:spPr>
          <a:xfrm>
            <a:off x="7284720" y="1463040"/>
            <a:ext cx="609600" cy="0"/>
          </a:xfrm>
          <a:prstGeom prst="line">
            <a:avLst/>
          </a:prstGeom>
          <a:noFill/>
          <a:ln w="31750">
            <a:solidFill>
              <a:srgbClr val="FFB300"/>
            </a:solidFill>
            <a:prstDash val="solid"/>
          </a:ln>
        </p:spPr>
      </p:sp>
      <p:sp>
        <p:nvSpPr>
          <p:cNvPr id="44" name="Text 42"/>
          <p:cNvSpPr/>
          <p:nvPr/>
        </p:nvSpPr>
        <p:spPr>
          <a:xfrm>
            <a:off x="7284720" y="2514600"/>
            <a:ext cx="609600" cy="274320"/>
          </a:xfrm>
          <a:prstGeom prst="rect">
            <a:avLst/>
          </a:prstGeom>
          <a:noFill/>
          <a:ln/>
        </p:spPr>
        <p:txBody>
          <a:bodyPr wrap="square" lIns="0" tIns="0" rIns="0" bIns="0" rtlCol="0" anchor="t"/>
          <a:lstStyle/>
          <a:p>
            <a:pPr algn="ctr" indent="0" marL="0">
              <a:buNone/>
            </a:pPr>
            <a:r>
              <a:rPr lang="en-US" sz="1100" dirty="0">
                <a:solidFill>
                  <a:srgbClr val="8892B0"/>
                </a:solidFill>
                <a:latin typeface="Consolas" pitchFamily="34" charset="0"/>
                <a:ea typeface="Consolas" pitchFamily="34" charset="-122"/>
                <a:cs typeface="Consolas" pitchFamily="34" charset="-120"/>
              </a:rPr>
              <a:t>stop</a:t>
            </a:r>
            <a:endParaRPr lang="en-US" sz="1100" dirty="0"/>
          </a:p>
        </p:txBody>
      </p:sp>
      <p:sp>
        <p:nvSpPr>
          <p:cNvPr id="45" name="Shape 43"/>
          <p:cNvSpPr/>
          <p:nvPr/>
        </p:nvSpPr>
        <p:spPr>
          <a:xfrm>
            <a:off x="7894320" y="1463040"/>
            <a:ext cx="609600" cy="0"/>
          </a:xfrm>
          <a:prstGeom prst="line">
            <a:avLst/>
          </a:prstGeom>
          <a:noFill/>
          <a:ln w="31750">
            <a:solidFill>
              <a:srgbClr val="4CAF50"/>
            </a:solidFill>
            <a:prstDash val="solid"/>
          </a:ln>
        </p:spPr>
      </p:sp>
      <p:sp>
        <p:nvSpPr>
          <p:cNvPr id="46" name="Text 44"/>
          <p:cNvSpPr/>
          <p:nvPr/>
        </p:nvSpPr>
        <p:spPr>
          <a:xfrm>
            <a:off x="7894320" y="2514600"/>
            <a:ext cx="609600" cy="274320"/>
          </a:xfrm>
          <a:prstGeom prst="rect">
            <a:avLst/>
          </a:prstGeom>
          <a:noFill/>
          <a:ln/>
        </p:spPr>
        <p:txBody>
          <a:bodyPr wrap="square" lIns="0" tIns="0" rIns="0" bIns="0" rtlCol="0" anchor="t"/>
          <a:lstStyle/>
          <a:p>
            <a:pPr algn="ctr" indent="0" marL="0">
              <a:buNone/>
            </a:pPr>
            <a:r>
              <a:rPr lang="en-US" sz="1100" dirty="0">
                <a:solidFill>
                  <a:srgbClr val="8892B0"/>
                </a:solidFill>
                <a:latin typeface="Consolas" pitchFamily="34" charset="0"/>
                <a:ea typeface="Consolas" pitchFamily="34" charset="-122"/>
                <a:cs typeface="Consolas" pitchFamily="34" charset="-120"/>
              </a:rPr>
              <a:t>idle</a:t>
            </a:r>
            <a:endParaRPr lang="en-US" sz="1100" dirty="0"/>
          </a:p>
        </p:txBody>
      </p:sp>
      <p:sp>
        <p:nvSpPr>
          <p:cNvPr id="47" name="Text 45"/>
          <p:cNvSpPr/>
          <p:nvPr/>
        </p:nvSpPr>
        <p:spPr>
          <a:xfrm>
            <a:off x="457200" y="3246120"/>
            <a:ext cx="822960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'A' = 0x41 = 0100 0001, sent least significant bit first</a:t>
            </a:r>
            <a:endParaRPr lang="en-US" sz="1400" dirty="0"/>
          </a:p>
        </p:txBody>
      </p:sp>
      <p:sp>
        <p:nvSpPr>
          <p:cNvPr id="48" name="Shape 46"/>
          <p:cNvSpPr/>
          <p:nvPr/>
        </p:nvSpPr>
        <p:spPr>
          <a:xfrm>
            <a:off x="457200" y="3657600"/>
            <a:ext cx="8229600" cy="868680"/>
          </a:xfrm>
          <a:prstGeom prst="rect">
            <a:avLst/>
          </a:prstGeom>
          <a:solidFill>
            <a:srgbClr val="253270"/>
          </a:solidFill>
          <a:ln w="12700">
            <a:solidFill>
              <a:srgbClr val="CADCFC"/>
            </a:solidFill>
            <a:prstDash val="solid"/>
          </a:ln>
        </p:spPr>
      </p:sp>
      <p:sp>
        <p:nvSpPr>
          <p:cNvPr id="49" name="Shape 47"/>
          <p:cNvSpPr/>
          <p:nvPr/>
        </p:nvSpPr>
        <p:spPr>
          <a:xfrm>
            <a:off x="457200" y="3657600"/>
            <a:ext cx="64008" cy="868680"/>
          </a:xfrm>
          <a:prstGeom prst="rect">
            <a:avLst/>
          </a:prstGeom>
          <a:solidFill>
            <a:srgbClr val="CADCFC"/>
          </a:solidFill>
          <a:ln/>
        </p:spPr>
      </p:sp>
      <p:sp>
        <p:nvSpPr>
          <p:cNvPr id="50" name="Text 48"/>
          <p:cNvSpPr/>
          <p:nvPr/>
        </p:nvSpPr>
        <p:spPr>
          <a:xfrm>
            <a:off x="685800" y="373075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8N1</a:t>
            </a:r>
            <a:endParaRPr lang="en-US" sz="1300" dirty="0"/>
          </a:p>
        </p:txBody>
      </p:sp>
      <p:sp>
        <p:nvSpPr>
          <p:cNvPr id="51" name="Text 49"/>
          <p:cNvSpPr/>
          <p:nvPr/>
        </p:nvSpPr>
        <p:spPr>
          <a:xfrm>
            <a:off x="685800" y="4005072"/>
            <a:ext cx="7863840" cy="4572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8 data bits, No parity, 1 stop bit. The line idles HIGH; the falling edge of the start bit is the only timing reference the receiver gets.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115200 baud in numbers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457200" y="1280160"/>
            <a:ext cx="1600200" cy="114300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7" name="Text 5"/>
          <p:cNvSpPr/>
          <p:nvPr/>
        </p:nvSpPr>
        <p:spPr>
          <a:xfrm>
            <a:off x="457200" y="1417320"/>
            <a:ext cx="160020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115200</a:t>
            </a:r>
            <a:endParaRPr lang="en-US" sz="2400" dirty="0"/>
          </a:p>
        </p:txBody>
      </p:sp>
      <p:sp>
        <p:nvSpPr>
          <p:cNvPr id="8" name="Text 6"/>
          <p:cNvSpPr/>
          <p:nvPr/>
        </p:nvSpPr>
        <p:spPr>
          <a:xfrm>
            <a:off x="502920" y="2011680"/>
            <a:ext cx="1508760" cy="3200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bits per second</a:t>
            </a:r>
            <a:endParaRPr lang="en-US" sz="1200" dirty="0"/>
          </a:p>
        </p:txBody>
      </p:sp>
      <p:sp>
        <p:nvSpPr>
          <p:cNvPr id="9" name="Text 7"/>
          <p:cNvSpPr/>
          <p:nvPr/>
        </p:nvSpPr>
        <p:spPr>
          <a:xfrm>
            <a:off x="2057400" y="1280160"/>
            <a:ext cx="609600" cy="1143000"/>
          </a:xfrm>
          <a:prstGeom prst="rect">
            <a:avLst/>
          </a:prstGeom>
          <a:noFill/>
          <a:ln/>
        </p:spPr>
        <p:txBody>
          <a:bodyPr wrap="square" lIns="0" tIns="0" rIns="0" bIns="0" rtlCol="0" anchor="ctr"/>
          <a:lstStyle/>
          <a:p>
            <a:pPr algn="ctr" indent="0" marL="0">
              <a:buNone/>
            </a:pPr>
            <a:r>
              <a:rPr lang="en-US" sz="2600" b="1" dirty="0">
                <a:solidFill>
                  <a:srgbClr val="8892B0"/>
                </a:solidFill>
                <a:latin typeface="Trebuchet MS" pitchFamily="34" charset="0"/>
                <a:ea typeface="Trebuchet MS" pitchFamily="34" charset="-122"/>
                <a:cs typeface="Trebuchet MS" pitchFamily="34" charset="-120"/>
              </a:rPr>
              <a:t>-&gt;</a:t>
            </a:r>
            <a:endParaRPr lang="en-US" sz="2600" dirty="0"/>
          </a:p>
        </p:txBody>
      </p:sp>
      <p:sp>
        <p:nvSpPr>
          <p:cNvPr id="10" name="Shape 8"/>
          <p:cNvSpPr/>
          <p:nvPr/>
        </p:nvSpPr>
        <p:spPr>
          <a:xfrm>
            <a:off x="2667000" y="1280160"/>
            <a:ext cx="1600200" cy="114300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11" name="Text 9"/>
          <p:cNvSpPr/>
          <p:nvPr/>
        </p:nvSpPr>
        <p:spPr>
          <a:xfrm>
            <a:off x="2667000" y="1417320"/>
            <a:ext cx="160020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8.68 us</a:t>
            </a:r>
            <a:endParaRPr lang="en-US" sz="2400" dirty="0"/>
          </a:p>
        </p:txBody>
      </p:sp>
      <p:sp>
        <p:nvSpPr>
          <p:cNvPr id="12" name="Text 10"/>
          <p:cNvSpPr/>
          <p:nvPr/>
        </p:nvSpPr>
        <p:spPr>
          <a:xfrm>
            <a:off x="2712720" y="2011680"/>
            <a:ext cx="1508760" cy="3200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one bit</a:t>
            </a:r>
            <a:endParaRPr lang="en-US" sz="1200" dirty="0"/>
          </a:p>
        </p:txBody>
      </p:sp>
      <p:sp>
        <p:nvSpPr>
          <p:cNvPr id="13" name="Text 11"/>
          <p:cNvSpPr/>
          <p:nvPr/>
        </p:nvSpPr>
        <p:spPr>
          <a:xfrm>
            <a:off x="4267200" y="1280160"/>
            <a:ext cx="609600" cy="1143000"/>
          </a:xfrm>
          <a:prstGeom prst="rect">
            <a:avLst/>
          </a:prstGeom>
          <a:noFill/>
          <a:ln/>
        </p:spPr>
        <p:txBody>
          <a:bodyPr wrap="square" lIns="0" tIns="0" rIns="0" bIns="0" rtlCol="0" anchor="ctr"/>
          <a:lstStyle/>
          <a:p>
            <a:pPr algn="ctr" indent="0" marL="0">
              <a:buNone/>
            </a:pPr>
            <a:r>
              <a:rPr lang="en-US" sz="2600" b="1" dirty="0">
                <a:solidFill>
                  <a:srgbClr val="8892B0"/>
                </a:solidFill>
                <a:latin typeface="Trebuchet MS" pitchFamily="34" charset="0"/>
                <a:ea typeface="Trebuchet MS" pitchFamily="34" charset="-122"/>
                <a:cs typeface="Trebuchet MS" pitchFamily="34" charset="-120"/>
              </a:rPr>
              <a:t>x</a:t>
            </a:r>
            <a:endParaRPr lang="en-US" sz="2600" dirty="0"/>
          </a:p>
        </p:txBody>
      </p:sp>
      <p:sp>
        <p:nvSpPr>
          <p:cNvPr id="14" name="Shape 12"/>
          <p:cNvSpPr/>
          <p:nvPr/>
        </p:nvSpPr>
        <p:spPr>
          <a:xfrm>
            <a:off x="4876800" y="1280160"/>
            <a:ext cx="1600200" cy="114300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15" name="Text 13"/>
          <p:cNvSpPr/>
          <p:nvPr/>
        </p:nvSpPr>
        <p:spPr>
          <a:xfrm>
            <a:off x="4876800" y="1417320"/>
            <a:ext cx="160020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10</a:t>
            </a:r>
            <a:endParaRPr lang="en-US" sz="2400" dirty="0"/>
          </a:p>
        </p:txBody>
      </p:sp>
      <p:sp>
        <p:nvSpPr>
          <p:cNvPr id="16" name="Text 14"/>
          <p:cNvSpPr/>
          <p:nvPr/>
        </p:nvSpPr>
        <p:spPr>
          <a:xfrm>
            <a:off x="4922520" y="2011680"/>
            <a:ext cx="1508760" cy="3200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bits per byte (8N1)</a:t>
            </a:r>
            <a:endParaRPr lang="en-US" sz="1200" dirty="0"/>
          </a:p>
        </p:txBody>
      </p:sp>
      <p:sp>
        <p:nvSpPr>
          <p:cNvPr id="17" name="Text 15"/>
          <p:cNvSpPr/>
          <p:nvPr/>
        </p:nvSpPr>
        <p:spPr>
          <a:xfrm>
            <a:off x="6477000" y="1280160"/>
            <a:ext cx="609600" cy="1143000"/>
          </a:xfrm>
          <a:prstGeom prst="rect">
            <a:avLst/>
          </a:prstGeom>
          <a:noFill/>
          <a:ln/>
        </p:spPr>
        <p:txBody>
          <a:bodyPr wrap="square" lIns="0" tIns="0" rIns="0" bIns="0" rtlCol="0" anchor="ctr"/>
          <a:lstStyle/>
          <a:p>
            <a:pPr algn="ctr" indent="0" marL="0">
              <a:buNone/>
            </a:pPr>
            <a:r>
              <a:rPr lang="en-US" sz="2600" b="1" dirty="0">
                <a:solidFill>
                  <a:srgbClr val="8892B0"/>
                </a:solidFill>
                <a:latin typeface="Trebuchet MS" pitchFamily="34" charset="0"/>
                <a:ea typeface="Trebuchet MS" pitchFamily="34" charset="-122"/>
                <a:cs typeface="Trebuchet MS" pitchFamily="34" charset="-120"/>
              </a:rPr>
              <a:t>=</a:t>
            </a:r>
            <a:endParaRPr lang="en-US" sz="2600" dirty="0"/>
          </a:p>
        </p:txBody>
      </p:sp>
      <p:sp>
        <p:nvSpPr>
          <p:cNvPr id="18" name="Shape 16"/>
          <p:cNvSpPr/>
          <p:nvPr/>
        </p:nvSpPr>
        <p:spPr>
          <a:xfrm>
            <a:off x="7086600" y="1280160"/>
            <a:ext cx="1600200" cy="114300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sp>
        <p:nvSpPr>
          <p:cNvPr id="19" name="Text 17"/>
          <p:cNvSpPr/>
          <p:nvPr/>
        </p:nvSpPr>
        <p:spPr>
          <a:xfrm>
            <a:off x="7086600" y="1417320"/>
            <a:ext cx="160020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86.8 us</a:t>
            </a:r>
            <a:endParaRPr lang="en-US" sz="2400" dirty="0"/>
          </a:p>
        </p:txBody>
      </p:sp>
      <p:sp>
        <p:nvSpPr>
          <p:cNvPr id="20" name="Text 18"/>
          <p:cNvSpPr/>
          <p:nvPr/>
        </p:nvSpPr>
        <p:spPr>
          <a:xfrm>
            <a:off x="7132320" y="2011680"/>
            <a:ext cx="1508760" cy="3200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one byte</a:t>
            </a:r>
            <a:endParaRPr lang="en-US" sz="1200" dirty="0"/>
          </a:p>
        </p:txBody>
      </p:sp>
      <p:sp>
        <p:nvSpPr>
          <p:cNvPr id="21" name="Text 19"/>
          <p:cNvSpPr/>
          <p:nvPr/>
        </p:nvSpPr>
        <p:spPr>
          <a:xfrm>
            <a:off x="457200" y="2743200"/>
            <a:ext cx="8229600" cy="178308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At most 11520 bytes per second - a full line of text takes a few milliseconds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Both sides count bit times on their own clock. If the two baud rates differ by more than a few percent, the receiver samples the wrong bits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Typical rates: 9600, 115200. Pick one and use it on both boards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Serial is not Serial1</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457200" y="1143000"/>
            <a:ext cx="2590800" cy="210312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7" name="Text 5"/>
          <p:cNvSpPr/>
          <p:nvPr/>
        </p:nvSpPr>
        <p:spPr>
          <a:xfrm>
            <a:off x="457200" y="137160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Serial</a:t>
            </a:r>
            <a:endParaRPr lang="en-US" sz="1700" dirty="0"/>
          </a:p>
        </p:txBody>
      </p:sp>
      <p:sp>
        <p:nvSpPr>
          <p:cNvPr id="8" name="Text 6"/>
          <p:cNvSpPr/>
          <p:nvPr/>
        </p:nvSpPr>
        <p:spPr>
          <a:xfrm>
            <a:off x="594360" y="187452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USB CDC to your PC. Not a UART at all - the baud rate you pass is ignored.</a:t>
            </a:r>
            <a:endParaRPr lang="en-US" sz="1200" dirty="0"/>
          </a:p>
        </p:txBody>
      </p:sp>
      <p:sp>
        <p:nvSpPr>
          <p:cNvPr id="9" name="Shape 7"/>
          <p:cNvSpPr/>
          <p:nvPr/>
        </p:nvSpPr>
        <p:spPr>
          <a:xfrm>
            <a:off x="3276600" y="1143000"/>
            <a:ext cx="2590800" cy="2103120"/>
          </a:xfrm>
          <a:prstGeom prst="rect">
            <a:avLst/>
          </a:prstGeom>
          <a:solidFill>
            <a:srgbClr val="253270"/>
          </a:solidFill>
          <a:ln w="25400">
            <a:solidFill>
              <a:srgbClr val="FFB300"/>
            </a:solidFill>
            <a:prstDash val="solid"/>
          </a:ln>
          <a:effectLst>
            <a:outerShdw sx="100000" sy="100000" kx="0" ky="0" algn="bl" rotWithShape="0" blurRad="50800" dist="25400" dir="8100000">
              <a:srgbClr val="000000">
                <a:alpha val="25000"/>
              </a:srgbClr>
            </a:outerShdw>
          </a:effectLst>
        </p:spPr>
      </p:sp>
      <p:sp>
        <p:nvSpPr>
          <p:cNvPr id="10" name="Text 8"/>
          <p:cNvSpPr/>
          <p:nvPr/>
        </p:nvSpPr>
        <p:spPr>
          <a:xfrm>
            <a:off x="3276600" y="137160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Serial1</a:t>
            </a:r>
            <a:endParaRPr lang="en-US" sz="1700" dirty="0"/>
          </a:p>
        </p:txBody>
      </p:sp>
      <p:sp>
        <p:nvSpPr>
          <p:cNvPr id="11" name="Text 9"/>
          <p:cNvSpPr/>
          <p:nvPr/>
        </p:nvSpPr>
        <p:spPr>
          <a:xfrm>
            <a:off x="3413760" y="187452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UART0, hardware. GP0 = TX, GP1 = RX. Tonight's wire to your partner.</a:t>
            </a:r>
            <a:endParaRPr lang="en-US" sz="1200" dirty="0"/>
          </a:p>
        </p:txBody>
      </p:sp>
      <p:sp>
        <p:nvSpPr>
          <p:cNvPr id="12" name="Shape 10"/>
          <p:cNvSpPr/>
          <p:nvPr/>
        </p:nvSpPr>
        <p:spPr>
          <a:xfrm>
            <a:off x="6096000" y="1143000"/>
            <a:ext cx="2590800" cy="210312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13" name="Text 11"/>
          <p:cNvSpPr/>
          <p:nvPr/>
        </p:nvSpPr>
        <p:spPr>
          <a:xfrm>
            <a:off x="6096000" y="137160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Serial2</a:t>
            </a:r>
            <a:endParaRPr lang="en-US" sz="1700" dirty="0"/>
          </a:p>
        </p:txBody>
      </p:sp>
      <p:sp>
        <p:nvSpPr>
          <p:cNvPr id="14" name="Text 12"/>
          <p:cNvSpPr/>
          <p:nvPr/>
        </p:nvSpPr>
        <p:spPr>
          <a:xfrm>
            <a:off x="6233160" y="187452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UART1, hardware. Default GP8 = TX, GP9 = RX. Tonight's homework: two UARTs, one board.</a:t>
            </a:r>
            <a:endParaRPr lang="en-US" sz="1200" dirty="0"/>
          </a:p>
        </p:txBody>
      </p:sp>
      <p:sp>
        <p:nvSpPr>
          <p:cNvPr id="15" name="Shape 13"/>
          <p:cNvSpPr/>
          <p:nvPr/>
        </p:nvSpPr>
        <p:spPr>
          <a:xfrm>
            <a:off x="457200" y="3520440"/>
            <a:ext cx="8229600" cy="914400"/>
          </a:xfrm>
          <a:prstGeom prst="rect">
            <a:avLst/>
          </a:prstGeom>
          <a:solidFill>
            <a:srgbClr val="253270"/>
          </a:solidFill>
          <a:ln w="12700">
            <a:solidFill>
              <a:srgbClr val="CADCFC"/>
            </a:solidFill>
            <a:prstDash val="solid"/>
          </a:ln>
        </p:spPr>
      </p:sp>
      <p:sp>
        <p:nvSpPr>
          <p:cNvPr id="16" name="Shape 14"/>
          <p:cNvSpPr/>
          <p:nvPr/>
        </p:nvSpPr>
        <p:spPr>
          <a:xfrm>
            <a:off x="457200" y="3520440"/>
            <a:ext cx="64008" cy="914400"/>
          </a:xfrm>
          <a:prstGeom prst="rect">
            <a:avLst/>
          </a:prstGeom>
          <a:solidFill>
            <a:srgbClr val="CADCFC"/>
          </a:solidFill>
          <a:ln/>
        </p:spPr>
      </p:sp>
      <p:sp>
        <p:nvSpPr>
          <p:cNvPr id="17" name="Text 15"/>
          <p:cNvSpPr/>
          <p:nvPr/>
        </p:nvSpPr>
        <p:spPr>
          <a:xfrm>
            <a:off x="685800" y="359359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Two hardware UARTs</a:t>
            </a:r>
            <a:endParaRPr lang="en-US" sz="1300" dirty="0"/>
          </a:p>
        </p:txBody>
      </p:sp>
      <p:sp>
        <p:nvSpPr>
          <p:cNvPr id="18" name="Text 16"/>
          <p:cNvSpPr/>
          <p:nvPr/>
        </p:nvSpPr>
        <p:spPr>
          <a:xfrm>
            <a:off x="685800" y="3867912"/>
            <a:ext cx="7863840" cy="5029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 RP2040 has two UART blocks (ARM PL011) with small FIFOs. The pins can be moved with setTX() / setRX() before begin() - our pin map keeps the defaults.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Wiring two boards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731520" y="1188720"/>
            <a:ext cx="2377440" cy="214884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7" name="Shape 5"/>
          <p:cNvSpPr/>
          <p:nvPr/>
        </p:nvSpPr>
        <p:spPr>
          <a:xfrm>
            <a:off x="6035040" y="1188720"/>
            <a:ext cx="2377440" cy="214884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8" name="Text 6"/>
          <p:cNvSpPr/>
          <p:nvPr/>
        </p:nvSpPr>
        <p:spPr>
          <a:xfrm>
            <a:off x="914400" y="1298448"/>
            <a:ext cx="1371600" cy="320040"/>
          </a:xfrm>
          <a:prstGeom prst="rect">
            <a:avLst/>
          </a:prstGeom>
          <a:noFill/>
          <a:ln/>
        </p:spPr>
        <p:txBody>
          <a:bodyPr wrap="square" lIns="0" tIns="0" rIns="0" bIns="0" rtlCol="0" anchor="t"/>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Pico A</a:t>
            </a:r>
            <a:endParaRPr lang="en-US" sz="1600" dirty="0"/>
          </a:p>
        </p:txBody>
      </p:sp>
      <p:sp>
        <p:nvSpPr>
          <p:cNvPr id="9" name="Text 7"/>
          <p:cNvSpPr/>
          <p:nvPr/>
        </p:nvSpPr>
        <p:spPr>
          <a:xfrm>
            <a:off x="6858000" y="1298448"/>
            <a:ext cx="1371600" cy="320040"/>
          </a:xfrm>
          <a:prstGeom prst="rect">
            <a:avLst/>
          </a:prstGeom>
          <a:noFill/>
          <a:ln/>
        </p:spPr>
        <p:txBody>
          <a:bodyPr wrap="square" lIns="0" tIns="0" rIns="0" bIns="0" rtlCol="0" anchor="t"/>
          <a:lstStyle/>
          <a:p>
            <a:pPr algn="r" indent="0" marL="0">
              <a:buNone/>
            </a:pPr>
            <a:r>
              <a:rPr lang="en-US" sz="1600" b="1" dirty="0">
                <a:solidFill>
                  <a:srgbClr val="FFFFFF"/>
                </a:solidFill>
                <a:latin typeface="Trebuchet MS" pitchFamily="34" charset="0"/>
                <a:ea typeface="Trebuchet MS" pitchFamily="34" charset="-122"/>
                <a:cs typeface="Trebuchet MS" pitchFamily="34" charset="-120"/>
              </a:rPr>
              <a:t>Pico B</a:t>
            </a:r>
            <a:endParaRPr lang="en-US" sz="1600" dirty="0"/>
          </a:p>
        </p:txBody>
      </p:sp>
      <p:sp>
        <p:nvSpPr>
          <p:cNvPr id="10" name="Text 8"/>
          <p:cNvSpPr/>
          <p:nvPr/>
        </p:nvSpPr>
        <p:spPr>
          <a:xfrm>
            <a:off x="868680" y="1719072"/>
            <a:ext cx="2103120" cy="310896"/>
          </a:xfrm>
          <a:prstGeom prst="rect">
            <a:avLst/>
          </a:prstGeom>
          <a:noFill/>
          <a:ln/>
        </p:spPr>
        <p:txBody>
          <a:bodyPr wrap="square" lIns="0" tIns="0" rIns="0" bIns="0" rtlCol="0" anchor="ctr"/>
          <a:lstStyle/>
          <a:p>
            <a:pPr algn="r" indent="0" marL="0">
              <a:buNone/>
            </a:pPr>
            <a:r>
              <a:rPr lang="en-US" sz="1200" dirty="0">
                <a:solidFill>
                  <a:srgbClr val="A8D8FF"/>
                </a:solidFill>
                <a:latin typeface="Consolas" pitchFamily="34" charset="0"/>
                <a:ea typeface="Consolas" pitchFamily="34" charset="-122"/>
                <a:cs typeface="Consolas" pitchFamily="34" charset="-120"/>
              </a:rPr>
              <a:t>GP0  TX  (pin 1)</a:t>
            </a:r>
            <a:endParaRPr lang="en-US" sz="1200" dirty="0"/>
          </a:p>
        </p:txBody>
      </p:sp>
      <p:sp>
        <p:nvSpPr>
          <p:cNvPr id="11" name="Text 9"/>
          <p:cNvSpPr/>
          <p:nvPr/>
        </p:nvSpPr>
        <p:spPr>
          <a:xfrm>
            <a:off x="6172200" y="1719072"/>
            <a:ext cx="2103120" cy="310896"/>
          </a:xfrm>
          <a:prstGeom prst="rect">
            <a:avLst/>
          </a:prstGeom>
          <a:noFill/>
          <a:ln/>
        </p:spPr>
        <p:txBody>
          <a:bodyPr wrap="square" lIns="0" tIns="0" rIns="0" bIns="0" rtlCol="0" anchor="ctr"/>
          <a:lstStyle/>
          <a:p>
            <a:pPr indent="0" marL="0">
              <a:buNone/>
            </a:pPr>
            <a:r>
              <a:rPr lang="en-US" sz="1200" dirty="0">
                <a:solidFill>
                  <a:srgbClr val="A8D8FF"/>
                </a:solidFill>
                <a:latin typeface="Consolas" pitchFamily="34" charset="0"/>
                <a:ea typeface="Consolas" pitchFamily="34" charset="-122"/>
                <a:cs typeface="Consolas" pitchFamily="34" charset="-120"/>
              </a:rPr>
              <a:t>(pin 1)  TX  GP0</a:t>
            </a:r>
            <a:endParaRPr lang="en-US" sz="1200" dirty="0"/>
          </a:p>
        </p:txBody>
      </p:sp>
      <p:sp>
        <p:nvSpPr>
          <p:cNvPr id="12" name="Text 10"/>
          <p:cNvSpPr/>
          <p:nvPr/>
        </p:nvSpPr>
        <p:spPr>
          <a:xfrm>
            <a:off x="868680" y="2221992"/>
            <a:ext cx="2103120" cy="310896"/>
          </a:xfrm>
          <a:prstGeom prst="rect">
            <a:avLst/>
          </a:prstGeom>
          <a:noFill/>
          <a:ln/>
        </p:spPr>
        <p:txBody>
          <a:bodyPr wrap="square" lIns="0" tIns="0" rIns="0" bIns="0" rtlCol="0" anchor="ctr"/>
          <a:lstStyle/>
          <a:p>
            <a:pPr algn="r" indent="0" marL="0">
              <a:buNone/>
            </a:pPr>
            <a:r>
              <a:rPr lang="en-US" sz="1200" dirty="0">
                <a:solidFill>
                  <a:srgbClr val="A8D8FF"/>
                </a:solidFill>
                <a:latin typeface="Consolas" pitchFamily="34" charset="0"/>
                <a:ea typeface="Consolas" pitchFamily="34" charset="-122"/>
                <a:cs typeface="Consolas" pitchFamily="34" charset="-120"/>
              </a:rPr>
              <a:t>GP1  RX  (pin 2)</a:t>
            </a:r>
            <a:endParaRPr lang="en-US" sz="1200" dirty="0"/>
          </a:p>
        </p:txBody>
      </p:sp>
      <p:sp>
        <p:nvSpPr>
          <p:cNvPr id="13" name="Text 11"/>
          <p:cNvSpPr/>
          <p:nvPr/>
        </p:nvSpPr>
        <p:spPr>
          <a:xfrm>
            <a:off x="6172200" y="2221992"/>
            <a:ext cx="2103120" cy="310896"/>
          </a:xfrm>
          <a:prstGeom prst="rect">
            <a:avLst/>
          </a:prstGeom>
          <a:noFill/>
          <a:ln/>
        </p:spPr>
        <p:txBody>
          <a:bodyPr wrap="square" lIns="0" tIns="0" rIns="0" bIns="0" rtlCol="0" anchor="ctr"/>
          <a:lstStyle/>
          <a:p>
            <a:pPr indent="0" marL="0">
              <a:buNone/>
            </a:pPr>
            <a:r>
              <a:rPr lang="en-US" sz="1200" dirty="0">
                <a:solidFill>
                  <a:srgbClr val="A8D8FF"/>
                </a:solidFill>
                <a:latin typeface="Consolas" pitchFamily="34" charset="0"/>
                <a:ea typeface="Consolas" pitchFamily="34" charset="-122"/>
                <a:cs typeface="Consolas" pitchFamily="34" charset="-120"/>
              </a:rPr>
              <a:t>(pin 2)  RX  GP1</a:t>
            </a:r>
            <a:endParaRPr lang="en-US" sz="1200" dirty="0"/>
          </a:p>
        </p:txBody>
      </p:sp>
      <p:sp>
        <p:nvSpPr>
          <p:cNvPr id="14" name="Text 12"/>
          <p:cNvSpPr/>
          <p:nvPr/>
        </p:nvSpPr>
        <p:spPr>
          <a:xfrm>
            <a:off x="868680" y="2724912"/>
            <a:ext cx="2103120" cy="310896"/>
          </a:xfrm>
          <a:prstGeom prst="rect">
            <a:avLst/>
          </a:prstGeom>
          <a:noFill/>
          <a:ln/>
        </p:spPr>
        <p:txBody>
          <a:bodyPr wrap="square" lIns="0" tIns="0" rIns="0" bIns="0" rtlCol="0" anchor="ctr"/>
          <a:lstStyle/>
          <a:p>
            <a:pPr algn="r" indent="0" marL="0">
              <a:buNone/>
            </a:pPr>
            <a:r>
              <a:rPr lang="en-US" sz="1200" dirty="0">
                <a:solidFill>
                  <a:srgbClr val="A8D8FF"/>
                </a:solidFill>
                <a:latin typeface="Consolas" pitchFamily="34" charset="0"/>
                <a:ea typeface="Consolas" pitchFamily="34" charset="-122"/>
                <a:cs typeface="Consolas" pitchFamily="34" charset="-120"/>
              </a:rPr>
              <a:t>GND      (pin 3)</a:t>
            </a:r>
            <a:endParaRPr lang="en-US" sz="1200" dirty="0"/>
          </a:p>
        </p:txBody>
      </p:sp>
      <p:sp>
        <p:nvSpPr>
          <p:cNvPr id="15" name="Text 13"/>
          <p:cNvSpPr/>
          <p:nvPr/>
        </p:nvSpPr>
        <p:spPr>
          <a:xfrm>
            <a:off x="6172200" y="2724912"/>
            <a:ext cx="2103120" cy="310896"/>
          </a:xfrm>
          <a:prstGeom prst="rect">
            <a:avLst/>
          </a:prstGeom>
          <a:noFill/>
          <a:ln/>
        </p:spPr>
        <p:txBody>
          <a:bodyPr wrap="square" lIns="0" tIns="0" rIns="0" bIns="0" rtlCol="0" anchor="ctr"/>
          <a:lstStyle/>
          <a:p>
            <a:pPr indent="0" marL="0">
              <a:buNone/>
            </a:pPr>
            <a:r>
              <a:rPr lang="en-US" sz="1200" dirty="0">
                <a:solidFill>
                  <a:srgbClr val="A8D8FF"/>
                </a:solidFill>
                <a:latin typeface="Consolas" pitchFamily="34" charset="0"/>
                <a:ea typeface="Consolas" pitchFamily="34" charset="-122"/>
                <a:cs typeface="Consolas" pitchFamily="34" charset="-120"/>
              </a:rPr>
              <a:t>(pin 3)      GND</a:t>
            </a:r>
            <a:endParaRPr lang="en-US" sz="1200" dirty="0"/>
          </a:p>
        </p:txBody>
      </p:sp>
      <p:sp>
        <p:nvSpPr>
          <p:cNvPr id="16" name="Shape 14"/>
          <p:cNvSpPr/>
          <p:nvPr/>
        </p:nvSpPr>
        <p:spPr>
          <a:xfrm>
            <a:off x="3108960" y="1874520"/>
            <a:ext cx="2926080" cy="502920"/>
          </a:xfrm>
          <a:prstGeom prst="line">
            <a:avLst/>
          </a:prstGeom>
          <a:noFill/>
          <a:ln w="31750">
            <a:solidFill>
              <a:srgbClr val="FFB300"/>
            </a:solidFill>
            <a:prstDash val="solid"/>
            <a:tailEnd type="triangle"/>
          </a:ln>
        </p:spPr>
      </p:sp>
      <p:sp>
        <p:nvSpPr>
          <p:cNvPr id="17" name="Shape 15"/>
          <p:cNvSpPr/>
          <p:nvPr/>
        </p:nvSpPr>
        <p:spPr>
          <a:xfrm flipH="1">
            <a:off x="3108960" y="1874520"/>
            <a:ext cx="2926080" cy="502920"/>
          </a:xfrm>
          <a:prstGeom prst="line">
            <a:avLst/>
          </a:prstGeom>
          <a:noFill/>
          <a:ln w="31750">
            <a:solidFill>
              <a:srgbClr val="4CAF50"/>
            </a:solidFill>
            <a:prstDash val="solid"/>
            <a:tailEnd type="triangle"/>
          </a:ln>
        </p:spPr>
      </p:sp>
      <p:sp>
        <p:nvSpPr>
          <p:cNvPr id="18" name="Shape 16"/>
          <p:cNvSpPr/>
          <p:nvPr/>
        </p:nvSpPr>
        <p:spPr>
          <a:xfrm>
            <a:off x="3108960" y="2880360"/>
            <a:ext cx="2926080" cy="0"/>
          </a:xfrm>
          <a:prstGeom prst="line">
            <a:avLst/>
          </a:prstGeom>
          <a:noFill/>
          <a:ln w="38100">
            <a:solidFill>
              <a:srgbClr val="8892B0"/>
            </a:solidFill>
            <a:prstDash val="solid"/>
          </a:ln>
        </p:spPr>
      </p:sp>
      <p:sp>
        <p:nvSpPr>
          <p:cNvPr id="19" name="Text 17"/>
          <p:cNvSpPr/>
          <p:nvPr/>
        </p:nvSpPr>
        <p:spPr>
          <a:xfrm>
            <a:off x="3108960" y="1417320"/>
            <a:ext cx="2926080" cy="274320"/>
          </a:xfrm>
          <a:prstGeom prst="rect">
            <a:avLst/>
          </a:prstGeom>
          <a:noFill/>
          <a:ln/>
        </p:spPr>
        <p:txBody>
          <a:bodyPr wrap="square" lIns="0" tIns="0" rIns="0" bIns="0" rtlCol="0" anchor="t"/>
          <a:lstStyle/>
          <a:p>
            <a:pPr algn="ctr" indent="0" marL="0">
              <a:buNone/>
            </a:pPr>
            <a:r>
              <a:rPr lang="en-US" sz="1200" i="1" dirty="0">
                <a:solidFill>
                  <a:srgbClr val="CADCFC"/>
                </a:solidFill>
                <a:latin typeface="Calibri" pitchFamily="34" charset="0"/>
                <a:ea typeface="Calibri" pitchFamily="34" charset="-122"/>
                <a:cs typeface="Calibri" pitchFamily="34" charset="-120"/>
              </a:rPr>
              <a:t>TX goes to RX - crossed</a:t>
            </a:r>
            <a:endParaRPr lang="en-US" sz="1200" dirty="0"/>
          </a:p>
        </p:txBody>
      </p:sp>
      <p:sp>
        <p:nvSpPr>
          <p:cNvPr id="20" name="Text 18"/>
          <p:cNvSpPr/>
          <p:nvPr/>
        </p:nvSpPr>
        <p:spPr>
          <a:xfrm>
            <a:off x="3108960" y="2953512"/>
            <a:ext cx="2926080" cy="274320"/>
          </a:xfrm>
          <a:prstGeom prst="rect">
            <a:avLst/>
          </a:prstGeom>
          <a:noFill/>
          <a:ln/>
        </p:spPr>
        <p:txBody>
          <a:bodyPr wrap="square" lIns="0" tIns="0" rIns="0" bIns="0" rtlCol="0" anchor="t"/>
          <a:lstStyle/>
          <a:p>
            <a:pPr algn="ctr" indent="0" marL="0">
              <a:buNone/>
            </a:pPr>
            <a:r>
              <a:rPr lang="en-US" sz="1200" i="1" dirty="0">
                <a:solidFill>
                  <a:srgbClr val="8892B0"/>
                </a:solidFill>
                <a:latin typeface="Calibri" pitchFamily="34" charset="0"/>
                <a:ea typeface="Calibri" pitchFamily="34" charset="-122"/>
                <a:cs typeface="Calibri" pitchFamily="34" charset="-120"/>
              </a:rPr>
              <a:t>shared ground</a:t>
            </a:r>
            <a:endParaRPr lang="en-US" sz="1200" dirty="0"/>
          </a:p>
        </p:txBody>
      </p:sp>
      <p:pic>
        <p:nvPicPr>
          <p:cNvPr id="21" name="Image 0" descr="preencoded.png">    </p:cNvPr>
          <p:cNvPicPr>
            <a:picLocks noChangeAspect="1"/>
          </p:cNvPicPr>
          <p:nvPr/>
        </p:nvPicPr>
        <p:blipFill>
          <a:blip r:embed="rId1"/>
          <a:stretch>
            <a:fillRect/>
          </a:stretch>
        </p:blipFill>
        <p:spPr>
          <a:xfrm>
            <a:off x="640080" y="3639312"/>
            <a:ext cx="365760" cy="365760"/>
          </a:xfrm>
          <a:prstGeom prst="rect">
            <a:avLst/>
          </a:prstGeom>
        </p:spPr>
      </p:pic>
      <p:sp>
        <p:nvSpPr>
          <p:cNvPr id="22" name="Text 19"/>
          <p:cNvSpPr/>
          <p:nvPr/>
        </p:nvSpPr>
        <p:spPr>
          <a:xfrm>
            <a:off x="1188720" y="3566160"/>
            <a:ext cx="7498080" cy="8229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Never connect 3V3 or VBUS between the boards. Each Pico is powered by its own USB cable - only GND is shared. 3.3 V logic only: no 5 V, no RS-232.</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bridge: what you type goes to your partner</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457200" y="1051560"/>
            <a:ext cx="5120640" cy="3520440"/>
          </a:xfrm>
          <a:prstGeom prst="rect">
            <a:avLst/>
          </a:prstGeom>
          <a:solidFill>
            <a:srgbClr val="0D1117"/>
          </a:solidFill>
          <a:ln w="12700">
            <a:solidFill>
              <a:srgbClr val="3A4A8A"/>
            </a:solidFill>
            <a:prstDash val="solid"/>
          </a:ln>
        </p:spPr>
      </p:sp>
      <p:sp>
        <p:nvSpPr>
          <p:cNvPr id="7" name="Text 5"/>
          <p:cNvSpPr/>
          <p:nvPr/>
        </p:nvSpPr>
        <p:spPr>
          <a:xfrm>
            <a:off x="566928" y="1143000"/>
            <a:ext cx="4901184" cy="3337560"/>
          </a:xfrm>
          <a:prstGeom prst="rect">
            <a:avLst/>
          </a:prstGeom>
          <a:noFill/>
          <a:ln/>
        </p:spPr>
        <p:txBody>
          <a:bodyPr wrap="square" lIns="0" tIns="0" rIns="0" bIns="0" rtlCol="0" anchor="t"/>
          <a:lstStyle/>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static const uint32_t USB_BAUD  = 115200U;  // ignored by USB</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static const uint32_t UART_BAUD = 115200U;  // both boards!</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void setup() {</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    Serial.begin(USB_BAUD);     // USB to your PC</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    Serial1.begin(UART_BAUD);   // UART0: GP0 TX, GP1 RX</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void loop() {</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    while (Serial.available() &gt; 0) {    // PC -&gt; partner</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        Serial1.write(static_cast&lt;uint8_t&gt;(Serial.read()));</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    while (Serial1.available() &gt; 0) {   // partner -&gt; PC</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        Serial.write(static_cast&lt;uint8_t&gt;(Serial1.read()));</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    }</a:t>
            </a:r>
            <a:endParaRPr lang="en-US" sz="950" dirty="0"/>
          </a:p>
          <a:p>
            <a:pPr indent="0" marL="0">
              <a:lnSpc>
                <a:spcPct val="100000"/>
              </a:lnSpc>
              <a:buNone/>
            </a:pPr>
            <a:r>
              <a:rPr lang="en-US" sz="950" dirty="0">
                <a:solidFill>
                  <a:srgbClr val="A8D8FF"/>
                </a:solidFill>
                <a:latin typeface="Consolas" pitchFamily="34" charset="0"/>
                <a:ea typeface="Consolas" pitchFamily="34" charset="-122"/>
                <a:cs typeface="Consolas" pitchFamily="34" charset="-120"/>
              </a:rPr>
              <a:t>}</a:t>
            </a:r>
            <a:endParaRPr lang="en-US" sz="950" dirty="0"/>
          </a:p>
        </p:txBody>
      </p:sp>
      <p:sp>
        <p:nvSpPr>
          <p:cNvPr id="8" name="Text 6"/>
          <p:cNvSpPr/>
          <p:nvPr/>
        </p:nvSpPr>
        <p:spPr>
          <a:xfrm>
            <a:off x="5760720" y="1051560"/>
            <a:ext cx="292608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platformio.ini</a:t>
            </a:r>
            <a:endParaRPr lang="en-US" sz="1300" dirty="0"/>
          </a:p>
        </p:txBody>
      </p:sp>
      <p:sp>
        <p:nvSpPr>
          <p:cNvPr id="9" name="Shape 7"/>
          <p:cNvSpPr/>
          <p:nvPr/>
        </p:nvSpPr>
        <p:spPr>
          <a:xfrm>
            <a:off x="5760720" y="1371600"/>
            <a:ext cx="2926080" cy="1005840"/>
          </a:xfrm>
          <a:prstGeom prst="rect">
            <a:avLst/>
          </a:prstGeom>
          <a:solidFill>
            <a:srgbClr val="0D1117"/>
          </a:solidFill>
          <a:ln w="12700">
            <a:solidFill>
              <a:srgbClr val="3A4A8A"/>
            </a:solidFill>
            <a:prstDash val="solid"/>
          </a:ln>
        </p:spPr>
      </p:sp>
      <p:sp>
        <p:nvSpPr>
          <p:cNvPr id="10" name="Text 8"/>
          <p:cNvSpPr/>
          <p:nvPr/>
        </p:nvSpPr>
        <p:spPr>
          <a:xfrm>
            <a:off x="5870448" y="1463040"/>
            <a:ext cx="2706624" cy="822960"/>
          </a:xfrm>
          <a:prstGeom prst="rect">
            <a:avLst/>
          </a:prstGeom>
          <a:noFill/>
          <a:ln/>
        </p:spPr>
        <p:txBody>
          <a:bodyPr wrap="square" lIns="0" tIns="0" rIns="0" bIns="0" rtlCol="0" anchor="t"/>
          <a:lstStyle/>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monitor_speed = 115200</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monitor_echo = yes</a:t>
            </a:r>
            <a:endParaRPr lang="en-US" sz="1000" dirty="0"/>
          </a:p>
          <a:p>
            <a:pPr indent="0" marL="0">
              <a:lnSpc>
                <a:spcPct val="100000"/>
              </a:lnSpc>
              <a:buNone/>
            </a:pPr>
            <a:r>
              <a:rPr lang="en-US" sz="1000" dirty="0">
                <a:solidFill>
                  <a:srgbClr val="A8D8FF"/>
                </a:solidFill>
                <a:latin typeface="Consolas" pitchFamily="34" charset="0"/>
                <a:ea typeface="Consolas" pitchFamily="34" charset="-122"/>
                <a:cs typeface="Consolas" pitchFamily="34" charset="-120"/>
              </a:rPr>
              <a:t>monitor_filters = send_on_enter</a:t>
            </a:r>
            <a:endParaRPr lang="en-US" sz="1000" dirty="0"/>
          </a:p>
        </p:txBody>
      </p:sp>
      <p:sp>
        <p:nvSpPr>
          <p:cNvPr id="11" name="Text 9"/>
          <p:cNvSpPr/>
          <p:nvPr/>
        </p:nvSpPr>
        <p:spPr>
          <a:xfrm>
            <a:off x="5760720" y="2514600"/>
            <a:ext cx="2926080" cy="201168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echo: see what you type</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send_on_enter: send the whole line on Enter</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Lines end with CR LF - remember that for the protocol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B3D"/>
        </a:solidFill>
      </p:bgPr>
    </p:bg>
    <p:spTree>
      <p:nvGrpSpPr>
        <p:cNvPr id="1" name=""/>
        <p:cNvGrpSpPr/>
        <p:nvPr/>
      </p:nvGrpSpPr>
      <p:grpSpPr>
        <a:xfrm>
          <a:off x="0" y="0"/>
          <a:ext cx="0" cy="0"/>
          <a:chOff x="0" y="0"/>
          <a:chExt cx="0" cy="0"/>
        </a:xfrm>
      </p:grpSpPr>
      <p:sp>
        <p:nvSpPr>
          <p:cNvPr id="2" name="Shape 0"/>
          <p:cNvSpPr/>
          <p:nvPr/>
        </p:nvSpPr>
        <p:spPr>
          <a:xfrm>
            <a:off x="0" y="2148840"/>
            <a:ext cx="822960" cy="54864"/>
          </a:xfrm>
          <a:prstGeom prst="rect">
            <a:avLst/>
          </a:prstGeom>
          <a:solidFill>
            <a:srgbClr val="FFB300"/>
          </a:solidFill>
          <a:ln/>
        </p:spPr>
      </p:sp>
      <p:sp>
        <p:nvSpPr>
          <p:cNvPr id="3" name="Text 1"/>
          <p:cNvSpPr/>
          <p:nvPr/>
        </p:nvSpPr>
        <p:spPr>
          <a:xfrm>
            <a:off x="1097280" y="1874520"/>
            <a:ext cx="731520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PART 5</a:t>
            </a:r>
            <a:endParaRPr lang="en-US" sz="1300" dirty="0"/>
          </a:p>
        </p:txBody>
      </p:sp>
      <p:sp>
        <p:nvSpPr>
          <p:cNvPr id="4" name="Text 2"/>
          <p:cNvSpPr/>
          <p:nvPr/>
        </p:nvSpPr>
        <p:spPr>
          <a:xfrm>
            <a:off x="1097280" y="224028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Lab</a:t>
            </a:r>
            <a:endParaRPr lang="en-US" sz="3400" dirty="0"/>
          </a:p>
        </p:txBody>
      </p:sp>
      <p:sp>
        <p:nvSpPr>
          <p:cNvPr id="5" name="Text 3"/>
          <p:cNvSpPr/>
          <p:nvPr/>
        </p:nvSpPr>
        <p:spPr>
          <a:xfrm>
            <a:off x="1097280" y="3063240"/>
            <a:ext cx="7315200" cy="457200"/>
          </a:xfrm>
          <a:prstGeom prst="rect">
            <a:avLst/>
          </a:prstGeom>
          <a:noFill/>
          <a:ln/>
        </p:spPr>
        <p:txBody>
          <a:bodyPr wrap="square" lIns="0" tIns="0" rIns="0" bIns="0" rtlCol="0" anchor="ctr"/>
          <a:lstStyle/>
          <a:p>
            <a:pPr indent="0" marL="0">
              <a:buNone/>
            </a:pPr>
            <a:r>
              <a:rPr lang="en-US" sz="1400" dirty="0">
                <a:solidFill>
                  <a:srgbClr val="8892B0"/>
                </a:solidFill>
                <a:latin typeface="Calibri" pitchFamily="34" charset="0"/>
                <a:ea typeface="Calibri" pitchFamily="34" charset="-122"/>
                <a:cs typeface="Calibri" pitchFamily="34" charset="-120"/>
              </a:rPr>
              <a:t>Chat first, then a sensor on the line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Stage 1: chat</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457200" y="1097280"/>
            <a:ext cx="365760" cy="365760"/>
          </a:xfrm>
          <a:prstGeom prst="ellipse">
            <a:avLst/>
          </a:prstGeom>
          <a:solidFill>
            <a:srgbClr val="253270"/>
          </a:solidFill>
          <a:ln w="19050">
            <a:solidFill>
              <a:srgbClr val="CADCFC"/>
            </a:solidFill>
            <a:prstDash val="solid"/>
          </a:ln>
        </p:spPr>
      </p:sp>
      <p:sp>
        <p:nvSpPr>
          <p:cNvPr id="7" name="Text 5"/>
          <p:cNvSpPr/>
          <p:nvPr/>
        </p:nvSpPr>
        <p:spPr>
          <a:xfrm>
            <a:off x="457200" y="10972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60120" y="1078992"/>
            <a:ext cx="7726680" cy="475488"/>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Pair up: one Pico A, one Pico B</a:t>
            </a:r>
            <a:endParaRPr lang="en-US" sz="1500" dirty="0"/>
          </a:p>
        </p:txBody>
      </p:sp>
      <p:sp>
        <p:nvSpPr>
          <p:cNvPr id="9" name="Shape 7"/>
          <p:cNvSpPr/>
          <p:nvPr/>
        </p:nvSpPr>
        <p:spPr>
          <a:xfrm>
            <a:off x="457200" y="1609344"/>
            <a:ext cx="365760" cy="365760"/>
          </a:xfrm>
          <a:prstGeom prst="ellipse">
            <a:avLst/>
          </a:prstGeom>
          <a:solidFill>
            <a:srgbClr val="253270"/>
          </a:solidFill>
          <a:ln w="19050">
            <a:solidFill>
              <a:srgbClr val="CADCFC"/>
            </a:solidFill>
            <a:prstDash val="solid"/>
          </a:ln>
        </p:spPr>
      </p:sp>
      <p:sp>
        <p:nvSpPr>
          <p:cNvPr id="10" name="Text 8"/>
          <p:cNvSpPr/>
          <p:nvPr/>
        </p:nvSpPr>
        <p:spPr>
          <a:xfrm>
            <a:off x="457200" y="16093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960120" y="1591056"/>
            <a:ext cx="7726680" cy="475488"/>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Wire TX -&gt; RX, RX &lt;- TX, GND - GND (pins 1, 2, 3)</a:t>
            </a:r>
            <a:endParaRPr lang="en-US" sz="1500" dirty="0"/>
          </a:p>
        </p:txBody>
      </p:sp>
      <p:sp>
        <p:nvSpPr>
          <p:cNvPr id="12" name="Shape 10"/>
          <p:cNvSpPr/>
          <p:nvPr/>
        </p:nvSpPr>
        <p:spPr>
          <a:xfrm>
            <a:off x="457200" y="2121408"/>
            <a:ext cx="365760" cy="365760"/>
          </a:xfrm>
          <a:prstGeom prst="ellipse">
            <a:avLst/>
          </a:prstGeom>
          <a:solidFill>
            <a:srgbClr val="253270"/>
          </a:solidFill>
          <a:ln w="19050">
            <a:solidFill>
              <a:srgbClr val="CADCFC"/>
            </a:solidFill>
            <a:prstDash val="solid"/>
          </a:ln>
        </p:spPr>
      </p:sp>
      <p:sp>
        <p:nvSpPr>
          <p:cNvPr id="13" name="Text 11"/>
          <p:cNvSpPr/>
          <p:nvPr/>
        </p:nvSpPr>
        <p:spPr>
          <a:xfrm>
            <a:off x="457200" y="21214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960120" y="2103120"/>
            <a:ext cx="7726680" cy="475488"/>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Flash the bridge on both boards, open both monitors</a:t>
            </a:r>
            <a:endParaRPr lang="en-US" sz="1500" dirty="0"/>
          </a:p>
        </p:txBody>
      </p:sp>
      <p:sp>
        <p:nvSpPr>
          <p:cNvPr id="15" name="Shape 13"/>
          <p:cNvSpPr/>
          <p:nvPr/>
        </p:nvSpPr>
        <p:spPr>
          <a:xfrm>
            <a:off x="457200" y="2633472"/>
            <a:ext cx="365760" cy="365760"/>
          </a:xfrm>
          <a:prstGeom prst="ellipse">
            <a:avLst/>
          </a:prstGeom>
          <a:solidFill>
            <a:srgbClr val="253270"/>
          </a:solidFill>
          <a:ln w="19050">
            <a:solidFill>
              <a:srgbClr val="CADCFC"/>
            </a:solidFill>
            <a:prstDash val="solid"/>
          </a:ln>
        </p:spPr>
      </p:sp>
      <p:sp>
        <p:nvSpPr>
          <p:cNvPr id="16" name="Text 14"/>
          <p:cNvSpPr/>
          <p:nvPr/>
        </p:nvSpPr>
        <p:spPr>
          <a:xfrm>
            <a:off x="457200" y="26334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960120" y="2615184"/>
            <a:ext cx="7726680" cy="475488"/>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Type a line and press Enter: it appears on your partner's screen</a:t>
            </a:r>
            <a:endParaRPr lang="en-US" sz="1500" dirty="0"/>
          </a:p>
        </p:txBody>
      </p:sp>
      <p:sp>
        <p:nvSpPr>
          <p:cNvPr id="18" name="Shape 16"/>
          <p:cNvSpPr/>
          <p:nvPr/>
        </p:nvSpPr>
        <p:spPr>
          <a:xfrm>
            <a:off x="457200" y="3145536"/>
            <a:ext cx="365760" cy="365760"/>
          </a:xfrm>
          <a:prstGeom prst="ellipse">
            <a:avLst/>
          </a:prstGeom>
          <a:solidFill>
            <a:srgbClr val="253270"/>
          </a:solidFill>
          <a:ln w="19050">
            <a:solidFill>
              <a:srgbClr val="CADCFC"/>
            </a:solidFill>
            <a:prstDash val="solid"/>
          </a:ln>
        </p:spPr>
      </p:sp>
      <p:sp>
        <p:nvSpPr>
          <p:cNvPr id="19" name="Text 17"/>
          <p:cNvSpPr/>
          <p:nvPr/>
        </p:nvSpPr>
        <p:spPr>
          <a:xfrm>
            <a:off x="457200" y="31455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960120" y="3127248"/>
            <a:ext cx="7726680" cy="475488"/>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Pull out one data wire. Which direction stops working - and why only that one?</a:t>
            </a:r>
            <a:endParaRPr lang="en-US" sz="1500" dirty="0"/>
          </a:p>
        </p:txBody>
      </p:sp>
      <p:sp>
        <p:nvSpPr>
          <p:cNvPr id="21" name="Shape 19"/>
          <p:cNvSpPr/>
          <p:nvPr/>
        </p:nvSpPr>
        <p:spPr>
          <a:xfrm>
            <a:off x="457200" y="3749040"/>
            <a:ext cx="8229600" cy="777240"/>
          </a:xfrm>
          <a:prstGeom prst="rect">
            <a:avLst/>
          </a:prstGeom>
          <a:solidFill>
            <a:srgbClr val="253270"/>
          </a:solidFill>
          <a:ln w="12700">
            <a:solidFill>
              <a:srgbClr val="FFB300"/>
            </a:solidFill>
            <a:prstDash val="solid"/>
          </a:ln>
        </p:spPr>
      </p:sp>
      <p:sp>
        <p:nvSpPr>
          <p:cNvPr id="22" name="Shape 20"/>
          <p:cNvSpPr/>
          <p:nvPr/>
        </p:nvSpPr>
        <p:spPr>
          <a:xfrm>
            <a:off x="457200" y="3749040"/>
            <a:ext cx="64008" cy="777240"/>
          </a:xfrm>
          <a:prstGeom prst="rect">
            <a:avLst/>
          </a:prstGeom>
          <a:solidFill>
            <a:srgbClr val="FFB300"/>
          </a:solidFill>
          <a:ln/>
        </p:spPr>
      </p:sp>
      <p:sp>
        <p:nvSpPr>
          <p:cNvPr id="23" name="Text 21"/>
          <p:cNvSpPr/>
          <p:nvPr/>
        </p:nvSpPr>
        <p:spPr>
          <a:xfrm>
            <a:off x="685800" y="382219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Nothing arrives?</a:t>
            </a:r>
            <a:endParaRPr lang="en-US" sz="1300" dirty="0"/>
          </a:p>
        </p:txBody>
      </p:sp>
      <p:sp>
        <p:nvSpPr>
          <p:cNvPr id="24" name="Text 22"/>
          <p:cNvSpPr/>
          <p:nvPr/>
        </p:nvSpPr>
        <p:spPr>
          <a:xfrm>
            <a:off x="685800" y="4096512"/>
            <a:ext cx="7863840" cy="36576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Check in this order: TX and RX crossed? GND connected? Same baud on both? Monitor open on the right COM port?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Who talks first?</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457200" y="1051560"/>
            <a:ext cx="8229600" cy="548640"/>
          </a:xfrm>
          <a:prstGeom prst="rect">
            <a:avLst/>
          </a:prstGeom>
          <a:noFill/>
          <a:ln/>
        </p:spPr>
        <p:txBody>
          <a:bodyPr wrap="square" lIns="0" tIns="0" rIns="0" bIns="0" rtlCol="0" anchor="t"/>
          <a:lstStyle/>
          <a:p>
            <a:pPr indent="0" marL="0">
              <a:buNone/>
            </a:pPr>
            <a:r>
              <a:rPr lang="en-US" sz="1500" dirty="0">
                <a:solidFill>
                  <a:srgbClr val="CADCFC"/>
                </a:solidFill>
                <a:latin typeface="Calibri" pitchFamily="34" charset="0"/>
                <a:ea typeface="Calibri" pitchFamily="34" charset="-122"/>
                <a:cs typeface="Calibri" pitchFamily="34" charset="-120"/>
              </a:rPr>
              <a:t>UART has no master: two independent wires, either side may talk at any time. The protocol decides who leads.</a:t>
            </a:r>
            <a:endParaRPr lang="en-US" sz="1500" dirty="0"/>
          </a:p>
        </p:txBody>
      </p:sp>
      <p:sp>
        <p:nvSpPr>
          <p:cNvPr id="7" name="Shape 5"/>
          <p:cNvSpPr/>
          <p:nvPr/>
        </p:nvSpPr>
        <p:spPr>
          <a:xfrm>
            <a:off x="457200" y="1737360"/>
            <a:ext cx="2590800" cy="210312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8" name="Text 6"/>
          <p:cNvSpPr/>
          <p:nvPr/>
        </p:nvSpPr>
        <p:spPr>
          <a:xfrm>
            <a:off x="457200" y="196596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Stream</a:t>
            </a:r>
            <a:endParaRPr lang="en-US" sz="1700" dirty="0"/>
          </a:p>
        </p:txBody>
      </p:sp>
      <p:sp>
        <p:nvSpPr>
          <p:cNvPr id="9" name="Text 7"/>
          <p:cNvSpPr/>
          <p:nvPr/>
        </p:nvSpPr>
        <p:spPr>
          <a:xfrm>
            <a:off x="594360" y="246888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The pot board sends POT 512 every 100 ms on its own. The LED board only listens. Simple - but who notices when it goes quiet?</a:t>
            </a:r>
            <a:endParaRPr lang="en-US" sz="1200" dirty="0"/>
          </a:p>
        </p:txBody>
      </p:sp>
      <p:sp>
        <p:nvSpPr>
          <p:cNvPr id="10" name="Shape 8"/>
          <p:cNvSpPr/>
          <p:nvPr/>
        </p:nvSpPr>
        <p:spPr>
          <a:xfrm>
            <a:off x="3276600" y="1737360"/>
            <a:ext cx="2590800" cy="210312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11" name="Text 9"/>
          <p:cNvSpPr/>
          <p:nvPr/>
        </p:nvSpPr>
        <p:spPr>
          <a:xfrm>
            <a:off x="3276600" y="196596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Poll</a:t>
            </a:r>
            <a:endParaRPr lang="en-US" sz="1700" dirty="0"/>
          </a:p>
        </p:txBody>
      </p:sp>
      <p:sp>
        <p:nvSpPr>
          <p:cNvPr id="12" name="Text 10"/>
          <p:cNvSpPr/>
          <p:nvPr/>
        </p:nvSpPr>
        <p:spPr>
          <a:xfrm>
            <a:off x="3413760" y="246888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The LED board asks POT?, the pot board answers POT 512. The one who needs the data sets the pace.</a:t>
            </a:r>
            <a:endParaRPr lang="en-US" sz="1200" dirty="0"/>
          </a:p>
        </p:txBody>
      </p:sp>
      <p:sp>
        <p:nvSpPr>
          <p:cNvPr id="13" name="Shape 11"/>
          <p:cNvSpPr/>
          <p:nvPr/>
        </p:nvSpPr>
        <p:spPr>
          <a:xfrm>
            <a:off x="6096000" y="1737360"/>
            <a:ext cx="2590800" cy="2103120"/>
          </a:xfrm>
          <a:prstGeom prst="rect">
            <a:avLst/>
          </a:prstGeom>
          <a:solidFill>
            <a:srgbClr val="253270"/>
          </a:solidFill>
          <a:ln w="12700">
            <a:solidFill>
              <a:srgbClr val="3A4A8A"/>
            </a:solidFill>
            <a:prstDash val="solid"/>
          </a:ln>
          <a:effectLst>
            <a:outerShdw sx="100000" sy="100000" kx="0" ky="0" algn="bl" rotWithShape="0" blurRad="50800" dist="25400" dir="8100000">
              <a:srgbClr val="000000">
                <a:alpha val="25000"/>
              </a:srgbClr>
            </a:outerShdw>
          </a:effectLst>
        </p:spPr>
      </p:sp>
      <p:sp>
        <p:nvSpPr>
          <p:cNvPr id="14" name="Text 12"/>
          <p:cNvSpPr/>
          <p:nvPr/>
        </p:nvSpPr>
        <p:spPr>
          <a:xfrm>
            <a:off x="6096000" y="1965960"/>
            <a:ext cx="2590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Command</a:t>
            </a:r>
            <a:endParaRPr lang="en-US" sz="1700" dirty="0"/>
          </a:p>
        </p:txBody>
      </p:sp>
      <p:sp>
        <p:nvSpPr>
          <p:cNvPr id="15" name="Text 13"/>
          <p:cNvSpPr/>
          <p:nvPr/>
        </p:nvSpPr>
        <p:spPr>
          <a:xfrm>
            <a:off x="6233160" y="2468880"/>
            <a:ext cx="2316480" cy="12344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The pot board works out the period itself and sends PERIOD 300. Should the sensor own that maths?</a:t>
            </a:r>
            <a:endParaRPr lang="en-US" sz="1200" dirty="0"/>
          </a:p>
        </p:txBody>
      </p:sp>
      <p:sp>
        <p:nvSpPr>
          <p:cNvPr id="16" name="Text 14"/>
          <p:cNvSpPr/>
          <p:nvPr/>
        </p:nvSpPr>
        <p:spPr>
          <a:xfrm>
            <a:off x="457200" y="4023360"/>
            <a:ext cx="8229600" cy="411480"/>
          </a:xfrm>
          <a:prstGeom prst="rect">
            <a:avLst/>
          </a:prstGeom>
          <a:noFill/>
          <a:ln/>
        </p:spPr>
        <p:txBody>
          <a:bodyPr wrap="square" lIns="0" tIns="0" rIns="0" bIns="0" rtlCol="0" anchor="t"/>
          <a:lstStyle/>
          <a:p>
            <a:pPr algn="ctr" indent="0" marL="0">
              <a:buNone/>
            </a:pPr>
            <a:r>
              <a:rPr lang="en-US" sz="1800" b="1" dirty="0">
                <a:solidFill>
                  <a:srgbClr val="FFB300"/>
                </a:solidFill>
                <a:latin typeface="Trebuchet MS" pitchFamily="34" charset="0"/>
                <a:ea typeface="Trebuchet MS" pitchFamily="34" charset="-122"/>
                <a:cs typeface="Trebuchet MS" pitchFamily="34" charset="-120"/>
              </a:rPr>
              <a:t>Which board should lead - and why?</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Stage 2: the LED board leads</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0"/>
                <a:gridCol w="2377440"/>
                <a:gridCol w="3108960"/>
              </a:tblGrid>
              <a:tr h="32004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Who</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Sends</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3A4A8A"/>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LED board (master)</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POT?</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every 100 ms</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r h="320040">
                <a:tc>
                  <a:txBody>
                    <a:bodyPr/>
                    <a:lstStyle/>
                    <a:p>
                      <a:pPr algn="l" indent="0" marL="0">
                        <a:buNone/>
                      </a:pPr>
                      <a:r>
                        <a:rPr lang="en-US" sz="1400" dirty="0">
                          <a:solidFill>
                            <a:srgbClr val="FFFFFF"/>
                          </a:solidFill>
                          <a:latin typeface="Calibri" pitchFamily="34" charset="0"/>
                          <a:ea typeface="Calibri" pitchFamily="34" charset="-122"/>
                          <a:cs typeface="Calibri" pitchFamily="34" charset="-120"/>
                        </a:rPr>
                        <a:t>Pot board (slave)</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POT &lt;0..1023&gt;</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c>
                  <a:txBody>
                    <a:bodyPr/>
                    <a:lstStyle/>
                    <a:p>
                      <a:pPr algn="ctr" indent="0" marL="0">
                        <a:buNone/>
                      </a:pPr>
                      <a:r>
                        <a:rPr lang="en-US" sz="1400" dirty="0">
                          <a:solidFill>
                            <a:srgbClr val="CADCFC"/>
                          </a:solidFill>
                          <a:latin typeface="Calibri" pitchFamily="34" charset="0"/>
                          <a:ea typeface="Calibri" pitchFamily="34" charset="-122"/>
                          <a:cs typeface="Calibri" pitchFamily="34" charset="-120"/>
                        </a:rPr>
                        <a:t>only as the answer to POT?</a:t>
                      </a:r>
                      <a:endParaRPr lang="en-US" sz="1400" dirty="0">
                        <a:latin typeface="Calibri" charset="0"/>
                        <a:ea typeface="Calibri" charset="0"/>
                        <a:cs typeface="Calibri" charset="0"/>
                      </a:endParaRPr>
                    </a:p>
                  </a:txBody>
                  <a:tcPr marL="91440" marR="91440" marT="45720" marB="45720" anchor="ctr">
                    <a:lnL w="12700" cap="flat" cmpd="sng" algn="ctr">
                      <a:solidFill>
                        <a:srgbClr val="1E2761"/>
                      </a:solidFill>
                      <a:prstDash val="solid"/>
                      <a:round/>
                      <a:headEnd type="none" w="med" len="med"/>
                      <a:tailEnd type="none" w="med" len="med"/>
                    </a:lnL>
                    <a:lnR w="12700" cap="flat" cmpd="sng" algn="ctr">
                      <a:solidFill>
                        <a:srgbClr val="1E2761"/>
                      </a:solidFill>
                      <a:prstDash val="solid"/>
                      <a:round/>
                      <a:headEnd type="none" w="med" len="med"/>
                      <a:tailEnd type="none" w="med" len="med"/>
                    </a:lnR>
                    <a:lnT w="12700" cap="flat" cmpd="sng" algn="ctr">
                      <a:solidFill>
                        <a:srgbClr val="1E2761"/>
                      </a:solidFill>
                      <a:prstDash val="solid"/>
                      <a:round/>
                      <a:headEnd type="none" w="med" len="med"/>
                      <a:tailEnd type="none" w="med" len="med"/>
                    </a:lnT>
                    <a:lnB w="12700" cap="flat" cmpd="sng" algn="ctr">
                      <a:solidFill>
                        <a:srgbClr val="1E2761"/>
                      </a:solidFill>
                      <a:prstDash val="solid"/>
                      <a:round/>
                      <a:headEnd type="none" w="med" len="med"/>
                      <a:tailEnd type="none" w="med" len="med"/>
                    </a:lnB>
                    <a:solidFill>
                      <a:srgbClr val="253270"/>
                    </a:solidFill>
                  </a:tcPr>
                </a:tc>
              </a:tr>
            </a:tbl>
          </a:graphicData>
        </a:graphic>
      </p:graphicFrame>
      <p:sp>
        <p:nvSpPr>
          <p:cNvPr id="7" name="Text 4"/>
          <p:cNvSpPr/>
          <p:nvPr/>
        </p:nvSpPr>
        <p:spPr>
          <a:xfrm>
            <a:off x="457200" y="2286000"/>
            <a:ext cx="8229600" cy="228600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Master: map the value to a blink half-period of 50 .. 500 ms and blink GP25 - no delay()</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Master: no answer within 200 ms -&gt; print "no reply", LED off. Back to normal when answers return</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Slave: never talks first. Anything other than POT? is ignored</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Every message is one line: ends at '\n', '\r' ignored, at most 31 characters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Wiring the potentiometer (pot board only)</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731520" y="1188720"/>
            <a:ext cx="2651760" cy="210312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7" name="Shape 5"/>
          <p:cNvSpPr/>
          <p:nvPr/>
        </p:nvSpPr>
        <p:spPr>
          <a:xfrm>
            <a:off x="5760720" y="1188720"/>
            <a:ext cx="2651760" cy="210312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8" name="Text 6"/>
          <p:cNvSpPr/>
          <p:nvPr/>
        </p:nvSpPr>
        <p:spPr>
          <a:xfrm>
            <a:off x="914400" y="1280160"/>
            <a:ext cx="1371600" cy="320040"/>
          </a:xfrm>
          <a:prstGeom prst="rect">
            <a:avLst/>
          </a:prstGeom>
          <a:noFill/>
          <a:ln/>
        </p:spPr>
        <p:txBody>
          <a:bodyPr wrap="square" lIns="0" tIns="0" rIns="0" bIns="0" rtlCol="0" anchor="t"/>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Pico</a:t>
            </a:r>
            <a:endParaRPr lang="en-US" sz="1600" dirty="0"/>
          </a:p>
        </p:txBody>
      </p:sp>
      <p:sp>
        <p:nvSpPr>
          <p:cNvPr id="9" name="Text 7"/>
          <p:cNvSpPr/>
          <p:nvPr/>
        </p:nvSpPr>
        <p:spPr>
          <a:xfrm>
            <a:off x="5943600" y="1280160"/>
            <a:ext cx="2286000" cy="320040"/>
          </a:xfrm>
          <a:prstGeom prst="rect">
            <a:avLst/>
          </a:prstGeom>
          <a:noFill/>
          <a:ln/>
        </p:spPr>
        <p:txBody>
          <a:bodyPr wrap="square" lIns="0" tIns="0" rIns="0" bIns="0" rtlCol="0" anchor="t"/>
          <a:lstStyle/>
          <a:p>
            <a:pPr algn="r" indent="0" marL="0">
              <a:buNone/>
            </a:pPr>
            <a:r>
              <a:rPr lang="en-US" sz="1600" b="1" dirty="0">
                <a:solidFill>
                  <a:srgbClr val="FFFFFF"/>
                </a:solidFill>
                <a:latin typeface="Trebuchet MS" pitchFamily="34" charset="0"/>
                <a:ea typeface="Trebuchet MS" pitchFamily="34" charset="-122"/>
                <a:cs typeface="Trebuchet MS" pitchFamily="34" charset="-120"/>
              </a:rPr>
              <a:t>10k potentiometer</a:t>
            </a:r>
            <a:endParaRPr lang="en-US" sz="1600" dirty="0"/>
          </a:p>
        </p:txBody>
      </p:sp>
      <p:sp>
        <p:nvSpPr>
          <p:cNvPr id="10" name="Text 8"/>
          <p:cNvSpPr/>
          <p:nvPr/>
        </p:nvSpPr>
        <p:spPr>
          <a:xfrm>
            <a:off x="822960" y="1764792"/>
            <a:ext cx="2468880" cy="310896"/>
          </a:xfrm>
          <a:prstGeom prst="rect">
            <a:avLst/>
          </a:prstGeom>
          <a:noFill/>
          <a:ln/>
        </p:spPr>
        <p:txBody>
          <a:bodyPr wrap="square" lIns="0" tIns="0" rIns="0" bIns="0" rtlCol="0" anchor="ctr"/>
          <a:lstStyle/>
          <a:p>
            <a:pPr algn="r" indent="0" marL="0">
              <a:buNone/>
            </a:pPr>
            <a:r>
              <a:rPr lang="en-US" sz="1200" dirty="0">
                <a:solidFill>
                  <a:srgbClr val="A8D8FF"/>
                </a:solidFill>
                <a:latin typeface="Consolas" pitchFamily="34" charset="0"/>
                <a:ea typeface="Consolas" pitchFamily="34" charset="-122"/>
                <a:cs typeface="Consolas" pitchFamily="34" charset="-120"/>
              </a:rPr>
              <a:t>GP26 / ADC0  (pin 31)</a:t>
            </a:r>
            <a:endParaRPr lang="en-US" sz="1200" dirty="0"/>
          </a:p>
        </p:txBody>
      </p:sp>
      <p:sp>
        <p:nvSpPr>
          <p:cNvPr id="11" name="Text 9"/>
          <p:cNvSpPr/>
          <p:nvPr/>
        </p:nvSpPr>
        <p:spPr>
          <a:xfrm>
            <a:off x="5897880" y="1764792"/>
            <a:ext cx="2377440" cy="310896"/>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middle pin (wiper)</a:t>
            </a:r>
            <a:endParaRPr lang="en-US" sz="1300" dirty="0"/>
          </a:p>
        </p:txBody>
      </p:sp>
      <p:sp>
        <p:nvSpPr>
          <p:cNvPr id="12" name="Shape 10"/>
          <p:cNvSpPr/>
          <p:nvPr/>
        </p:nvSpPr>
        <p:spPr>
          <a:xfrm>
            <a:off x="3383280" y="1920240"/>
            <a:ext cx="2377440" cy="0"/>
          </a:xfrm>
          <a:prstGeom prst="line">
            <a:avLst/>
          </a:prstGeom>
          <a:noFill/>
          <a:ln w="31750">
            <a:solidFill>
              <a:srgbClr val="FFB300"/>
            </a:solidFill>
            <a:prstDash val="solid"/>
          </a:ln>
        </p:spPr>
      </p:sp>
      <p:sp>
        <p:nvSpPr>
          <p:cNvPr id="13" name="Text 11"/>
          <p:cNvSpPr/>
          <p:nvPr/>
        </p:nvSpPr>
        <p:spPr>
          <a:xfrm>
            <a:off x="822960" y="2267712"/>
            <a:ext cx="2468880" cy="310896"/>
          </a:xfrm>
          <a:prstGeom prst="rect">
            <a:avLst/>
          </a:prstGeom>
          <a:noFill/>
          <a:ln/>
        </p:spPr>
        <p:txBody>
          <a:bodyPr wrap="square" lIns="0" tIns="0" rIns="0" bIns="0" rtlCol="0" anchor="ctr"/>
          <a:lstStyle/>
          <a:p>
            <a:pPr algn="r" indent="0" marL="0">
              <a:buNone/>
            </a:pPr>
            <a:r>
              <a:rPr lang="en-US" sz="1200" dirty="0">
                <a:solidFill>
                  <a:srgbClr val="A8D8FF"/>
                </a:solidFill>
                <a:latin typeface="Consolas" pitchFamily="34" charset="0"/>
                <a:ea typeface="Consolas" pitchFamily="34" charset="-122"/>
                <a:cs typeface="Consolas" pitchFamily="34" charset="-120"/>
              </a:rPr>
              <a:t>AGND         (pin 33)</a:t>
            </a:r>
            <a:endParaRPr lang="en-US" sz="1200" dirty="0"/>
          </a:p>
        </p:txBody>
      </p:sp>
      <p:sp>
        <p:nvSpPr>
          <p:cNvPr id="14" name="Text 12"/>
          <p:cNvSpPr/>
          <p:nvPr/>
        </p:nvSpPr>
        <p:spPr>
          <a:xfrm>
            <a:off x="5897880" y="2267712"/>
            <a:ext cx="2377440" cy="310896"/>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outer pin</a:t>
            </a:r>
            <a:endParaRPr lang="en-US" sz="1300" dirty="0"/>
          </a:p>
        </p:txBody>
      </p:sp>
      <p:sp>
        <p:nvSpPr>
          <p:cNvPr id="15" name="Shape 13"/>
          <p:cNvSpPr/>
          <p:nvPr/>
        </p:nvSpPr>
        <p:spPr>
          <a:xfrm>
            <a:off x="3383280" y="2423160"/>
            <a:ext cx="2377440" cy="0"/>
          </a:xfrm>
          <a:prstGeom prst="line">
            <a:avLst/>
          </a:prstGeom>
          <a:noFill/>
          <a:ln w="31750">
            <a:solidFill>
              <a:srgbClr val="8892B0"/>
            </a:solidFill>
            <a:prstDash val="solid"/>
          </a:ln>
        </p:spPr>
      </p:sp>
      <p:sp>
        <p:nvSpPr>
          <p:cNvPr id="16" name="Text 14"/>
          <p:cNvSpPr/>
          <p:nvPr/>
        </p:nvSpPr>
        <p:spPr>
          <a:xfrm>
            <a:off x="822960" y="2770632"/>
            <a:ext cx="2468880" cy="310896"/>
          </a:xfrm>
          <a:prstGeom prst="rect">
            <a:avLst/>
          </a:prstGeom>
          <a:noFill/>
          <a:ln/>
        </p:spPr>
        <p:txBody>
          <a:bodyPr wrap="square" lIns="0" tIns="0" rIns="0" bIns="0" rtlCol="0" anchor="ctr"/>
          <a:lstStyle/>
          <a:p>
            <a:pPr algn="r" indent="0" marL="0">
              <a:buNone/>
            </a:pPr>
            <a:r>
              <a:rPr lang="en-US" sz="1200" dirty="0">
                <a:solidFill>
                  <a:srgbClr val="A8D8FF"/>
                </a:solidFill>
                <a:latin typeface="Consolas" pitchFamily="34" charset="0"/>
                <a:ea typeface="Consolas" pitchFamily="34" charset="-122"/>
                <a:cs typeface="Consolas" pitchFamily="34" charset="-120"/>
              </a:rPr>
              <a:t>3V3 OUT      (pin 36)</a:t>
            </a:r>
            <a:endParaRPr lang="en-US" sz="1200" dirty="0"/>
          </a:p>
        </p:txBody>
      </p:sp>
      <p:sp>
        <p:nvSpPr>
          <p:cNvPr id="17" name="Text 15"/>
          <p:cNvSpPr/>
          <p:nvPr/>
        </p:nvSpPr>
        <p:spPr>
          <a:xfrm>
            <a:off x="5897880" y="2770632"/>
            <a:ext cx="2377440" cy="310896"/>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other outer pin</a:t>
            </a:r>
            <a:endParaRPr lang="en-US" sz="1300" dirty="0"/>
          </a:p>
        </p:txBody>
      </p:sp>
      <p:sp>
        <p:nvSpPr>
          <p:cNvPr id="18" name="Shape 16"/>
          <p:cNvSpPr/>
          <p:nvPr/>
        </p:nvSpPr>
        <p:spPr>
          <a:xfrm>
            <a:off x="3383280" y="2926080"/>
            <a:ext cx="2377440" cy="0"/>
          </a:xfrm>
          <a:prstGeom prst="line">
            <a:avLst/>
          </a:prstGeom>
          <a:noFill/>
          <a:ln w="31750">
            <a:solidFill>
              <a:srgbClr val="FF5252"/>
            </a:solidFill>
            <a:prstDash val="solid"/>
          </a:ln>
        </p:spPr>
      </p:sp>
      <p:sp>
        <p:nvSpPr>
          <p:cNvPr id="19" name="Shape 17"/>
          <p:cNvSpPr/>
          <p:nvPr/>
        </p:nvSpPr>
        <p:spPr>
          <a:xfrm>
            <a:off x="457200" y="3520440"/>
            <a:ext cx="8229600" cy="914400"/>
          </a:xfrm>
          <a:prstGeom prst="rect">
            <a:avLst/>
          </a:prstGeom>
          <a:solidFill>
            <a:srgbClr val="253270"/>
          </a:solidFill>
          <a:ln w="12700">
            <a:solidFill>
              <a:srgbClr val="CADCFC"/>
            </a:solidFill>
            <a:prstDash val="solid"/>
          </a:ln>
        </p:spPr>
      </p:sp>
      <p:sp>
        <p:nvSpPr>
          <p:cNvPr id="20" name="Shape 18"/>
          <p:cNvSpPr/>
          <p:nvPr/>
        </p:nvSpPr>
        <p:spPr>
          <a:xfrm>
            <a:off x="457200" y="3520440"/>
            <a:ext cx="64008" cy="914400"/>
          </a:xfrm>
          <a:prstGeom prst="rect">
            <a:avLst/>
          </a:prstGeom>
          <a:solidFill>
            <a:srgbClr val="CADCFC"/>
          </a:solidFill>
          <a:ln/>
        </p:spPr>
      </p:sp>
      <p:sp>
        <p:nvSpPr>
          <p:cNvPr id="21" name="Text 19"/>
          <p:cNvSpPr/>
          <p:nvPr/>
        </p:nvSpPr>
        <p:spPr>
          <a:xfrm>
            <a:off x="685800" y="3593592"/>
            <a:ext cx="7863840" cy="274320"/>
          </a:xfrm>
          <a:prstGeom prst="rect">
            <a:avLst/>
          </a:prstGeom>
          <a:noFill/>
          <a:ln/>
        </p:spPr>
        <p:txBody>
          <a:bodyPr wrap="square" lIns="0" tIns="0" rIns="0" bIns="0" rtlCol="0" anchor="ctr"/>
          <a:lstStyle/>
          <a:p>
            <a:pPr indent="0" marL="0">
              <a:buNone/>
            </a:pPr>
            <a:r>
              <a:rPr lang="en-US" sz="1300" b="1" dirty="0">
                <a:solidFill>
                  <a:srgbClr val="CADCFC"/>
                </a:solidFill>
                <a:latin typeface="Trebuchet MS" pitchFamily="34" charset="0"/>
                <a:ea typeface="Trebuchet MS" pitchFamily="34" charset="-122"/>
                <a:cs typeface="Trebuchet MS" pitchFamily="34" charset="-120"/>
              </a:rPr>
              <a:t>No 3.3k resistor this time</a:t>
            </a:r>
            <a:endParaRPr lang="en-US" sz="1300" dirty="0"/>
          </a:p>
        </p:txBody>
      </p:sp>
      <p:sp>
        <p:nvSpPr>
          <p:cNvPr id="22" name="Text 20"/>
          <p:cNvSpPr/>
          <p:nvPr/>
        </p:nvSpPr>
        <p:spPr>
          <a:xfrm>
            <a:off x="685800" y="3867912"/>
            <a:ext cx="7863840" cy="50292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On the C3 it worked around the ADC range. The Pico ADC reads the whole 0 .. 3.3 V. analogRead() gives 0 .. 1023 by default (10 bits); analogReadResolution(12) gives 0 .. 4095.</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Building a line, one byte at a time</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457200" y="1051560"/>
            <a:ext cx="5394960" cy="3520440"/>
          </a:xfrm>
          <a:prstGeom prst="rect">
            <a:avLst/>
          </a:prstGeom>
          <a:solidFill>
            <a:srgbClr val="0D1117"/>
          </a:solidFill>
          <a:ln w="12700">
            <a:solidFill>
              <a:srgbClr val="3A4A8A"/>
            </a:solidFill>
            <a:prstDash val="solid"/>
          </a:ln>
        </p:spPr>
      </p:sp>
      <p:sp>
        <p:nvSpPr>
          <p:cNvPr id="7" name="Text 5"/>
          <p:cNvSpPr/>
          <p:nvPr/>
        </p:nvSpPr>
        <p:spPr>
          <a:xfrm>
            <a:off x="566928" y="1143000"/>
            <a:ext cx="5175504" cy="3337560"/>
          </a:xfrm>
          <a:prstGeom prst="rect">
            <a:avLst/>
          </a:prstGeom>
          <a:noFill/>
          <a:ln/>
        </p:spPr>
        <p:txBody>
          <a:bodyPr wrap="square" lIns="0" tIns="0" rIns="0" bIns="0" rtlCol="0" anchor="t"/>
          <a:lstStyle/>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static const size_t LINE_MAX = 31U;</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static char   s_line[LINE_MAX + 1U];   // + 1 for '\0'</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static size_t s_len = 0U;</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static bool readLine(Stream&amp; in) {     // true: s_line is complete</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    while (in.available() &gt; 0) {</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        const char c = static_cast&lt;char&gt;(in.read());</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        if (c == '\r') { continue; }   // CR LF -&gt; drop CR</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        if (c == '\n') {</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            s_line[s_len] = '\0';   s_len = 0U;</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            return true;</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        if (s_len &lt; LINE_MAX) { s_line[s_len++] = c; }</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    }</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    return false;</a:t>
            </a:r>
            <a:endParaRPr lang="en-US" sz="900" dirty="0"/>
          </a:p>
          <a:p>
            <a:pPr indent="0" marL="0">
              <a:lnSpc>
                <a:spcPct val="100000"/>
              </a:lnSpc>
              <a:buNone/>
            </a:pPr>
            <a:r>
              <a:rPr lang="en-US" sz="900" dirty="0">
                <a:solidFill>
                  <a:srgbClr val="A8D8FF"/>
                </a:solidFill>
                <a:latin typeface="Consolas" pitchFamily="34" charset="0"/>
                <a:ea typeface="Consolas" pitchFamily="34" charset="-122"/>
                <a:cs typeface="Consolas" pitchFamily="34" charset="-120"/>
              </a:rPr>
              <a:t>}</a:t>
            </a:r>
            <a:endParaRPr lang="en-US" sz="900" dirty="0"/>
          </a:p>
        </p:txBody>
      </p:sp>
      <p:sp>
        <p:nvSpPr>
          <p:cNvPr id="8" name="Text 6"/>
          <p:cNvSpPr/>
          <p:nvPr/>
        </p:nvSpPr>
        <p:spPr>
          <a:xfrm>
            <a:off x="6035040" y="1051560"/>
            <a:ext cx="2651760" cy="3520440"/>
          </a:xfrm>
          <a:prstGeom prst="rect">
            <a:avLst/>
          </a:prstGeom>
          <a:noFill/>
          <a:ln/>
        </p:spPr>
        <p:txBody>
          <a:bodyPr wrap="square" rtlCol="0" anchor="t"/>
          <a:lstStyle/>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Bytes arrive one by one, at any time - loop() collects them</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A char array from session 7, no String, no heap</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Slave: strcmp(s_line, "POT?"). Master: strncmp(s_line, "POT ", 4U), then strtoul() for the number</a:t>
            </a:r>
            <a:endParaRPr lang="en-US" sz="1300" dirty="0"/>
          </a:p>
          <a:p>
            <a:pPr marL="342900" indent="-342900">
              <a:lnSpc>
                <a:spcPct val="135000"/>
              </a:lnSpc>
              <a:buSzPct val="100000"/>
              <a:buChar char="■"/>
            </a:pPr>
            <a:r>
              <a:rPr lang="en-US" sz="1300" dirty="0">
                <a:solidFill>
                  <a:srgbClr val="CADCFC"/>
                </a:solidFill>
                <a:latin typeface="Calibri" pitchFamily="34" charset="0"/>
                <a:ea typeface="Calibri" pitchFamily="34" charset="-122"/>
                <a:cs typeface="Calibri" pitchFamily="34" charset="-120"/>
              </a:rPr>
              <a:t>A cut or garbled line is not a valid reply</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The master is a state machine</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23</a:t>
            </a:r>
            <a:endParaRPr lang="en-US" sz="900" dirty="0"/>
          </a:p>
        </p:txBody>
      </p:sp>
      <p:sp>
        <p:nvSpPr>
          <p:cNvPr id="6" name="Shape 4"/>
          <p:cNvSpPr/>
          <p:nvPr/>
        </p:nvSpPr>
        <p:spPr>
          <a:xfrm>
            <a:off x="731520" y="1188720"/>
            <a:ext cx="2103120" cy="192024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7" name="Text 5"/>
          <p:cNvSpPr/>
          <p:nvPr/>
        </p:nvSpPr>
        <p:spPr>
          <a:xfrm>
            <a:off x="731520" y="1691640"/>
            <a:ext cx="210312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IDLE</a:t>
            </a:r>
            <a:endParaRPr lang="en-US" sz="2000" dirty="0"/>
          </a:p>
        </p:txBody>
      </p:sp>
      <p:sp>
        <p:nvSpPr>
          <p:cNvPr id="8" name="Text 6"/>
          <p:cNvSpPr/>
          <p:nvPr/>
        </p:nvSpPr>
        <p:spPr>
          <a:xfrm>
            <a:off x="822960" y="2148840"/>
            <a:ext cx="1920240" cy="5486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blinking at the last period</a:t>
            </a:r>
            <a:endParaRPr lang="en-US" sz="1200" dirty="0"/>
          </a:p>
        </p:txBody>
      </p:sp>
      <p:sp>
        <p:nvSpPr>
          <p:cNvPr id="9" name="Shape 7"/>
          <p:cNvSpPr/>
          <p:nvPr/>
        </p:nvSpPr>
        <p:spPr>
          <a:xfrm>
            <a:off x="6309360" y="1188720"/>
            <a:ext cx="2103120" cy="1920240"/>
          </a:xfrm>
          <a:prstGeom prst="rect">
            <a:avLst/>
          </a:prstGeom>
          <a:solidFill>
            <a:srgbClr val="253270"/>
          </a:solidFill>
          <a:ln w="25400">
            <a:solidFill>
              <a:srgbClr val="CADCFC"/>
            </a:solidFill>
            <a:prstDash val="solid"/>
          </a:ln>
          <a:effectLst>
            <a:outerShdw sx="100000" sy="100000" kx="0" ky="0" algn="bl" rotWithShape="0" blurRad="50800" dist="25400" dir="8100000">
              <a:srgbClr val="000000">
                <a:alpha val="25000"/>
              </a:srgbClr>
            </a:outerShdw>
          </a:effectLst>
        </p:spPr>
      </p:sp>
      <p:sp>
        <p:nvSpPr>
          <p:cNvPr id="10" name="Text 8"/>
          <p:cNvSpPr/>
          <p:nvPr/>
        </p:nvSpPr>
        <p:spPr>
          <a:xfrm>
            <a:off x="6309360" y="1691640"/>
            <a:ext cx="2103120" cy="411480"/>
          </a:xfrm>
          <a:prstGeom prst="rect">
            <a:avLst/>
          </a:prstGeom>
          <a:noFill/>
          <a:ln/>
        </p:spPr>
        <p:txBody>
          <a:bodyPr wrap="square" lIns="0" tIns="0" rIns="0" bIns="0" rtlCol="0" anchor="t"/>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WAITING</a:t>
            </a:r>
            <a:endParaRPr lang="en-US" sz="2000" dirty="0"/>
          </a:p>
        </p:txBody>
      </p:sp>
      <p:sp>
        <p:nvSpPr>
          <p:cNvPr id="11" name="Text 9"/>
          <p:cNvSpPr/>
          <p:nvPr/>
        </p:nvSpPr>
        <p:spPr>
          <a:xfrm>
            <a:off x="6400800" y="2148840"/>
            <a:ext cx="1920240" cy="5486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POT? sent, clock running</a:t>
            </a:r>
            <a:endParaRPr lang="en-US" sz="1200" dirty="0"/>
          </a:p>
        </p:txBody>
      </p:sp>
      <p:sp>
        <p:nvSpPr>
          <p:cNvPr id="12" name="Shape 10"/>
          <p:cNvSpPr/>
          <p:nvPr/>
        </p:nvSpPr>
        <p:spPr>
          <a:xfrm>
            <a:off x="2880360" y="1600200"/>
            <a:ext cx="3383280" cy="0"/>
          </a:xfrm>
          <a:prstGeom prst="line">
            <a:avLst/>
          </a:prstGeom>
          <a:noFill/>
          <a:ln w="25400">
            <a:solidFill>
              <a:srgbClr val="CADCFC"/>
            </a:solidFill>
            <a:prstDash val="solid"/>
            <a:tailEnd type="triangle"/>
          </a:ln>
        </p:spPr>
      </p:sp>
      <p:sp>
        <p:nvSpPr>
          <p:cNvPr id="13" name="Text 11"/>
          <p:cNvSpPr/>
          <p:nvPr/>
        </p:nvSpPr>
        <p:spPr>
          <a:xfrm>
            <a:off x="2926080" y="1307592"/>
            <a:ext cx="3291840" cy="256032"/>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100 ms since the last POT?  /  send POT?</a:t>
            </a:r>
            <a:endParaRPr lang="en-US" sz="1200" dirty="0"/>
          </a:p>
        </p:txBody>
      </p:sp>
      <p:sp>
        <p:nvSpPr>
          <p:cNvPr id="14" name="Shape 12"/>
          <p:cNvSpPr/>
          <p:nvPr/>
        </p:nvSpPr>
        <p:spPr>
          <a:xfrm flipH="1">
            <a:off x="2880360" y="2240280"/>
            <a:ext cx="3383280" cy="0"/>
          </a:xfrm>
          <a:prstGeom prst="line">
            <a:avLst/>
          </a:prstGeom>
          <a:noFill/>
          <a:ln w="25400">
            <a:solidFill>
              <a:srgbClr val="4CAF50"/>
            </a:solidFill>
            <a:prstDash val="solid"/>
            <a:tailEnd type="triangle"/>
          </a:ln>
        </p:spPr>
      </p:sp>
      <p:sp>
        <p:nvSpPr>
          <p:cNvPr id="15" name="Text 13"/>
          <p:cNvSpPr/>
          <p:nvPr/>
        </p:nvSpPr>
        <p:spPr>
          <a:xfrm>
            <a:off x="2926080" y="1947672"/>
            <a:ext cx="3291840" cy="256032"/>
          </a:xfrm>
          <a:prstGeom prst="rect">
            <a:avLst/>
          </a:prstGeom>
          <a:noFill/>
          <a:ln/>
        </p:spPr>
        <p:txBody>
          <a:bodyPr wrap="square" lIns="0" tIns="0" rIns="0" bIns="0" rtlCol="0" anchor="t"/>
          <a:lstStyle/>
          <a:p>
            <a:pPr algn="ctr" indent="0" marL="0">
              <a:buNone/>
            </a:pPr>
            <a:r>
              <a:rPr lang="en-US" sz="1200" dirty="0">
                <a:solidFill>
                  <a:srgbClr val="4CAF50"/>
                </a:solidFill>
                <a:latin typeface="Calibri" pitchFamily="34" charset="0"/>
                <a:ea typeface="Calibri" pitchFamily="34" charset="-122"/>
                <a:cs typeface="Calibri" pitchFamily="34" charset="-120"/>
              </a:rPr>
              <a:t>reply POT n  /  new blink period</a:t>
            </a:r>
            <a:endParaRPr lang="en-US" sz="1200" dirty="0"/>
          </a:p>
        </p:txBody>
      </p:sp>
      <p:sp>
        <p:nvSpPr>
          <p:cNvPr id="16" name="Shape 14"/>
          <p:cNvSpPr/>
          <p:nvPr/>
        </p:nvSpPr>
        <p:spPr>
          <a:xfrm flipH="1">
            <a:off x="2880360" y="2880360"/>
            <a:ext cx="3383280" cy="0"/>
          </a:xfrm>
          <a:prstGeom prst="line">
            <a:avLst/>
          </a:prstGeom>
          <a:noFill/>
          <a:ln w="25400">
            <a:solidFill>
              <a:srgbClr val="FF5252"/>
            </a:solidFill>
            <a:prstDash val="solid"/>
            <a:tailEnd type="triangle"/>
          </a:ln>
        </p:spPr>
      </p:sp>
      <p:sp>
        <p:nvSpPr>
          <p:cNvPr id="17" name="Text 15"/>
          <p:cNvSpPr/>
          <p:nvPr/>
        </p:nvSpPr>
        <p:spPr>
          <a:xfrm>
            <a:off x="2926080" y="2587752"/>
            <a:ext cx="3291840" cy="256032"/>
          </a:xfrm>
          <a:prstGeom prst="rect">
            <a:avLst/>
          </a:prstGeom>
          <a:noFill/>
          <a:ln/>
        </p:spPr>
        <p:txBody>
          <a:bodyPr wrap="square" lIns="0" tIns="0" rIns="0" bIns="0" rtlCol="0" anchor="t"/>
          <a:lstStyle/>
          <a:p>
            <a:pPr algn="ctr" indent="0" marL="0">
              <a:buNone/>
            </a:pPr>
            <a:r>
              <a:rPr lang="en-US" sz="1200" dirty="0">
                <a:solidFill>
                  <a:srgbClr val="FF5252"/>
                </a:solidFill>
                <a:latin typeface="Calibri" pitchFamily="34" charset="0"/>
                <a:ea typeface="Calibri" pitchFamily="34" charset="-122"/>
                <a:cs typeface="Calibri" pitchFamily="34" charset="-120"/>
              </a:rPr>
              <a:t>200 ms, no reply  /  LED off, print no reply</a:t>
            </a:r>
            <a:endParaRPr lang="en-US" sz="1200" dirty="0"/>
          </a:p>
        </p:txBody>
      </p:sp>
      <p:sp>
        <p:nvSpPr>
          <p:cNvPr id="18" name="Shape 16"/>
          <p:cNvSpPr/>
          <p:nvPr/>
        </p:nvSpPr>
        <p:spPr>
          <a:xfrm>
            <a:off x="457200" y="3383280"/>
            <a:ext cx="8229600" cy="1051560"/>
          </a:xfrm>
          <a:prstGeom prst="rect">
            <a:avLst/>
          </a:prstGeom>
          <a:solidFill>
            <a:srgbClr val="253270"/>
          </a:solidFill>
          <a:ln w="12700">
            <a:solidFill>
              <a:srgbClr val="4CAF50"/>
            </a:solidFill>
            <a:prstDash val="solid"/>
          </a:ln>
        </p:spPr>
      </p:sp>
      <p:sp>
        <p:nvSpPr>
          <p:cNvPr id="19" name="Shape 17"/>
          <p:cNvSpPr/>
          <p:nvPr/>
        </p:nvSpPr>
        <p:spPr>
          <a:xfrm>
            <a:off x="457200" y="3383280"/>
            <a:ext cx="64008" cy="1051560"/>
          </a:xfrm>
          <a:prstGeom prst="rect">
            <a:avLst/>
          </a:prstGeom>
          <a:solidFill>
            <a:srgbClr val="4CAF50"/>
          </a:solidFill>
          <a:ln/>
        </p:spPr>
      </p:sp>
      <p:sp>
        <p:nvSpPr>
          <p:cNvPr id="20" name="Text 18"/>
          <p:cNvSpPr/>
          <p:nvPr/>
        </p:nvSpPr>
        <p:spPr>
          <a:xfrm>
            <a:off x="685800" y="3456432"/>
            <a:ext cx="7863840" cy="274320"/>
          </a:xfrm>
          <a:prstGeom prst="rect">
            <a:avLst/>
          </a:prstGeom>
          <a:noFill/>
          <a:ln/>
        </p:spPr>
        <p:txBody>
          <a:bodyPr wrap="square" lIns="0" tIns="0" rIns="0" bIns="0" rtlCol="0" anchor="ctr"/>
          <a:lstStyle/>
          <a:p>
            <a:pPr indent="0" marL="0">
              <a:buNone/>
            </a:pPr>
            <a:r>
              <a:rPr lang="en-US" sz="1300" b="1" dirty="0">
                <a:solidFill>
                  <a:srgbClr val="4CAF50"/>
                </a:solidFill>
                <a:latin typeface="Trebuchet MS" pitchFamily="34" charset="0"/>
                <a:ea typeface="Trebuchet MS" pitchFamily="34" charset="-122"/>
                <a:cs typeface="Trebuchet MS" pitchFamily="34" charset="-120"/>
              </a:rPr>
              <a:t>Fail safe</a:t>
            </a:r>
            <a:endParaRPr lang="en-US" sz="1300" dirty="0"/>
          </a:p>
        </p:txBody>
      </p:sp>
      <p:sp>
        <p:nvSpPr>
          <p:cNvPr id="21" name="Text 19"/>
          <p:cNvSpPr/>
          <p:nvPr/>
        </p:nvSpPr>
        <p:spPr>
          <a:xfrm>
            <a:off x="685800" y="3730752"/>
            <a:ext cx="7863840" cy="6400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A LED that keeps blinking after its sensor is gone is lying - silence is information. And roles stop the ping-pong two equal boards can get into: the slave never talks first, the master never answers.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Summary</a:t>
            </a:r>
            <a:endParaRPr lang="en-US" sz="2800" dirty="0"/>
          </a:p>
        </p:txBody>
      </p:sp>
      <p:sp>
        <p:nvSpPr>
          <p:cNvPr id="3" name="Shape 1"/>
          <p:cNvSpPr/>
          <p:nvPr/>
        </p:nvSpPr>
        <p:spPr>
          <a:xfrm>
            <a:off x="457200" y="841248"/>
            <a:ext cx="1005840" cy="32004"/>
          </a:xfrm>
          <a:prstGeom prst="rect">
            <a:avLst/>
          </a:prstGeom>
          <a:solidFill>
            <a:srgbClr val="CADCFC"/>
          </a:solidFill>
          <a:ln/>
        </p:spPr>
      </p:sp>
      <p:sp>
        <p:nvSpPr>
          <p:cNvPr id="4" name="Text 2"/>
          <p:cNvSpPr/>
          <p:nvPr/>
        </p:nvSpPr>
        <p:spPr>
          <a:xfrm>
            <a:off x="457200" y="4709160"/>
            <a:ext cx="6400800" cy="320040"/>
          </a:xfrm>
          <a:prstGeom prst="rect">
            <a:avLst/>
          </a:prstGeom>
          <a:noFill/>
          <a:ln/>
        </p:spPr>
        <p:txBody>
          <a:bodyPr wrap="square" rtlCol="0" anchor="ctr"/>
          <a:lstStyle/>
          <a:p>
            <a:pPr indent="0" marL="0">
              <a:buNone/>
            </a:pPr>
            <a:r>
              <a:rPr lang="en-US" sz="900" i="1" dirty="0">
                <a:solidFill>
                  <a:srgbClr val="8892B0"/>
                </a:solidFill>
                <a:latin typeface="Calibri" pitchFamily="34" charset="0"/>
                <a:ea typeface="Calibri" pitchFamily="34" charset="-122"/>
                <a:cs typeface="Calibri" pitchFamily="34" charset="-120"/>
              </a:rPr>
              <a:t>Lesson 12  |  UART on the Pico</a:t>
            </a:r>
            <a:endParaRPr lang="en-US" sz="900" dirty="0"/>
          </a:p>
        </p:txBody>
      </p:sp>
      <p:sp>
        <p:nvSpPr>
          <p:cNvPr id="5" name="Text 3"/>
          <p:cNvSpPr/>
          <p:nvPr/>
        </p:nvSpPr>
        <p:spPr>
          <a:xfrm>
            <a:off x="8229600" y="4709160"/>
            <a:ext cx="73152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24</a:t>
            </a:r>
            <a:endParaRPr lang="en-US" sz="900" dirty="0"/>
          </a:p>
        </p:txBody>
      </p:sp>
      <p:sp>
        <p:nvSpPr>
          <p:cNvPr id="6" name="Text 4"/>
          <p:cNvSpPr/>
          <p:nvPr/>
        </p:nvSpPr>
        <p:spPr>
          <a:xfrm>
            <a:off x="457200" y="1051560"/>
            <a:ext cx="8229600" cy="2560320"/>
          </a:xfrm>
          <a:prstGeom prst="rect">
            <a:avLst/>
          </a:prstGeom>
          <a:noFill/>
          <a:ln/>
        </p:spPr>
        <p:txBody>
          <a:bodyPr wrap="square" rtlCol="0" anchor="t"/>
          <a:lstStyle/>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Headers soldered, checked by eye and by continuity before power</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UART: no clock wire, both sides agree on the baud rate. 8N1 = 10 bits per byte</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Serial is USB; Serial1 = UART0 (GP0 / GP1); Serial2 = UART1 (GP8 / GP9)</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TX to RX crossed, GND shared, never 3V3 or VBUS between boards</a:t>
            </a:r>
            <a:endParaRPr lang="en-US" sz="1500" dirty="0"/>
          </a:p>
          <a:p>
            <a:pPr marL="342900" indent="-342900">
              <a:lnSpc>
                <a:spcPct val="135000"/>
              </a:lnSpc>
              <a:buSzPct val="100000"/>
              <a:buChar char="■"/>
            </a:pPr>
            <a:r>
              <a:rPr lang="en-US" sz="1500" dirty="0">
                <a:solidFill>
                  <a:srgbClr val="CADCFC"/>
                </a:solidFill>
                <a:latin typeface="Calibri" pitchFamily="34" charset="0"/>
                <a:ea typeface="Calibri" pitchFamily="34" charset="-122"/>
                <a:cs typeface="Calibri" pitchFamily="34" charset="-120"/>
              </a:rPr>
              <a:t>The protocol decides the roles: the master asks, the slave answers, silence means fail safe</a:t>
            </a:r>
            <a:endParaRPr lang="en-US" sz="1500" dirty="0"/>
          </a:p>
        </p:txBody>
      </p:sp>
      <p:sp>
        <p:nvSpPr>
          <p:cNvPr id="7" name="Shape 5"/>
          <p:cNvSpPr/>
          <p:nvPr/>
        </p:nvSpPr>
        <p:spPr>
          <a:xfrm>
            <a:off x="457200" y="3794760"/>
            <a:ext cx="8229600" cy="822960"/>
          </a:xfrm>
          <a:prstGeom prst="rect">
            <a:avLst/>
          </a:prstGeom>
          <a:solidFill>
            <a:srgbClr val="253270"/>
          </a:solidFill>
          <a:ln w="12700">
            <a:solidFill>
              <a:srgbClr val="FFB300"/>
            </a:solidFill>
            <a:prstDash val="solid"/>
          </a:ln>
        </p:spPr>
      </p:sp>
      <p:sp>
        <p:nvSpPr>
          <p:cNvPr id="8" name="Shape 6"/>
          <p:cNvSpPr/>
          <p:nvPr/>
        </p:nvSpPr>
        <p:spPr>
          <a:xfrm>
            <a:off x="457200" y="3794760"/>
            <a:ext cx="64008" cy="822960"/>
          </a:xfrm>
          <a:prstGeom prst="rect">
            <a:avLst/>
          </a:prstGeom>
          <a:solidFill>
            <a:srgbClr val="FFB300"/>
          </a:solidFill>
          <a:ln/>
        </p:spPr>
      </p:sp>
      <p:sp>
        <p:nvSpPr>
          <p:cNvPr id="9" name="Text 7"/>
          <p:cNvSpPr/>
          <p:nvPr/>
        </p:nvSpPr>
        <p:spPr>
          <a:xfrm>
            <a:off x="685800" y="3867912"/>
            <a:ext cx="7863840" cy="274320"/>
          </a:xfrm>
          <a:prstGeom prst="rect">
            <a:avLst/>
          </a:prstGeom>
          <a:noFill/>
          <a:ln/>
        </p:spPr>
        <p:txBody>
          <a:bodyPr wrap="square" lIns="0" tIns="0" rIns="0" bIns="0" rtlCol="0" anchor="ctr"/>
          <a:lstStyle/>
          <a:p>
            <a:pPr indent="0" marL="0">
              <a:buNone/>
            </a:pPr>
            <a:r>
              <a:rPr lang="en-US" sz="1300" b="1" dirty="0">
                <a:solidFill>
                  <a:srgbClr val="FFB300"/>
                </a:solidFill>
                <a:latin typeface="Trebuchet MS" pitchFamily="34" charset="0"/>
                <a:ea typeface="Trebuchet MS" pitchFamily="34" charset="-122"/>
                <a:cs typeface="Trebuchet MS" pitchFamily="34" charset="-120"/>
              </a:rPr>
              <a:t>Homework</a:t>
            </a:r>
            <a:endParaRPr lang="en-US" sz="1300" dirty="0"/>
          </a:p>
        </p:txBody>
      </p:sp>
      <p:sp>
        <p:nvSpPr>
          <p:cNvPr id="10" name="Text 8"/>
          <p:cNvSpPr/>
          <p:nvPr/>
        </p:nvSpPr>
        <p:spPr>
          <a:xfrm>
            <a:off x="685800" y="4142232"/>
            <a:ext cx="7863840" cy="41148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One Pico, two UARTs: the pot side answers on UART0, the LED side asks on UART1. Wires GP0 -&gt; GP9 and GP8 -&gt; GP1. Task in homework/README.md.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12 - UART on the Pico</dc:title>
  <dc:subject>PptxGenJS Presentation</dc:subject>
  <dc:creator>Embedded Software Development in C/C++</dc:creator>
  <cp:lastModifiedBy>Embedded Software Development in C/C++</cp:lastModifiedBy>
  <cp:revision>1</cp:revision>
  <dcterms:created xsi:type="dcterms:W3CDTF">2026-10-07T13:34:22Z</dcterms:created>
  <dcterms:modified xsi:type="dcterms:W3CDTF">2026-10-07T13:34:22Z</dcterms:modified>
</cp:coreProperties>
</file>