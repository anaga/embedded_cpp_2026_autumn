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notesMasterIdLst>
    <p:notesMasterId r:id="rId2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notesMaster" Target="notesMasters/notesMaster1.xml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Timing (4 x 45 min): install check 20 min, board and layers 15, CubeMX 40, build and DFU 30, HAL GPIO and USB log 25, I2C sensors 40, lab the rest.
Three Black Pills: work in pairs, instructor board for the demo.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Install check first. Anyone without the F4 package in CubeMX: start it now, it is the longest download.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Both are Cortex-M, so registers like NVIC and SysTick are the same family. The F411 has an FPU: float math is cheap here, unlike on the M0+.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Ask: which line is fastest? Which is portable to an ESP32? None of them is portable across vendors - that is the Z1 topic.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Labels matter: LED and KEY become LED_Pin / LED_GPIO_Port in main.h.
Check that I2C1 really landed on PB6/PB7 (it may pick PB8/PB9 - click the pin and choose).
Output level High = LED off at reset, because the LED is active low.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 CubeMX: Clock Configuration tab, PLL Source Mux = HSE, type 96 into HCLK and press Enter - the solver finds M/N/P/Q. Then show 100 failing.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Button names differ slightly between extension versions. The CMake: Build command (F7) always works.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BOOT0 sampled at reset selects system memory instead of flash. Holding BOOT0 while plugging in works too, but the NRST sequence is more reliable on these boards.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Simplified for the slide - full version with length clamping in demo/Core/Src/app.c.
cdc_wait_idle() checks hUsbDeviceFS.dev_state and the TxState of the CDC handle.
Before the host has configured the device the handle is NULL - printing in app_init() would be lost, that is why the demo waits.
Terminal: pio device monitor, or any serial monitor; the port is /dev/cu.usbmodem... on macOS, COMx on Windows.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Numbers are inline for the slide; the demo uses named constants. Scaling at +-2 g: 16384 LSB per g, so mg = raw * 1000 / 16384. Temperature: raw / 340 + 36.53 C. One Mem_Read = write register, repeated START, read.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Pairs: three Black Pills. The full demo (app.c) is shown at the end, not handed out before the lab.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CADCFC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0" y="640080"/>
            <a:ext cx="914400" cy="9144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16916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16  |  OPTIONAL BLOCK S1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457200" y="201168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STM32: CubeMX and HAL</a:t>
            </a:r>
            <a:endParaRPr lang="en-US" sz="4000" dirty="0"/>
          </a:p>
        </p:txBody>
      </p:sp>
      <p:sp>
        <p:nvSpPr>
          <p:cNvPr id="7" name="Shape 4"/>
          <p:cNvSpPr/>
          <p:nvPr/>
        </p:nvSpPr>
        <p:spPr>
          <a:xfrm>
            <a:off x="3200400" y="2926080"/>
            <a:ext cx="2743200" cy="27432"/>
          </a:xfrm>
          <a:prstGeom prst="rect">
            <a:avLst/>
          </a:prstGeom>
          <a:solidFill>
            <a:srgbClr val="3A4A8A"/>
          </a:solidFill>
          <a:ln/>
        </p:spPr>
      </p:sp>
      <p:sp>
        <p:nvSpPr>
          <p:cNvPr id="8" name="Text 5"/>
          <p:cNvSpPr/>
          <p:nvPr/>
        </p:nvSpPr>
        <p:spPr>
          <a:xfrm>
            <a:off x="457200" y="31089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Black Pill F411, USB DFU upload, two I2C sensors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457200" y="36118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Embedded Software Development in C/C++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457200" y="40233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A4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16  |  4 academic hours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Today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41248"/>
            <a:ext cx="1005840" cy="32004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470916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16  |  STM32: CubeMX and HAL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229600" y="470916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1051560"/>
            <a:ext cx="822960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5000"/>
              </a:lnSpc>
              <a:buSzPct val="100000"/>
              <a:buChar char="■"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new board with no Arduino layer: STM32F411 Black Pill</a:t>
            </a:r>
            <a:endParaRPr lang="en-US" sz="1500" dirty="0"/>
          </a:p>
          <a:p>
            <a:pPr marL="342900" indent="-342900">
              <a:lnSpc>
                <a:spcPct val="135000"/>
              </a:lnSpc>
              <a:buSzPct val="100000"/>
              <a:buChar char="■"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CubeMX: pins, clock tree, peripherals -&gt; generated C project</a:t>
            </a:r>
            <a:endParaRPr lang="en-US" sz="1500" dirty="0"/>
          </a:p>
          <a:p>
            <a:pPr marL="342900" indent="-342900">
              <a:lnSpc>
                <a:spcPct val="135000"/>
              </a:lnSpc>
              <a:buSzPct val="100000"/>
              <a:buChar char="■"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in VS Code, upload over USB with the ROM bootloader (DFU)</a:t>
            </a:r>
            <a:endParaRPr lang="en-US" sz="1500" dirty="0"/>
          </a:p>
          <a:p>
            <a:pPr marL="342900" indent="-342900">
              <a:lnSpc>
                <a:spcPct val="135000"/>
              </a:lnSpc>
              <a:buSzPct val="100000"/>
              <a:buChar char="■"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 in polling mode: GPIO, USB virtual COM port, I2C</a:t>
            </a:r>
            <a:endParaRPr lang="en-US" sz="1500" dirty="0"/>
          </a:p>
          <a:p>
            <a:pPr marL="342900" indent="-342900">
              <a:lnSpc>
                <a:spcPct val="135000"/>
              </a:lnSpc>
              <a:buSzPct val="100000"/>
              <a:buChar char="■"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new sensors: MPU-6050 (register based) and BH1750 (command based)</a:t>
            </a:r>
            <a:endParaRPr lang="en-US" sz="1500" dirty="0"/>
          </a:p>
          <a:p>
            <a:pPr marL="342900" indent="-342900">
              <a:lnSpc>
                <a:spcPct val="135000"/>
              </a:lnSpc>
              <a:buSzPct val="100000"/>
              <a:buChar char="■"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the I2C traffic with PulseView, as in session 15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57200" y="3840480"/>
            <a:ext cx="8229600" cy="731520"/>
          </a:xfrm>
          <a:prstGeom prst="rect">
            <a:avLst/>
          </a:prstGeom>
          <a:solidFill>
            <a:srgbClr val="253270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3840480"/>
            <a:ext cx="64008" cy="731520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9" name="Text 7"/>
          <p:cNvSpPr/>
          <p:nvPr/>
        </p:nvSpPr>
        <p:spPr>
          <a:xfrm>
            <a:off x="685800" y="3913632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ADC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Before we start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85800" y="4187952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Code STM32 extension, CubeMX with the F4 package, CubeProgrammer. Missing something? Start the download now.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4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148840"/>
            <a:ext cx="822960" cy="54864"/>
          </a:xfrm>
          <a:prstGeom prst="rect">
            <a:avLst/>
          </a:prstGeom>
          <a:solidFill>
            <a:srgbClr val="FFB300"/>
          </a:solidFill>
          <a:ln/>
        </p:spPr>
      </p:sp>
      <p:sp>
        <p:nvSpPr>
          <p:cNvPr id="3" name="Text 1"/>
          <p:cNvSpPr/>
          <p:nvPr/>
        </p:nvSpPr>
        <p:spPr>
          <a:xfrm>
            <a:off x="1097280" y="18745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097280" y="224028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 New Board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1097280" y="30632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changes when Arduino is gone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Pico vs Black Pill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41248"/>
            <a:ext cx="1005840" cy="32004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470916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16  |  STM32: CubeMX and HAL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229600" y="470916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43000"/>
          <a:ext cx="822960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3108960"/>
                <a:gridCol w="3291840"/>
              </a:tblGrid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4A8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Raspberry Pi Pico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4A8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Black Pill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4A8A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MCU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27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RP2040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27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STM32F411CEU6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270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27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x Cortex-M0+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27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x Cortex-M4F (FPU, DSP)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270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Clock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27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133 MHz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27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up to 100 MHz (96 today)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270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Flash / RAM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27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MB external / 264 KB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27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512 KB internal / 128 KB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270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Upload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27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UF2 drive (BOOTSEL)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27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USB DFU (BOOT0) or SWD probe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270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Framework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27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Arduino-Pico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27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CubeMX + HAL (plain C)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270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Crystal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27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 MHz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27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 MHz (HSE)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27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Black Pill: What We Use Today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41248"/>
            <a:ext cx="1005840" cy="32004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470916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16  |  STM32: CubeMX and HAL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229600" y="470916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43000"/>
          <a:ext cx="822960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1463040"/>
                <a:gridCol w="4754880"/>
              </a:tblGrid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Function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4A8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4A8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4A8A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LED (blue)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27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PC13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27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Active low: RESET = on. Weak pin, max 3 mA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270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 button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27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27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 GND, needs the internal pull-up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270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BOOT0 / NRST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27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buttons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27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Enter the ROM bootloader (DFU)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270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USB-C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27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PA11 / PA12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27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USB OTG FS: DFU and our COM port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270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I2C1 SCL / SDA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27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PB6 / PB7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27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Both sensors on one bus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270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Sensor power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27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3V3, GND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27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Never 5V on the I2C lines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270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457200" y="3703320"/>
            <a:ext cx="8229600" cy="777240"/>
          </a:xfrm>
          <a:prstGeom prst="rect">
            <a:avLst/>
          </a:prstGeom>
          <a:solidFill>
            <a:srgbClr val="253270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457200" y="3703320"/>
            <a:ext cx="64008" cy="777240"/>
          </a:xfrm>
          <a:prstGeom prst="rect">
            <a:avLst/>
          </a:prstGeom>
          <a:solidFill>
            <a:srgbClr val="FFB300"/>
          </a:solidFill>
          <a:ln/>
        </p:spPr>
      </p:sp>
      <p:sp>
        <p:nvSpPr>
          <p:cNvPr id="9" name="Text 6"/>
          <p:cNvSpPr/>
          <p:nvPr/>
        </p:nvSpPr>
        <p:spPr>
          <a:xfrm>
            <a:off x="685800" y="3776472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B3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 ST-Link on this board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685800" y="4050792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works over USB. Breakpoints need an external SWD probe - later in the block.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Same LED, Three Layers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41248"/>
            <a:ext cx="1005840" cy="32004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470916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16  |  STM32: CubeMX and HAL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229600" y="470916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051560"/>
            <a:ext cx="8229600" cy="2606040"/>
          </a:xfrm>
          <a:prstGeom prst="rect">
            <a:avLst/>
          </a:prstGeom>
          <a:solidFill>
            <a:srgbClr val="0D1117"/>
          </a:solidFill>
          <a:ln w="12700">
            <a:solidFill>
              <a:srgbClr val="3A4A8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1143000"/>
            <a:ext cx="8010144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A8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Arduino (what we used so far)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A8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digitalWrite(LED_PIN, LOW);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A8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HAL (today): port + pin + state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A8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HAL_GPIO_WritePin(GPIOC, GPIO_PIN_13, GPIO_PIN_RESET);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A8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Register: one write to the bit set / reset register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A8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GPIOC-&gt;BSRR = GPIO_BSRR_BR13;   // BR = reset bit 13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3749040"/>
            <a:ext cx="822960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5000"/>
              </a:lnSpc>
              <a:buSzPct val="100000"/>
              <a:buChar char="■"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 = ST's C library on top of the registers, one per chip family</a:t>
            </a:r>
            <a:endParaRPr lang="en-US" sz="1400" dirty="0"/>
          </a:p>
          <a:p>
            <a:pPr marL="342900" indent="-342900">
              <a:lnSpc>
                <a:spcPct val="135000"/>
              </a:lnSpc>
              <a:buSzPct val="100000"/>
              <a:buChar char="■"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setup(), no pinMode(): CubeMX writes the init code for us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Tool Chain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41248"/>
            <a:ext cx="1005840" cy="32004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470916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16  |  STM32: CubeMX and HAL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229600" y="470916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234440"/>
            <a:ext cx="1817370" cy="1554480"/>
          </a:xfrm>
          <a:prstGeom prst="rect">
            <a:avLst/>
          </a:prstGeom>
          <a:solidFill>
            <a:srgbClr val="253270"/>
          </a:solidFill>
          <a:ln w="12700">
            <a:solidFill>
              <a:srgbClr val="3A4A8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344168"/>
            <a:ext cx="181737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CubeMX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30352" y="1691640"/>
            <a:ext cx="167106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Pins, clocks, peripherals. Generates a CMake project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274570" y="1828800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B3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-&gt;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2594610" y="1234440"/>
            <a:ext cx="1817370" cy="1554480"/>
          </a:xfrm>
          <a:prstGeom prst="rect">
            <a:avLst/>
          </a:prstGeom>
          <a:solidFill>
            <a:srgbClr val="253270"/>
          </a:solidFill>
          <a:ln w="12700">
            <a:solidFill>
              <a:srgbClr val="3A4A8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594610" y="1344168"/>
            <a:ext cx="181737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VS Code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2667762" y="1691640"/>
            <a:ext cx="167106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STM32 extension: compiler, CMake, Ninja. Builds the .elf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411980" y="1828800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B3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-&gt;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4732020" y="1234440"/>
            <a:ext cx="1817370" cy="1554480"/>
          </a:xfrm>
          <a:prstGeom prst="rect">
            <a:avLst/>
          </a:prstGeom>
          <a:solidFill>
            <a:srgbClr val="253270"/>
          </a:solidFill>
          <a:ln w="12700">
            <a:solidFill>
              <a:srgbClr val="3A4A8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32020" y="1344168"/>
            <a:ext cx="181737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CubeProgrammer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805172" y="1691640"/>
            <a:ext cx="167106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Writes the .elf to flash over USB DFU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549390" y="1828800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B3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-&gt;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6869430" y="1234440"/>
            <a:ext cx="1817370" cy="1554480"/>
          </a:xfrm>
          <a:prstGeom prst="rect">
            <a:avLst/>
          </a:prstGeom>
          <a:solidFill>
            <a:srgbClr val="253270"/>
          </a:solidFill>
          <a:ln w="25400">
            <a:solidFill>
              <a:srgbClr val="4CAF5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869430" y="1344168"/>
            <a:ext cx="181737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Board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942582" y="1691640"/>
            <a:ext cx="167106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Press NRST, the program starts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57200" y="3063240"/>
            <a:ext cx="82296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5000"/>
              </a:lnSpc>
              <a:buSzPct val="100000"/>
              <a:buChar char="■"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PlatformIO did all four steps with one button. Now each step is visible</a:t>
            </a:r>
            <a:endParaRPr lang="en-US" sz="1400" dirty="0"/>
          </a:p>
          <a:p>
            <a:pPr marL="342900" indent="-342900">
              <a:lnSpc>
                <a:spcPct val="135000"/>
              </a:lnSpc>
              <a:buSzPct val="100000"/>
              <a:buChar char="■"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Since CubeIDE 2.0, CubeMX is a separate program even for CubeIDE users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4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148840"/>
            <a:ext cx="822960" cy="54864"/>
          </a:xfrm>
          <a:prstGeom prst="rect">
            <a:avLst/>
          </a:prstGeom>
          <a:solidFill>
            <a:srgbClr val="FFB300"/>
          </a:solidFill>
          <a:ln/>
        </p:spPr>
      </p:sp>
      <p:sp>
        <p:nvSpPr>
          <p:cNvPr id="3" name="Text 1"/>
          <p:cNvSpPr/>
          <p:nvPr/>
        </p:nvSpPr>
        <p:spPr>
          <a:xfrm>
            <a:off x="1097280" y="18745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097280" y="224028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CubeMX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1097280" y="30632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an empty chip to a generated project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CubeMX: Pinout and Peripherals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41248"/>
            <a:ext cx="1005840" cy="32004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470916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16  |  STM32: CubeMX and HAL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229600" y="470916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51560"/>
          <a:ext cx="8229600" cy="914400"/>
        </p:xfrm>
        <a:graphic>
          <a:graphicData uri="http://schemas.openxmlformats.org/drawingml/2006/table">
            <a:tbl>
              <a:tblPr/>
              <a:tblGrid>
                <a:gridCol w="3017520"/>
                <a:gridCol w="5212080"/>
              </a:tblGrid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Where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4A8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Setting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4A8A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New project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27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MCU selector: STM32F411CEUx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270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System Core -&gt; RCC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27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HSE: Crystal/Ceramic Resonator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270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System Core -&gt; SYS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27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Debug: Serial Wire (keeps SWD usable)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270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PC13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27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GPIO_Output, label LED, output level High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270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27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GPIO_Input, label KEY, Pull-up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270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Connectivity -&gt; I2C1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27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I2C, 100 kHz -&gt; lands on PB6 / PB7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270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Connectivity -&gt; USB_OTG_FS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27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Mode: Device_Only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270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Middleware -&gt; USB_DEVICE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27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Class: Communication Device Class (CDC)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27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Clock Tree: Why 96 MHz, Not 100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41248"/>
            <a:ext cx="1005840" cy="32004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470916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16  |  STM32: CubeMX and HAL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229600" y="470916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51560"/>
          <a:ext cx="512064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1188720"/>
                <a:gridCol w="2194560"/>
              </a:tblGrid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Step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4A8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Value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4A8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Result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4A8A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HSE crystal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27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 MHz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27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 MHz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270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 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27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27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MHz into the PLL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270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 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27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27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192 MHz (VCO)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270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 P -&gt; SYSCLK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27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27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96 MHz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270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 Q -&gt; USB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27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27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48 MHz, exactly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270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APB1 / APB2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27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/2, /1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27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48 MHz (max 50), 96 MHz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270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5806440" y="1051560"/>
            <a:ext cx="292608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5000"/>
              </a:lnSpc>
              <a:buSzPct val="100000"/>
              <a:buChar char="■"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USB needs exactly 48 MHz</a:t>
            </a:r>
            <a:endParaRPr lang="en-US" sz="1300" dirty="0"/>
          </a:p>
          <a:p>
            <a:pPr marL="342900" indent="-342900">
              <a:lnSpc>
                <a:spcPct val="135000"/>
              </a:lnSpc>
              <a:buSzPct val="100000"/>
              <a:buChar char="■"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MHz SYSCLK leaves no Q that gives 48</a:t>
            </a:r>
            <a:endParaRPr lang="en-US" sz="1300" dirty="0"/>
          </a:p>
          <a:p>
            <a:pPr marL="342900" indent="-342900">
              <a:lnSpc>
                <a:spcPct val="135000"/>
              </a:lnSpc>
              <a:buSzPct val="100000"/>
              <a:buChar char="■"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HSI (16 MHz RC) is not accurate enough for USB: use the crystal</a:t>
            </a:r>
            <a:endParaRPr lang="en-US" sz="1300" dirty="0"/>
          </a:p>
          <a:p>
            <a:pPr marL="342900" indent="-342900">
              <a:lnSpc>
                <a:spcPct val="135000"/>
              </a:lnSpc>
              <a:buSzPct val="100000"/>
              <a:buChar char="■"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it: type 100 into HCLK and watch the USB box turn red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Generate Code - and the USER CODE Rule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41248"/>
            <a:ext cx="1005840" cy="32004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470916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16  |  STM32: CubeMX and HAL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229600" y="470916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1051560"/>
            <a:ext cx="82296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5000"/>
              </a:lnSpc>
              <a:buSzPct val="100000"/>
              <a:buChar char="■"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Manager: name lesson16, Toolchain / IDE = CMake</a:t>
            </a:r>
            <a:endParaRPr lang="en-US" sz="1400" dirty="0"/>
          </a:p>
          <a:p>
            <a:pPr marL="342900" indent="-342900">
              <a:lnSpc>
                <a:spcPct val="135000"/>
              </a:lnSpc>
              <a:buSzPct val="100000"/>
              <a:buChar char="■"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Code writes main.c, startup, HAL, USB middleware, CMakeLists</a:t>
            </a:r>
            <a:endParaRPr lang="en-US" sz="1400" dirty="0"/>
          </a:p>
          <a:p>
            <a:pPr marL="342900" indent="-342900">
              <a:lnSpc>
                <a:spcPct val="135000"/>
              </a:lnSpc>
              <a:buSzPct val="100000"/>
              <a:buChar char="■"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Regenerate after every change in CubeMX - it rewrites the files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2240280"/>
            <a:ext cx="8229600" cy="1719072"/>
          </a:xfrm>
          <a:prstGeom prst="rect">
            <a:avLst/>
          </a:prstGeom>
          <a:solidFill>
            <a:srgbClr val="0D1117"/>
          </a:solidFill>
          <a:ln w="12700">
            <a:solidFill>
              <a:srgbClr val="3A4A8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66928" y="2331720"/>
            <a:ext cx="8010144" cy="1536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A8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/* USER CODE BEGIN 2 */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A8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app_init();          // survives Generate Code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A8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/* USER CODE END 2 */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A8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HAL_Delay(10);       // outside the markers: DELETED next time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4023360"/>
            <a:ext cx="8229600" cy="594360"/>
          </a:xfrm>
          <a:prstGeom prst="rect">
            <a:avLst/>
          </a:prstGeom>
          <a:solidFill>
            <a:srgbClr val="253270"/>
          </a:solidFill>
          <a:ln w="12700">
            <a:solidFill>
              <a:srgbClr val="FF525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4023360"/>
            <a:ext cx="64008" cy="594360"/>
          </a:xfrm>
          <a:prstGeom prst="rect">
            <a:avLst/>
          </a:prstGeom>
          <a:solidFill>
            <a:srgbClr val="FF5252"/>
          </a:solidFill>
          <a:ln/>
        </p:spPr>
      </p:sp>
      <p:sp>
        <p:nvSpPr>
          <p:cNvPr id="11" name="Text 9"/>
          <p:cNvSpPr/>
          <p:nvPr/>
        </p:nvSpPr>
        <p:spPr>
          <a:xfrm>
            <a:off x="685800" y="4096512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525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Only code between BEGIN and END survives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85800" y="4370832"/>
            <a:ext cx="7863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approach: all our code in app.c, main.c gets two calls only.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4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148840"/>
            <a:ext cx="822960" cy="54864"/>
          </a:xfrm>
          <a:prstGeom prst="rect">
            <a:avLst/>
          </a:prstGeom>
          <a:solidFill>
            <a:srgbClr val="FFB300"/>
          </a:solidFill>
          <a:ln/>
        </p:spPr>
      </p:sp>
      <p:sp>
        <p:nvSpPr>
          <p:cNvPr id="3" name="Text 1"/>
          <p:cNvSpPr/>
          <p:nvPr/>
        </p:nvSpPr>
        <p:spPr>
          <a:xfrm>
            <a:off x="1097280" y="18745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097280" y="224028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Build and Upload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1097280" y="30632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Code, then the ROM bootloader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Build in VS Code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41248"/>
            <a:ext cx="1005840" cy="32004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470916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16  |  STM32: CubeMX and HAL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229600" y="470916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1051560"/>
            <a:ext cx="82296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5000"/>
              </a:lnSpc>
              <a:buSzPct val="100000"/>
              <a:buChar char="■"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STM32 panel -&gt; import the generated folder as a CMake project</a:t>
            </a:r>
            <a:endParaRPr lang="en-US" sz="1400" dirty="0"/>
          </a:p>
          <a:p>
            <a:pPr marL="342900" indent="-342900">
              <a:lnSpc>
                <a:spcPct val="135000"/>
              </a:lnSpc>
              <a:buSzPct val="100000"/>
              <a:buChar char="■"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our file to the root CMakeLists.txt, then Build</a:t>
            </a:r>
            <a:endParaRPr lang="en-US" sz="1400" dirty="0"/>
          </a:p>
          <a:p>
            <a:pPr marL="342900" indent="-342900">
              <a:lnSpc>
                <a:spcPct val="135000"/>
              </a:lnSpc>
              <a:buSzPct val="100000"/>
              <a:buChar char="■"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build/Debug/lesson16.elf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2286000"/>
            <a:ext cx="8229600" cy="1700784"/>
          </a:xfrm>
          <a:prstGeom prst="rect">
            <a:avLst/>
          </a:prstGeom>
          <a:solidFill>
            <a:srgbClr val="0D1117"/>
          </a:solidFill>
          <a:ln w="12700">
            <a:solidFill>
              <a:srgbClr val="3A4A8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66928" y="2377440"/>
            <a:ext cx="8010144" cy="1517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A8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CMakeLists.txt (root) - generated, this block is ours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A8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target_sources(${CMAKE_PROJECT_NAME} PRIVATE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A8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Add user sources here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A8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Core/Src/app.c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A8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3977640"/>
            <a:ext cx="8229600" cy="640080"/>
          </a:xfrm>
          <a:prstGeom prst="rect">
            <a:avLst/>
          </a:prstGeom>
          <a:solidFill>
            <a:srgbClr val="253270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3977640"/>
            <a:ext cx="64008" cy="640080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11" name="Text 9"/>
          <p:cNvSpPr/>
          <p:nvPr/>
        </p:nvSpPr>
        <p:spPr>
          <a:xfrm>
            <a:off x="685800" y="4050792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ADC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Linker summary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85800" y="4325112"/>
            <a:ext cx="7863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build prints FLASH and RAM usage. Compare with the 512 KB / 128 KB from the table.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Upload over USB: DFU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41248"/>
            <a:ext cx="1005840" cy="32004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470916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16  |  STM32: CubeMX and HAL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229600" y="470916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097280"/>
            <a:ext cx="1885950" cy="1965960"/>
          </a:xfrm>
          <a:prstGeom prst="rect">
            <a:avLst/>
          </a:prstGeom>
          <a:solidFill>
            <a:srgbClr val="253270"/>
          </a:solidFill>
          <a:ln w="25400">
            <a:solidFill>
              <a:srgbClr val="FFB30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2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57200" y="1325880"/>
            <a:ext cx="18859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1. Enter DFU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594360" y="1828800"/>
            <a:ext cx="161163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 BOOT0, press and release NRST, release BOOT0. LED stays dark.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571750" y="1097280"/>
            <a:ext cx="1885950" cy="1965960"/>
          </a:xfrm>
          <a:prstGeom prst="rect">
            <a:avLst/>
          </a:prstGeom>
          <a:solidFill>
            <a:srgbClr val="253270"/>
          </a:solidFill>
          <a:ln w="12700">
            <a:solidFill>
              <a:srgbClr val="3A4A8A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2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571750" y="1325880"/>
            <a:ext cx="18859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2. Connect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2708910" y="1828800"/>
            <a:ext cx="161163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CubeProgrammer: USB, refresh, port USB1, Connect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686300" y="1097280"/>
            <a:ext cx="1885950" cy="1965960"/>
          </a:xfrm>
          <a:prstGeom prst="rect">
            <a:avLst/>
          </a:prstGeom>
          <a:solidFill>
            <a:srgbClr val="253270"/>
          </a:solidFill>
          <a:ln w="12700">
            <a:solidFill>
              <a:srgbClr val="3A4A8A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2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686300" y="1325880"/>
            <a:ext cx="18859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3. Program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4823460" y="1828800"/>
            <a:ext cx="161163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Erasing and Programming: choose the .elf, Start Programming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800850" y="1097280"/>
            <a:ext cx="1885950" cy="1965960"/>
          </a:xfrm>
          <a:prstGeom prst="rect">
            <a:avLst/>
          </a:prstGeom>
          <a:solidFill>
            <a:srgbClr val="253270"/>
          </a:solidFill>
          <a:ln w="25400">
            <a:solidFill>
              <a:srgbClr val="4CAF5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2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800850" y="1325880"/>
            <a:ext cx="18859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4. Run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6938010" y="1828800"/>
            <a:ext cx="161163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Disconnect, press NRST. Our code starts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57200" y="3154680"/>
            <a:ext cx="82296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5000"/>
              </a:lnSpc>
              <a:buSzPct val="100000"/>
              <a:buChar char="■"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DFU bootloader lives in ROM (system memory): it cannot be erased by mistake</a:t>
            </a:r>
            <a:endParaRPr lang="en-US" sz="1300" dirty="0"/>
          </a:p>
          <a:p>
            <a:pPr marL="342900" indent="-342900">
              <a:lnSpc>
                <a:spcPct val="135000"/>
              </a:lnSpc>
              <a:buSzPct val="100000"/>
              <a:buChar char="■"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found? Data cable, repeat step 1, on Windows reinstall CubeProgrammer drivers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4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148840"/>
            <a:ext cx="822960" cy="54864"/>
          </a:xfrm>
          <a:prstGeom prst="rect">
            <a:avLst/>
          </a:prstGeom>
          <a:solidFill>
            <a:srgbClr val="FFB300"/>
          </a:solidFill>
          <a:ln/>
        </p:spPr>
      </p:sp>
      <p:sp>
        <p:nvSpPr>
          <p:cNvPr id="3" name="Text 1"/>
          <p:cNvSpPr/>
          <p:nvPr/>
        </p:nvSpPr>
        <p:spPr>
          <a:xfrm>
            <a:off x="1097280" y="18745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4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097280" y="224028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HAL in Our Code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1097280" y="30632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GPIO and the USB virtual COM port</a:t>
            </a:r>
            <a:endParaRPr lang="en-US" sz="1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GPIO and Time with HAL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41248"/>
            <a:ext cx="1005840" cy="32004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470916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16  |  STM32: CubeMX and HAL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229600" y="470916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051560"/>
            <a:ext cx="5669280" cy="3291840"/>
          </a:xfrm>
          <a:prstGeom prst="rect">
            <a:avLst/>
          </a:prstGeom>
          <a:solidFill>
            <a:srgbClr val="0D1117"/>
          </a:solidFill>
          <a:ln w="12700">
            <a:solidFill>
              <a:srgbClr val="3A4A8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1143000"/>
            <a:ext cx="5449824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8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static const uint32_t BLINK_MS = 500U;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8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static uint32_t last_ms = 0U;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8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 app_loop(void)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8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8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const uint32_t now = HAL_GetTick();   // like millis()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8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((now - last_ms) &gt;= BLINK_MS) {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8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last_ms += BLINK_MS;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8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HAL_GPIO_TogglePin(LED_GPIO_Port, LED_Pin);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8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8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GPIO_PinState key = HAL_GPIO_ReadPin(KEY_GPIO_Port, KEY_Pin);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8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(key == GPIO_PIN_RESET) { /* pressed: active low */ }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8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6263640" y="1051560"/>
            <a:ext cx="246888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5000"/>
              </a:lnSpc>
              <a:buSzPct val="100000"/>
              <a:buChar char="■"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HAL_GetTick(): ms since reset, SysTick, same as millis()</a:t>
            </a:r>
            <a:endParaRPr lang="en-US" sz="1300" dirty="0"/>
          </a:p>
          <a:p>
            <a:pPr marL="342900" indent="-342900">
              <a:lnSpc>
                <a:spcPct val="135000"/>
              </a:lnSpc>
              <a:buSzPct val="100000"/>
              <a:buChar char="■"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LED_Pin, LED_GPIO_Port: from our CubeMX label</a:t>
            </a:r>
            <a:endParaRPr lang="en-US" sz="1300" dirty="0"/>
          </a:p>
          <a:p>
            <a:pPr marL="342900" indent="-342900">
              <a:lnSpc>
                <a:spcPct val="135000"/>
              </a:lnSpc>
              <a:buSzPct val="100000"/>
              <a:buChar char="■"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non-blocking pattern as in K3</a:t>
            </a:r>
            <a:endParaRPr lang="en-US" sz="1300" dirty="0"/>
          </a:p>
          <a:p>
            <a:pPr marL="342900" indent="-342900">
              <a:lnSpc>
                <a:spcPct val="135000"/>
              </a:lnSpc>
              <a:buSzPct val="100000"/>
              <a:buChar char="■"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pinMode(): MX_GPIO_Init() did that</a:t>
            </a:r>
            <a:endParaRPr lang="en-US" sz="13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 printf over USB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41248"/>
            <a:ext cx="1005840" cy="32004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470916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16  |  STM32: CubeMX and HAL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229600" y="470916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051560"/>
            <a:ext cx="5669280" cy="3291840"/>
          </a:xfrm>
          <a:prstGeom prst="rect">
            <a:avLst/>
          </a:prstGeom>
          <a:solidFill>
            <a:srgbClr val="0D1117"/>
          </a:solidFill>
          <a:ln w="12700">
            <a:solidFill>
              <a:srgbClr val="3A4A8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1143000"/>
            <a:ext cx="5449824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8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static void log_printf(const char *fmt, ...)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8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8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static char buf[LOG_BUF_SIZE];  // USB reads it later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8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(!cdc_wait_idle(CDC_TIMEOUT_MS)) { return; } // nobody reads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8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va_list args;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8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va_start(args, fmt);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8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int len = vsnprintf(buf, sizeof buf, fmt, args);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8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va_end(args);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8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(len &gt; 0) {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8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CDC_Transmit_FS((uint8_t *)buf, (uint16_t)len);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8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8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6263640" y="1051560"/>
            <a:ext cx="246888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5000"/>
              </a:lnSpc>
              <a:buSzPct val="100000"/>
              <a:buChar char="■"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CDC_Transmit_FS() only starts a transfer</a:t>
            </a:r>
            <a:endParaRPr lang="en-US" sz="1300" dirty="0"/>
          </a:p>
          <a:p>
            <a:pPr marL="342900" indent="-342900">
              <a:lnSpc>
                <a:spcPct val="135000"/>
              </a:lnSpc>
              <a:buSzPct val="100000"/>
              <a:buChar char="■"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Wait for the previous one before writing buf again</a:t>
            </a:r>
            <a:endParaRPr lang="en-US" sz="1300" dirty="0"/>
          </a:p>
          <a:p>
            <a:pPr marL="342900" indent="-342900">
              <a:lnSpc>
                <a:spcPct val="135000"/>
              </a:lnSpc>
              <a:buSzPct val="100000"/>
              <a:buChar char="■"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%f: newlib-nano printf has no floats. Use tenths</a:t>
            </a:r>
            <a:endParaRPr lang="en-US" sz="1300" dirty="0"/>
          </a:p>
          <a:p>
            <a:pPr marL="342900" indent="-342900">
              <a:lnSpc>
                <a:spcPct val="135000"/>
              </a:lnSpc>
              <a:buSzPct val="100000"/>
              <a:buChar char="■"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Baud rate in the terminal is ignored</a:t>
            </a:r>
            <a:endParaRPr lang="en-US" sz="13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4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148840"/>
            <a:ext cx="822960" cy="54864"/>
          </a:xfrm>
          <a:prstGeom prst="rect">
            <a:avLst/>
          </a:prstGeom>
          <a:solidFill>
            <a:srgbClr val="FFB300"/>
          </a:solidFill>
          <a:ln/>
        </p:spPr>
      </p:sp>
      <p:sp>
        <p:nvSpPr>
          <p:cNvPr id="3" name="Text 1"/>
          <p:cNvSpPr/>
          <p:nvPr/>
        </p:nvSpPr>
        <p:spPr>
          <a:xfrm>
            <a:off x="1097280" y="18745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5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097280" y="224028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I2C with HAL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1097280" y="30632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GY-521 (MPU-6050) and BH1750</a:t>
            </a:r>
            <a:endParaRPr lang="en-US" sz="14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Wiring and the Address Trap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41248"/>
            <a:ext cx="1005840" cy="32004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470916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16  |  STM32: CubeMX and HAL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229600" y="470916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51560"/>
          <a:ext cx="822960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2286000"/>
                <a:gridCol w="2286000"/>
                <a:gridCol w="1920240"/>
              </a:tblGrid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Module pin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4A8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GY-521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4A8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BH1750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4A8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Black Pill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4A8A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VCC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27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VCC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27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VCC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27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3V3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270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GND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27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GND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27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GND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27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GND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270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27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27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27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PB6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270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SDA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27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SDA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27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SDA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27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PB7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270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Address pin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27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AD0 -&gt; GND: 0x68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27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ADDR -&gt; GND: 0x23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27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270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457200" y="3063240"/>
            <a:ext cx="8229600" cy="868680"/>
          </a:xfrm>
          <a:prstGeom prst="rect">
            <a:avLst/>
          </a:prstGeom>
          <a:solidFill>
            <a:srgbClr val="0D1117"/>
          </a:solidFill>
          <a:ln w="12700">
            <a:solidFill>
              <a:srgbClr val="3A4A8A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66928" y="3154680"/>
            <a:ext cx="801014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A8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HAL wants the 7-bit address shifted left by one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A8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static const uint16_t MPU_ADDR = (uint16_t)(0x68U &lt;&lt; 1);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57200" y="4005072"/>
            <a:ext cx="8229600" cy="612648"/>
          </a:xfrm>
          <a:prstGeom prst="rect">
            <a:avLst/>
          </a:prstGeom>
          <a:solidFill>
            <a:srgbClr val="253270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57200" y="4005072"/>
            <a:ext cx="64008" cy="612648"/>
          </a:xfrm>
          <a:prstGeom prst="rect">
            <a:avLst/>
          </a:prstGeom>
          <a:solidFill>
            <a:srgbClr val="FFB300"/>
          </a:solidFill>
          <a:ln/>
        </p:spPr>
      </p:sp>
      <p:sp>
        <p:nvSpPr>
          <p:cNvPr id="11" name="Text 8"/>
          <p:cNvSpPr/>
          <p:nvPr/>
        </p:nvSpPr>
        <p:spPr>
          <a:xfrm>
            <a:off x="685800" y="4078224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B3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Forget the shift and every call returns HAL_ERROR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685800" y="4352544"/>
            <a:ext cx="7863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Arduino Wire shifts for you. HAL does not. Scan with HAL_I2C_IsDeviceReady(&amp;hi2c1, a &lt;&lt; 1, ...)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MPU-6050: Register Based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41248"/>
            <a:ext cx="1005840" cy="32004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470916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16  |  STM32: CubeMX and HAL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229600" y="470916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051560"/>
            <a:ext cx="8229600" cy="2560320"/>
          </a:xfrm>
          <a:prstGeom prst="rect">
            <a:avLst/>
          </a:prstGeom>
          <a:solidFill>
            <a:srgbClr val="0D1117"/>
          </a:solidFill>
          <a:ln w="12700">
            <a:solidFill>
              <a:srgbClr val="3A4A8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1143000"/>
            <a:ext cx="8010144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8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uint8_t who = 0U;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8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HAL_I2C_Mem_Read(&amp;hi2c1, MPU_ADDR, 0x75U,   // WHO_AM_I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8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I2C_MEMADD_SIZE_8BIT, &amp;who, 1U, 10U);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8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uint8_t wake = 0x00U;                       // clear SLEEP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8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HAL_I2C_Mem_Write(&amp;hi2c1, MPU_ADDR, 0x6BU,  // PWR_MGMT_1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8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I2C_MEMADD_SIZE_8BIT, &amp;wake, 1U, 10U);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8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uint8_t b[14];  // ax ay az temp gx gy gz, big endian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8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HAL_I2C_Mem_Read(&amp;hi2c1, MPU_ADDR, 0x3BU,   // ACCEL_XOUT_H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8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I2C_MEMADD_SIZE_8BIT, b, 14U, 10U);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57200" y="3794760"/>
            <a:ext cx="8229600" cy="731520"/>
          </a:xfrm>
          <a:prstGeom prst="rect">
            <a:avLst/>
          </a:prstGeom>
          <a:solidFill>
            <a:srgbClr val="253270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3794760"/>
            <a:ext cx="64008" cy="731520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10" name="Text 8"/>
          <p:cNvSpPr/>
          <p:nvPr/>
        </p:nvSpPr>
        <p:spPr>
          <a:xfrm>
            <a:off x="685800" y="3867912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ADC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Clones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85800" y="4142232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 GY-521 boards carry a clone chip: WHO_AM_I 0x70, 0x72 or 0x98 instead of 0x68. Print the value, do not hard-fail.</a:t>
            </a:r>
            <a:endParaRPr lang="en-US" sz="1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BH1750: Command Based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41248"/>
            <a:ext cx="1005840" cy="32004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470916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16  |  STM32: CubeMX and HAL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229600" y="470916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051560"/>
            <a:ext cx="8229600" cy="2423160"/>
          </a:xfrm>
          <a:prstGeom prst="rect">
            <a:avLst/>
          </a:prstGeom>
          <a:solidFill>
            <a:srgbClr val="0D1117"/>
          </a:solidFill>
          <a:ln w="12700">
            <a:solidFill>
              <a:srgbClr val="3A4A8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1143000"/>
            <a:ext cx="8010144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A8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uint8_t cmd = 0x01U;                       // power on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A8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HAL_I2C_Master_Transmit(&amp;hi2c1, BH_ADDR, &amp;cmd, 1U, 10U);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A8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cmd = 0x10U;                               // continuous, 1 lx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A8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HAL_I2C_Master_Transmit(&amp;hi2c1, BH_ADDR, &amp;cmd, 1U, 10U);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A8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uint8_t b[2];                             // every &gt;= 180 ms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A8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HAL_I2C_Master_Receive(&amp;hi2c1, BH_ADDR, b, 2U, 10U);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A8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uint32_t raw = ((uint32_t)b[0] &lt;&lt; 8) | b[1];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A8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uint32_t lux10 = raw * 25U / 3U;   // lux = raw / 1.2</a:t>
            </a:r>
            <a:endParaRPr lang="en-US" sz="110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3611880"/>
          <a:ext cx="822960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3566160"/>
                <a:gridCol w="3566160"/>
              </a:tblGrid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4A8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Register based (MPU-6050)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4A8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Command based (BH1750, AHT10)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4A8A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Write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27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register address, then data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27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command byte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270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27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HAL_I2C_Mem_Read()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27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HAL_I2C_Master_Receive()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27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Check It on the Wire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41248"/>
            <a:ext cx="1005840" cy="32004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470916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16  |  STM32: CubeMX and HAL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229600" y="470916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1051560"/>
            <a:ext cx="822960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5000"/>
              </a:lnSpc>
              <a:buSzPct val="100000"/>
              <a:buChar char="■"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D1 SDA = PB7, D2 SCL = PB6, GND to GND. I2C decoder, as in session 15</a:t>
            </a:r>
            <a:endParaRPr lang="en-US" sz="1400" dirty="0"/>
          </a:p>
          <a:p>
            <a:pPr marL="342900" indent="-342900">
              <a:lnSpc>
                <a:spcPct val="135000"/>
              </a:lnSpc>
              <a:buSzPct val="100000"/>
              <a:buChar char="■"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at 1-2 MHz: 100 kHz bus, 10-20 samples per bit</a:t>
            </a:r>
            <a:endParaRPr lang="en-US" sz="1400" dirty="0"/>
          </a:p>
          <a:p>
            <a:pPr marL="342900" indent="-342900">
              <a:lnSpc>
                <a:spcPct val="135000"/>
              </a:lnSpc>
              <a:buSzPct val="100000"/>
              <a:buChar char="■"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the MPU burst: Write 0x68, 0x3B, repeated START, Read 0x68, 14 bytes</a:t>
            </a:r>
            <a:endParaRPr lang="en-US" sz="1400" dirty="0"/>
          </a:p>
          <a:p>
            <a:pPr marL="342900" indent="-342900">
              <a:lnSpc>
                <a:spcPct val="135000"/>
              </a:lnSpc>
              <a:buSzPct val="100000"/>
              <a:buChar char="■"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the BH1750 read: Read 0x23, 2 bytes, no register byte</a:t>
            </a:r>
            <a:endParaRPr lang="en-US" sz="1400" dirty="0"/>
          </a:p>
          <a:p>
            <a:pPr marL="342900" indent="-342900">
              <a:lnSpc>
                <a:spcPct val="135000"/>
              </a:lnSpc>
              <a:buSzPct val="100000"/>
              <a:buChar char="■"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Unplug a sensor: what does the NACK look like, what does HAL return?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3749040"/>
            <a:ext cx="8229600" cy="731520"/>
          </a:xfrm>
          <a:prstGeom prst="rect">
            <a:avLst/>
          </a:prstGeom>
          <a:solidFill>
            <a:srgbClr val="253270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3749040"/>
            <a:ext cx="64008" cy="731520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9" name="Text 7"/>
          <p:cNvSpPr/>
          <p:nvPr/>
        </p:nvSpPr>
        <p:spPr>
          <a:xfrm>
            <a:off x="685800" y="3822192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CAF5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Same bus, different chip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85800" y="4096512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waveform does not care whether Arduino Wire or HAL produced it. The logic analyzer is the neutral judge.</a:t>
            </a:r>
            <a:endParaRPr lang="en-US" sz="12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Lab (in pairs)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41248"/>
            <a:ext cx="1005840" cy="32004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470916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16  |  STM32: CubeMX and HAL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229600" y="470916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1051560"/>
            <a:ext cx="822960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5000"/>
              </a:lnSpc>
              <a:buSzPct val="100000"/>
              <a:buChar char="■"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Your own CubeMX project from the settings on slides 9-10, generated as CMake</a:t>
            </a:r>
            <a:endParaRPr lang="en-US" sz="1400" dirty="0"/>
          </a:p>
          <a:p>
            <a:pPr marL="342900" indent="-342900">
              <a:lnSpc>
                <a:spcPct val="135000"/>
              </a:lnSpc>
              <a:buSzPct val="100000"/>
              <a:buChar char="■"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Blink the LED with HAL_GetTick(), upload with DFU</a:t>
            </a:r>
            <a:endParaRPr lang="en-US" sz="1400" dirty="0"/>
          </a:p>
          <a:p>
            <a:pPr marL="342900" indent="-342900">
              <a:lnSpc>
                <a:spcPct val="135000"/>
              </a:lnSpc>
              <a:buSzPct val="100000"/>
              <a:buChar char="■"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KEY changes the blink period</a:t>
            </a:r>
            <a:endParaRPr lang="en-US" sz="1400" dirty="0"/>
          </a:p>
          <a:p>
            <a:pPr marL="342900" indent="-342900">
              <a:lnSpc>
                <a:spcPct val="135000"/>
              </a:lnSpc>
              <a:buSzPct val="100000"/>
              <a:buChar char="■"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log_printf over USB: print the SYSCLK with HAL_RCC_GetSysClockFreq()</a:t>
            </a:r>
            <a:endParaRPr lang="en-US" sz="1400" dirty="0"/>
          </a:p>
          <a:p>
            <a:pPr marL="342900" indent="-342900">
              <a:lnSpc>
                <a:spcPct val="135000"/>
              </a:lnSpc>
              <a:buSzPct val="100000"/>
              <a:buChar char="■"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I2C scan: both 0x23 and 0x68 must show up</a:t>
            </a:r>
            <a:endParaRPr lang="en-US" sz="1400" dirty="0"/>
          </a:p>
          <a:p>
            <a:pPr marL="342900" indent="-342900">
              <a:lnSpc>
                <a:spcPct val="135000"/>
              </a:lnSpc>
              <a:buSzPct val="100000"/>
              <a:buChar char="■"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Read WHO_AM_I, then lux. Stretch: acceleration in mg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3886200"/>
            <a:ext cx="8229600" cy="685800"/>
          </a:xfrm>
          <a:prstGeom prst="rect">
            <a:avLst/>
          </a:prstGeom>
          <a:solidFill>
            <a:srgbClr val="253270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3886200"/>
            <a:ext cx="64008" cy="685800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9" name="Text 7"/>
          <p:cNvSpPr/>
          <p:nvPr/>
        </p:nvSpPr>
        <p:spPr>
          <a:xfrm>
            <a:off x="685800" y="3959352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ADC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Stuck?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85800" y="4233672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the order: clock tree -&gt; USB enumerates -&gt; terminal open -&gt; I2C. Do not debug two at once.</a:t>
            </a:r>
            <a:endParaRPr lang="en-US" sz="12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Summary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41248"/>
            <a:ext cx="1005840" cy="32004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470916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16  |  STM32: CubeMX and HAL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229600" y="470916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1051560"/>
            <a:ext cx="822960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5000"/>
              </a:lnSpc>
              <a:buSzPct val="100000"/>
              <a:buChar char="■"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CubeMX generates init code; our code lives in USER CODE sections and app.c</a:t>
            </a:r>
            <a:endParaRPr lang="en-US" sz="1500" dirty="0"/>
          </a:p>
          <a:p>
            <a:pPr marL="342900" indent="-342900">
              <a:lnSpc>
                <a:spcPct val="135000"/>
              </a:lnSpc>
              <a:buSzPct val="100000"/>
              <a:buChar char="■"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clock tree is a design decision: USB forced 96 MHz</a:t>
            </a:r>
            <a:endParaRPr lang="en-US" sz="1500" dirty="0"/>
          </a:p>
          <a:p>
            <a:pPr marL="342900" indent="-342900">
              <a:lnSpc>
                <a:spcPct val="135000"/>
              </a:lnSpc>
              <a:buSzPct val="100000"/>
              <a:buChar char="■"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DFU: the ROM bootloader, entered with BOOT0 + NRST</a:t>
            </a:r>
            <a:endParaRPr lang="en-US" sz="1500" dirty="0"/>
          </a:p>
          <a:p>
            <a:pPr marL="342900" indent="-342900">
              <a:lnSpc>
                <a:spcPct val="135000"/>
              </a:lnSpc>
              <a:buSzPct val="100000"/>
              <a:buChar char="■"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 calls are explicit: port and pin, handle, timeout, return status</a:t>
            </a:r>
            <a:endParaRPr lang="en-US" sz="1500" dirty="0"/>
          </a:p>
          <a:p>
            <a:pPr marL="342900" indent="-342900">
              <a:lnSpc>
                <a:spcPct val="135000"/>
              </a:lnSpc>
              <a:buSzPct val="100000"/>
              <a:buChar char="■"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I2C: address &lt;&lt; 1, Mem_Read for registers, Master_Receive for commands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57200" y="3840480"/>
            <a:ext cx="8229600" cy="685800"/>
          </a:xfrm>
          <a:prstGeom prst="rect">
            <a:avLst/>
          </a:prstGeom>
          <a:solidFill>
            <a:srgbClr val="253270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3840480"/>
            <a:ext cx="64008" cy="685800"/>
          </a:xfrm>
          <a:prstGeom prst="rect">
            <a:avLst/>
          </a:prstGeom>
          <a:solidFill>
            <a:srgbClr val="FFB300"/>
          </a:solidFill>
          <a:ln/>
        </p:spPr>
      </p:sp>
      <p:sp>
        <p:nvSpPr>
          <p:cNvPr id="9" name="Text 7"/>
          <p:cNvSpPr/>
          <p:nvPr/>
        </p:nvSpPr>
        <p:spPr>
          <a:xfrm>
            <a:off x="685800" y="3913632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B3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Keep your project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85800" y="4187952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next STM32 session builds on the same CubeMX project and board.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Lesson 16 - STM32: CubeMX and HAL</dc:title>
  <dc:subject>PptxGenJS Presentation</dc:subject>
  <dc:creator>Embedded Software Development in C/C++</dc:creator>
  <cp:lastModifiedBy>Embedded Software Development in C/C++</cp:lastModifiedBy>
  <cp:revision>1</cp:revision>
  <dcterms:created xsi:type="dcterms:W3CDTF">2026-10-26T12:35:32Z</dcterms:created>
  <dcterms:modified xsi:type="dcterms:W3CDTF">2026-10-26T12:35:32Z</dcterms:modified>
</cp:coreProperties>
</file>