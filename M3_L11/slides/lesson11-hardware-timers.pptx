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K4 session. Last session on the ESP32-C3 before the switch to the Pico in session 12. Students already used attachInterrupt, IRAM_ATTR and volatile once in K3 - today makes those rules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minutes per block, lab gets the last hour. The lab result is the payoff: they prove the point of the lesson with their own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first: what happens to the tick if updateDisplay() takes 3 ms? Let them answer before the next slide shows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polled ticks are computed from the same rule as the code on the previous slide (last = now). Point at the second polled tick: it is late, and the next period starts from that late moment, so the error never recovers.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TRM open on the projector. Students find: number of timers, counter width (54), prescaler width (16 bit, 2..65536), clock sources (APB_CLK or XTAL_CLK). This is the session 4 skill: one specific answer in a long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2^54 us = 1.8e16 us = about 571 years. Divider 80 is the habit because it makes one tick exactly one microsecond, so alarm values read as microseconds.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10 Hz: 100 ms, divider 80, alarm 100000. 1 Hz: 1 s, divider 80, alarm 1000000 (or divider 8000, alarm 10000). 40 kHz: 25 us, divider 80, alarm 25. Fastest tick: divider 2 -&gt; 40 MHz -&gt; 25 ns. Divider 1 is not allowed: the range starts at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2.x signatures: timerBegin(uint8_t num, uint16_t divider, bool countUp), timerAttachInterrupt(timer, fn, bool edge), timerAlarmWrite(timer, uint64_t alarm, bool autoreload), timerAlarmEnable(timer). Edge interrupts are not supported for timers; passing true only logs a warning and falls back to level, so pass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literals on this slide are only for the side-by-side comparison. In real code they are named constants, as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each don't: Serial waits for the USB buffer and takes locks. delay() needs the scheduler. The heap allocator takes a lock that loop() may already hold. analogRead goes through the ADC driver, which is slow and uses locks. IRAM_ATTR keeps the ISR code in RAM so it can run while the flash is busy.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shape as the button ISR in K3, now driven by time instead of a pin.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oscilloscope tonight: the chip measures itself with micros(). Answer to the question: g_lastUs starts at 0, so the first dt is the time since boot. 2^32 us = 4295 s = about 71.6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32-bit reads are atomic on this chip, so no single value is torn. The problem is that four values are read at four different moments. Ask: how often does this happen? Rarely - which is exactly why it survives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critical-section topic deferred from K3. On the single-core C3 the ISR side is not strictly needed, but the canonical pattern has it on both sides and it costs almost nothing. Serial.printf is outside the critical section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separate sets of statistics: the poll set lives only in loop(), the timer set is shared with the ISR. analogRead max is about 3850 counts with the 3.3k series resistor, so the load is roughly 0 to 3.9 ms. delayMicroseconds busy-waits with interrupts enabled, so the timer keeps firing during the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each polled period is 1000 us plus however late loop() was, because last = now restarts the period from the late moment. 2: other interrupts (USB, the FreeRTOS tick) and interrupt entry latency. 3: the poll statistics are written and read only in loop() - one context, nothing interrupts it to touch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them: next session starts with soldering headers on the Pico, so the platform must already be installed at home - the download is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3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ADCFC"/>
          </a:solidFill>
          <a:ln/>
        </p:spPr>
      </p:sp>
      <p:sp>
        <p:nvSpPr>
          <p:cNvPr id="3" name="Shape 1"/>
          <p:cNvSpPr/>
          <p:nvPr/>
        </p:nvSpPr>
        <p:spPr>
          <a:xfrm>
            <a:off x="0" y="5088636"/>
            <a:ext cx="9144000" cy="54864"/>
          </a:xfrm>
          <a:prstGeom prst="rect">
            <a:avLst/>
          </a:prstGeom>
          <a:solidFill>
            <a:srgbClr val="CADCFC"/>
          </a:solidFill>
          <a:ln/>
        </p:spPr>
      </p:sp>
      <p:pic>
        <p:nvPicPr>
          <p:cNvPr id="4" name="Image 0" descr="preencoded.png">    </p:cNvPr>
          <p:cNvPicPr>
            <a:picLocks noChangeAspect="1"/>
          </p:cNvPicPr>
          <p:nvPr/>
        </p:nvPicPr>
        <p:blipFill>
          <a:blip r:embed="rId1"/>
          <a:stretch>
            <a:fillRect/>
          </a:stretch>
        </p:blipFill>
        <p:spPr>
          <a:xfrm>
            <a:off x="4114800" y="640080"/>
            <a:ext cx="914400" cy="914400"/>
          </a:xfrm>
          <a:prstGeom prst="rect">
            <a:avLst/>
          </a:prstGeom>
        </p:spPr>
      </p:pic>
      <p:sp>
        <p:nvSpPr>
          <p:cNvPr id="5" name="Text 2"/>
          <p:cNvSpPr/>
          <p:nvPr/>
        </p:nvSpPr>
        <p:spPr>
          <a:xfrm>
            <a:off x="457200" y="1691640"/>
            <a:ext cx="8229600" cy="365760"/>
          </a:xfrm>
          <a:prstGeom prst="rect">
            <a:avLst/>
          </a:prstGeom>
          <a:noFill/>
          <a:ln/>
        </p:spPr>
        <p:txBody>
          <a:bodyPr wrap="square" lIns="0" tIns="0" rIns="0" bIns="0" rtlCol="0" anchor="ctr"/>
          <a:lstStyle/>
          <a:p>
            <a:pPr algn="ctr" indent="0" marL="0">
              <a:buNone/>
            </a:pPr>
            <a:r>
              <a:rPr lang="en-US" sz="1300" b="1" spc="200" kern="0" dirty="0">
                <a:solidFill>
                  <a:srgbClr val="8892B0"/>
                </a:solidFill>
                <a:latin typeface="Calibri" pitchFamily="34" charset="0"/>
                <a:ea typeface="Calibri" pitchFamily="34" charset="-122"/>
                <a:cs typeface="Calibri" pitchFamily="34" charset="-120"/>
              </a:rPr>
              <a:t>LESSON 11</a:t>
            </a:r>
            <a:endParaRPr lang="en-US" sz="1300" dirty="0"/>
          </a:p>
        </p:txBody>
      </p:sp>
      <p:sp>
        <p:nvSpPr>
          <p:cNvPr id="6" name="Text 3"/>
          <p:cNvSpPr/>
          <p:nvPr/>
        </p:nvSpPr>
        <p:spPr>
          <a:xfrm>
            <a:off x="457200" y="2011680"/>
            <a:ext cx="8229600" cy="777240"/>
          </a:xfrm>
          <a:prstGeom prst="rect">
            <a:avLst/>
          </a:prstGeom>
          <a:noFill/>
          <a:ln/>
        </p:spPr>
        <p:txBody>
          <a:bodyPr wrap="square" lIns="0" tIns="0" rIns="0" bIns="0" rtlCol="0" anchor="ctr"/>
          <a:lstStyle/>
          <a:p>
            <a:pPr algn="ctr" indent="0" marL="0">
              <a:buNone/>
            </a:pPr>
            <a:r>
              <a:rPr lang="en-US" sz="4000" b="1" dirty="0">
                <a:solidFill>
                  <a:srgbClr val="FFFFFF"/>
                </a:solidFill>
                <a:latin typeface="Trebuchet MS" pitchFamily="34" charset="0"/>
                <a:ea typeface="Trebuchet MS" pitchFamily="34" charset="-122"/>
                <a:cs typeface="Trebuchet MS" pitchFamily="34" charset="-120"/>
              </a:rPr>
              <a:t>Hardware Timers</a:t>
            </a:r>
            <a:endParaRPr lang="en-US" sz="4000" dirty="0"/>
          </a:p>
        </p:txBody>
      </p:sp>
      <p:sp>
        <p:nvSpPr>
          <p:cNvPr id="7" name="Shape 4"/>
          <p:cNvSpPr/>
          <p:nvPr/>
        </p:nvSpPr>
        <p:spPr>
          <a:xfrm>
            <a:off x="3200400" y="2926080"/>
            <a:ext cx="2743200" cy="27432"/>
          </a:xfrm>
          <a:prstGeom prst="rect">
            <a:avLst/>
          </a:prstGeom>
          <a:solidFill>
            <a:srgbClr val="3A4A8A"/>
          </a:solidFill>
          <a:ln/>
        </p:spPr>
      </p:sp>
      <p:sp>
        <p:nvSpPr>
          <p:cNvPr id="8" name="Text 5"/>
          <p:cNvSpPr/>
          <p:nvPr/>
        </p:nvSpPr>
        <p:spPr>
          <a:xfrm>
            <a:off x="457200" y="3108960"/>
            <a:ext cx="8229600" cy="457200"/>
          </a:xfrm>
          <a:prstGeom prst="rect">
            <a:avLst/>
          </a:prstGeom>
          <a:noFill/>
          <a:ln/>
        </p:spPr>
        <p:txBody>
          <a:bodyPr wrap="square" lIns="0" tIns="0" rIns="0" bIns="0" rtlCol="0" anchor="ctr"/>
          <a:lstStyle/>
          <a:p>
            <a:pPr algn="ctr" indent="0" marL="0">
              <a:buNone/>
            </a:pPr>
            <a:r>
              <a:rPr lang="en-US" sz="1600" dirty="0">
                <a:solidFill>
                  <a:srgbClr val="CADCFC"/>
                </a:solidFill>
                <a:latin typeface="Trebuchet MS" pitchFamily="34" charset="0"/>
                <a:ea typeface="Trebuchet MS" pitchFamily="34" charset="-122"/>
                <a:cs typeface="Trebuchet MS" pitchFamily="34" charset="-120"/>
              </a:rPr>
              <a:t>Interrupts on a schedule, and the rules that keep them safe</a:t>
            </a:r>
            <a:endParaRPr lang="en-US" sz="1600" dirty="0"/>
          </a:p>
        </p:txBody>
      </p:sp>
      <p:sp>
        <p:nvSpPr>
          <p:cNvPr id="9" name="Text 6"/>
          <p:cNvSpPr/>
          <p:nvPr/>
        </p:nvSpPr>
        <p:spPr>
          <a:xfrm>
            <a:off x="457200" y="3611880"/>
            <a:ext cx="8229600" cy="365760"/>
          </a:xfrm>
          <a:prstGeom prst="rect">
            <a:avLst/>
          </a:prstGeom>
          <a:noFill/>
          <a:ln/>
        </p:spPr>
        <p:txBody>
          <a:bodyPr wrap="square" rtlCol="0" anchor="ctr"/>
          <a:lstStyle/>
          <a:p>
            <a:pPr algn="ctr" indent="0" marL="0">
              <a:buNone/>
            </a:pPr>
            <a:r>
              <a:rPr lang="en-US" sz="1300" dirty="0">
                <a:solidFill>
                  <a:srgbClr val="8892B0"/>
                </a:solidFill>
                <a:latin typeface="Calibri" pitchFamily="34" charset="0"/>
                <a:ea typeface="Calibri" pitchFamily="34" charset="-122"/>
                <a:cs typeface="Calibri" pitchFamily="34" charset="-120"/>
              </a:rPr>
              <a:t>Embedded Software Development in C/C++</a:t>
            </a:r>
            <a:endParaRPr lang="en-US" sz="1300" dirty="0"/>
          </a:p>
        </p:txBody>
      </p:sp>
      <p:sp>
        <p:nvSpPr>
          <p:cNvPr id="10" name="Text 7"/>
          <p:cNvSpPr/>
          <p:nvPr/>
        </p:nvSpPr>
        <p:spPr>
          <a:xfrm>
            <a:off x="457200" y="4023360"/>
            <a:ext cx="8229600" cy="365760"/>
          </a:xfrm>
          <a:prstGeom prst="rect">
            <a:avLst/>
          </a:prstGeom>
          <a:noFill/>
          <a:ln/>
        </p:spPr>
        <p:txBody>
          <a:bodyPr wrap="square" rtlCol="0" anchor="ctr"/>
          <a:lstStyle/>
          <a:p>
            <a:pPr algn="ctr" indent="0" marL="0">
              <a:buNone/>
            </a:pPr>
            <a:r>
              <a:rPr lang="en-US" sz="1100" dirty="0">
                <a:solidFill>
                  <a:srgbClr val="3A4A8A"/>
                </a:solidFill>
                <a:latin typeface="Calibri" pitchFamily="34" charset="0"/>
                <a:ea typeface="Calibri" pitchFamily="34" charset="-122"/>
                <a:cs typeface="Calibri" pitchFamily="34" charset="-120"/>
              </a:rPr>
              <a:t>ESP32-C3 Super Mini  |  Arduino-ESP32 core 2.x  |  2026-10-05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Tonight</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11  |  Hardware Timers and Interrupts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1143000" y="1783080"/>
            <a:ext cx="6858000" cy="0"/>
          </a:xfrm>
          <a:prstGeom prst="line">
            <a:avLst/>
          </a:prstGeom>
          <a:noFill/>
          <a:ln w="25400">
            <a:solidFill>
              <a:srgbClr val="3A4A8A"/>
            </a:solidFill>
            <a:prstDash val="solid"/>
          </a:ln>
        </p:spPr>
      </p:sp>
      <p:sp>
        <p:nvSpPr>
          <p:cNvPr id="7" name="Shape 5"/>
          <p:cNvSpPr/>
          <p:nvPr/>
        </p:nvSpPr>
        <p:spPr>
          <a:xfrm>
            <a:off x="822960" y="1463040"/>
            <a:ext cx="640080" cy="640080"/>
          </a:xfrm>
          <a:prstGeom prst="ellipse">
            <a:avLst/>
          </a:prstGeom>
          <a:solidFill>
            <a:srgbClr val="253270"/>
          </a:solidFill>
          <a:ln w="25400">
            <a:solidFill>
              <a:srgbClr val="CADCFC"/>
            </a:solidFill>
            <a:prstDash val="solid"/>
          </a:ln>
        </p:spPr>
      </p:sp>
      <p:sp>
        <p:nvSpPr>
          <p:cNvPr id="8" name="Text 6"/>
          <p:cNvSpPr/>
          <p:nvPr/>
        </p:nvSpPr>
        <p:spPr>
          <a:xfrm>
            <a:off x="822960" y="146304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1</a:t>
            </a:r>
            <a:endParaRPr lang="en-US" sz="2000" dirty="0"/>
          </a:p>
        </p:txBody>
      </p:sp>
      <p:sp>
        <p:nvSpPr>
          <p:cNvPr id="9" name="Text 7"/>
          <p:cNvSpPr/>
          <p:nvPr/>
        </p:nvSpPr>
        <p:spPr>
          <a:xfrm>
            <a:off x="502920" y="2240280"/>
            <a:ext cx="1280160" cy="54864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Why timers</a:t>
            </a:r>
            <a:endParaRPr lang="en-US" sz="1400" dirty="0"/>
          </a:p>
        </p:txBody>
      </p:sp>
      <p:sp>
        <p:nvSpPr>
          <p:cNvPr id="10" name="Shape 8"/>
          <p:cNvSpPr/>
          <p:nvPr/>
        </p:nvSpPr>
        <p:spPr>
          <a:xfrm>
            <a:off x="2194560" y="1463040"/>
            <a:ext cx="640080" cy="640080"/>
          </a:xfrm>
          <a:prstGeom prst="ellipse">
            <a:avLst/>
          </a:prstGeom>
          <a:solidFill>
            <a:srgbClr val="253270"/>
          </a:solidFill>
          <a:ln w="25400">
            <a:solidFill>
              <a:srgbClr val="CADCFC"/>
            </a:solidFill>
            <a:prstDash val="solid"/>
          </a:ln>
        </p:spPr>
      </p:sp>
      <p:sp>
        <p:nvSpPr>
          <p:cNvPr id="11" name="Text 9"/>
          <p:cNvSpPr/>
          <p:nvPr/>
        </p:nvSpPr>
        <p:spPr>
          <a:xfrm>
            <a:off x="2194560" y="146304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2</a:t>
            </a:r>
            <a:endParaRPr lang="en-US" sz="2000" dirty="0"/>
          </a:p>
        </p:txBody>
      </p:sp>
      <p:sp>
        <p:nvSpPr>
          <p:cNvPr id="12" name="Text 10"/>
          <p:cNvSpPr/>
          <p:nvPr/>
        </p:nvSpPr>
        <p:spPr>
          <a:xfrm>
            <a:off x="1874520" y="2240280"/>
            <a:ext cx="1280160" cy="54864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Timer in the TRM</a:t>
            </a:r>
            <a:endParaRPr lang="en-US" sz="1400" dirty="0"/>
          </a:p>
        </p:txBody>
      </p:sp>
      <p:sp>
        <p:nvSpPr>
          <p:cNvPr id="13" name="Shape 11"/>
          <p:cNvSpPr/>
          <p:nvPr/>
        </p:nvSpPr>
        <p:spPr>
          <a:xfrm>
            <a:off x="3566160" y="1463040"/>
            <a:ext cx="640080" cy="640080"/>
          </a:xfrm>
          <a:prstGeom prst="ellipse">
            <a:avLst/>
          </a:prstGeom>
          <a:solidFill>
            <a:srgbClr val="253270"/>
          </a:solidFill>
          <a:ln w="25400">
            <a:solidFill>
              <a:srgbClr val="CADCFC"/>
            </a:solidFill>
            <a:prstDash val="solid"/>
          </a:ln>
        </p:spPr>
      </p:sp>
      <p:sp>
        <p:nvSpPr>
          <p:cNvPr id="14" name="Text 12"/>
          <p:cNvSpPr/>
          <p:nvPr/>
        </p:nvSpPr>
        <p:spPr>
          <a:xfrm>
            <a:off x="3566160" y="146304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3</a:t>
            </a:r>
            <a:endParaRPr lang="en-US" sz="2000" dirty="0"/>
          </a:p>
        </p:txBody>
      </p:sp>
      <p:sp>
        <p:nvSpPr>
          <p:cNvPr id="15" name="Text 13"/>
          <p:cNvSpPr/>
          <p:nvPr/>
        </p:nvSpPr>
        <p:spPr>
          <a:xfrm>
            <a:off x="3246120" y="2240280"/>
            <a:ext cx="1280160" cy="54864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Core 2.x API</a:t>
            </a:r>
            <a:endParaRPr lang="en-US" sz="1400" dirty="0"/>
          </a:p>
        </p:txBody>
      </p:sp>
      <p:sp>
        <p:nvSpPr>
          <p:cNvPr id="16" name="Shape 14"/>
          <p:cNvSpPr/>
          <p:nvPr/>
        </p:nvSpPr>
        <p:spPr>
          <a:xfrm>
            <a:off x="4937760" y="1463040"/>
            <a:ext cx="640080" cy="640080"/>
          </a:xfrm>
          <a:prstGeom prst="ellipse">
            <a:avLst/>
          </a:prstGeom>
          <a:solidFill>
            <a:srgbClr val="253270"/>
          </a:solidFill>
          <a:ln w="25400">
            <a:solidFill>
              <a:srgbClr val="CADCFC"/>
            </a:solidFill>
            <a:prstDash val="solid"/>
          </a:ln>
        </p:spPr>
      </p:sp>
      <p:sp>
        <p:nvSpPr>
          <p:cNvPr id="17" name="Text 15"/>
          <p:cNvSpPr/>
          <p:nvPr/>
        </p:nvSpPr>
        <p:spPr>
          <a:xfrm>
            <a:off x="4937760" y="146304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4</a:t>
            </a:r>
            <a:endParaRPr lang="en-US" sz="2000" dirty="0"/>
          </a:p>
        </p:txBody>
      </p:sp>
      <p:sp>
        <p:nvSpPr>
          <p:cNvPr id="18" name="Text 16"/>
          <p:cNvSpPr/>
          <p:nvPr/>
        </p:nvSpPr>
        <p:spPr>
          <a:xfrm>
            <a:off x="4617720" y="2240280"/>
            <a:ext cx="1280160" cy="54864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ISR rules</a:t>
            </a:r>
            <a:endParaRPr lang="en-US" sz="1400" dirty="0"/>
          </a:p>
        </p:txBody>
      </p:sp>
      <p:sp>
        <p:nvSpPr>
          <p:cNvPr id="19" name="Shape 17"/>
          <p:cNvSpPr/>
          <p:nvPr/>
        </p:nvSpPr>
        <p:spPr>
          <a:xfrm>
            <a:off x="6309360" y="1463040"/>
            <a:ext cx="640080" cy="640080"/>
          </a:xfrm>
          <a:prstGeom prst="ellipse">
            <a:avLst/>
          </a:prstGeom>
          <a:solidFill>
            <a:srgbClr val="253270"/>
          </a:solidFill>
          <a:ln w="25400">
            <a:solidFill>
              <a:srgbClr val="CADCFC"/>
            </a:solidFill>
            <a:prstDash val="solid"/>
          </a:ln>
        </p:spPr>
      </p:sp>
      <p:sp>
        <p:nvSpPr>
          <p:cNvPr id="20" name="Text 18"/>
          <p:cNvSpPr/>
          <p:nvPr/>
        </p:nvSpPr>
        <p:spPr>
          <a:xfrm>
            <a:off x="6309360" y="146304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5</a:t>
            </a:r>
            <a:endParaRPr lang="en-US" sz="2000" dirty="0"/>
          </a:p>
        </p:txBody>
      </p:sp>
      <p:sp>
        <p:nvSpPr>
          <p:cNvPr id="21" name="Text 19"/>
          <p:cNvSpPr/>
          <p:nvPr/>
        </p:nvSpPr>
        <p:spPr>
          <a:xfrm>
            <a:off x="5989320" y="2240280"/>
            <a:ext cx="1280160" cy="54864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Measure jitter</a:t>
            </a:r>
            <a:endParaRPr lang="en-US" sz="1400" dirty="0"/>
          </a:p>
        </p:txBody>
      </p:sp>
      <p:sp>
        <p:nvSpPr>
          <p:cNvPr id="22" name="Shape 20"/>
          <p:cNvSpPr/>
          <p:nvPr/>
        </p:nvSpPr>
        <p:spPr>
          <a:xfrm>
            <a:off x="7680960" y="1463040"/>
            <a:ext cx="640080" cy="640080"/>
          </a:xfrm>
          <a:prstGeom prst="ellipse">
            <a:avLst/>
          </a:prstGeom>
          <a:solidFill>
            <a:srgbClr val="FFB300"/>
          </a:solidFill>
          <a:ln w="25400">
            <a:solidFill>
              <a:srgbClr val="FFB300"/>
            </a:solidFill>
            <a:prstDash val="solid"/>
          </a:ln>
        </p:spPr>
      </p:sp>
      <p:sp>
        <p:nvSpPr>
          <p:cNvPr id="23" name="Text 21"/>
          <p:cNvSpPr/>
          <p:nvPr/>
        </p:nvSpPr>
        <p:spPr>
          <a:xfrm>
            <a:off x="7680960" y="1463040"/>
            <a:ext cx="640080" cy="640080"/>
          </a:xfrm>
          <a:prstGeom prst="rect">
            <a:avLst/>
          </a:prstGeom>
          <a:noFill/>
          <a:ln/>
        </p:spPr>
        <p:txBody>
          <a:bodyPr wrap="square" lIns="0" tIns="0" rIns="0" bIns="0" rtlCol="0" anchor="ctr"/>
          <a:lstStyle/>
          <a:p>
            <a:pPr algn="ctr" indent="0" marL="0">
              <a:buNone/>
            </a:pPr>
            <a:r>
              <a:rPr lang="en-US" sz="2000" b="1" dirty="0">
                <a:solidFill>
                  <a:srgbClr val="141B3D"/>
                </a:solidFill>
                <a:latin typeface="Trebuchet MS" pitchFamily="34" charset="0"/>
                <a:ea typeface="Trebuchet MS" pitchFamily="34" charset="-122"/>
                <a:cs typeface="Trebuchet MS" pitchFamily="34" charset="-120"/>
              </a:rPr>
              <a:t>6</a:t>
            </a:r>
            <a:endParaRPr lang="en-US" sz="2000" dirty="0"/>
          </a:p>
        </p:txBody>
      </p:sp>
      <p:sp>
        <p:nvSpPr>
          <p:cNvPr id="24" name="Text 22"/>
          <p:cNvSpPr/>
          <p:nvPr/>
        </p:nvSpPr>
        <p:spPr>
          <a:xfrm>
            <a:off x="7360920" y="2240280"/>
            <a:ext cx="1280160" cy="54864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Lab</a:t>
            </a:r>
            <a:endParaRPr lang="en-US" sz="1400" dirty="0"/>
          </a:p>
        </p:txBody>
      </p:sp>
      <p:sp>
        <p:nvSpPr>
          <p:cNvPr id="25" name="Shape 23"/>
          <p:cNvSpPr/>
          <p:nvPr/>
        </p:nvSpPr>
        <p:spPr>
          <a:xfrm>
            <a:off x="457200" y="3291840"/>
            <a:ext cx="8229600" cy="822960"/>
          </a:xfrm>
          <a:prstGeom prst="rect">
            <a:avLst/>
          </a:prstGeom>
          <a:solidFill>
            <a:srgbClr val="253270"/>
          </a:solidFill>
          <a:ln w="12700">
            <a:solidFill>
              <a:srgbClr val="CADCFC"/>
            </a:solidFill>
            <a:prstDash val="solid"/>
          </a:ln>
        </p:spPr>
      </p:sp>
      <p:sp>
        <p:nvSpPr>
          <p:cNvPr id="26" name="Shape 24"/>
          <p:cNvSpPr/>
          <p:nvPr/>
        </p:nvSpPr>
        <p:spPr>
          <a:xfrm>
            <a:off x="457200" y="3291840"/>
            <a:ext cx="64008" cy="822960"/>
          </a:xfrm>
          <a:prstGeom prst="rect">
            <a:avLst/>
          </a:prstGeom>
          <a:solidFill>
            <a:srgbClr val="CADCFC"/>
          </a:solidFill>
          <a:ln/>
        </p:spPr>
      </p:sp>
      <p:sp>
        <p:nvSpPr>
          <p:cNvPr id="27" name="Text 25"/>
          <p:cNvSpPr/>
          <p:nvPr/>
        </p:nvSpPr>
        <p:spPr>
          <a:xfrm>
            <a:off x="685800" y="3364992"/>
            <a:ext cx="7863840" cy="274320"/>
          </a:xfrm>
          <a:prstGeom prst="rect">
            <a:avLst/>
          </a:prstGeom>
          <a:noFill/>
          <a:ln/>
        </p:spPr>
        <p:txBody>
          <a:bodyPr wrap="square" lIns="0" tIns="0" rIns="0" bIns="0" rtlCol="0" anchor="ctr"/>
          <a:lstStyle/>
          <a:p>
            <a:pPr indent="0" marL="0">
              <a:buNone/>
            </a:pPr>
            <a:r>
              <a:rPr lang="en-US" sz="1300" b="1" dirty="0">
                <a:solidFill>
                  <a:srgbClr val="CADCFC"/>
                </a:solidFill>
                <a:latin typeface="Trebuchet MS" pitchFamily="34" charset="0"/>
                <a:ea typeface="Trebuchet MS" pitchFamily="34" charset="-122"/>
                <a:cs typeface="Trebuchet MS" pitchFamily="34" charset="-120"/>
              </a:rPr>
              <a:t>Goal for tonight</a:t>
            </a:r>
            <a:endParaRPr lang="en-US" sz="1300" dirty="0"/>
          </a:p>
        </p:txBody>
      </p:sp>
      <p:sp>
        <p:nvSpPr>
          <p:cNvPr id="28" name="Text 26"/>
          <p:cNvSpPr/>
          <p:nvPr/>
        </p:nvSpPr>
        <p:spPr>
          <a:xfrm>
            <a:off x="685800" y="3639312"/>
            <a:ext cx="7863840" cy="41148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Your board measures its own timing, and you can show in numbers why a hardware timer beats polling.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B3D"/>
        </a:solidFill>
      </p:bgPr>
    </p:bg>
    <p:spTree>
      <p:nvGrpSpPr>
        <p:cNvPr id="1" name=""/>
        <p:cNvGrpSpPr/>
        <p:nvPr/>
      </p:nvGrpSpPr>
      <p:grpSpPr>
        <a:xfrm>
          <a:off x="0" y="0"/>
          <a:ext cx="0" cy="0"/>
          <a:chOff x="0" y="0"/>
          <a:chExt cx="0" cy="0"/>
        </a:xfrm>
      </p:grpSpPr>
      <p:sp>
        <p:nvSpPr>
          <p:cNvPr id="2" name="Shape 0"/>
          <p:cNvSpPr/>
          <p:nvPr/>
        </p:nvSpPr>
        <p:spPr>
          <a:xfrm>
            <a:off x="0" y="2148840"/>
            <a:ext cx="822960" cy="54864"/>
          </a:xfrm>
          <a:prstGeom prst="rect">
            <a:avLst/>
          </a:prstGeom>
          <a:solidFill>
            <a:srgbClr val="FFB300"/>
          </a:solidFill>
          <a:ln/>
        </p:spPr>
      </p:sp>
      <p:sp>
        <p:nvSpPr>
          <p:cNvPr id="3" name="Text 1"/>
          <p:cNvSpPr/>
          <p:nvPr/>
        </p:nvSpPr>
        <p:spPr>
          <a:xfrm>
            <a:off x="1097280" y="1874520"/>
            <a:ext cx="7315200" cy="365760"/>
          </a:xfrm>
          <a:prstGeom prst="rect">
            <a:avLst/>
          </a:prstGeom>
          <a:noFill/>
          <a:ln/>
        </p:spPr>
        <p:txBody>
          <a:bodyPr wrap="square" lIns="0" tIns="0" rIns="0" bIns="0" rtlCol="0" anchor="ctr"/>
          <a:lstStyle/>
          <a:p>
            <a:pPr indent="0" marL="0">
              <a:buNone/>
            </a:pPr>
            <a:r>
              <a:rPr lang="en-US" sz="1300" b="1" spc="200" kern="0" dirty="0">
                <a:solidFill>
                  <a:srgbClr val="FFB300"/>
                </a:solidFill>
                <a:latin typeface="Calibri" pitchFamily="34" charset="0"/>
                <a:ea typeface="Calibri" pitchFamily="34" charset="-122"/>
                <a:cs typeface="Calibri" pitchFamily="34" charset="-120"/>
              </a:rPr>
              <a:t>PART 1</a:t>
            </a:r>
            <a:endParaRPr lang="en-US" sz="1300" dirty="0"/>
          </a:p>
        </p:txBody>
      </p:sp>
      <p:sp>
        <p:nvSpPr>
          <p:cNvPr id="4" name="Text 2"/>
          <p:cNvSpPr/>
          <p:nvPr/>
        </p:nvSpPr>
        <p:spPr>
          <a:xfrm>
            <a:off x="1097280" y="2240280"/>
            <a:ext cx="7315200" cy="822960"/>
          </a:xfrm>
          <a:prstGeom prst="rect">
            <a:avLst/>
          </a:prstGeom>
          <a:noFill/>
          <a:ln/>
        </p:spPr>
        <p:txBody>
          <a:bodyPr wrap="square" lIns="0" tIns="0" rIns="0" bIns="0"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Why a hardware timer</a:t>
            </a:r>
            <a:endParaRPr lang="en-US" sz="3400" dirty="0"/>
          </a:p>
        </p:txBody>
      </p:sp>
      <p:sp>
        <p:nvSpPr>
          <p:cNvPr id="5" name="Text 3"/>
          <p:cNvSpPr/>
          <p:nvPr/>
        </p:nvSpPr>
        <p:spPr>
          <a:xfrm>
            <a:off x="1097280" y="3063240"/>
            <a:ext cx="7315200" cy="457200"/>
          </a:xfrm>
          <a:prstGeom prst="rect">
            <a:avLst/>
          </a:prstGeom>
          <a:noFill/>
          <a:ln/>
        </p:spPr>
        <p:txBody>
          <a:bodyPr wrap="square" lIns="0" tIns="0" rIns="0" bIns="0" rtlCol="0" anchor="ctr"/>
          <a:lstStyle/>
          <a:p>
            <a:pPr indent="0" marL="0">
              <a:buNone/>
            </a:pPr>
            <a:r>
              <a:rPr lang="en-US" sz="1400" dirty="0">
                <a:solidFill>
                  <a:srgbClr val="8892B0"/>
                </a:solidFill>
                <a:latin typeface="Calibri" pitchFamily="34" charset="0"/>
                <a:ea typeface="Calibri" pitchFamily="34" charset="-122"/>
                <a:cs typeface="Calibri" pitchFamily="34" charset="-120"/>
              </a:rPr>
              <a:t>Polling has a cost you can measure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Polling: the tick you check for</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11  |  Hardware Timers and Interrupts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457200" y="1051560"/>
            <a:ext cx="4480560" cy="3429000"/>
          </a:xfrm>
          <a:prstGeom prst="rect">
            <a:avLst/>
          </a:prstGeom>
          <a:solidFill>
            <a:srgbClr val="0D1117"/>
          </a:solidFill>
          <a:ln w="12700">
            <a:solidFill>
              <a:srgbClr val="3A4A8A"/>
            </a:solidFill>
            <a:prstDash val="solid"/>
          </a:ln>
        </p:spPr>
      </p:sp>
      <p:sp>
        <p:nvSpPr>
          <p:cNvPr id="7" name="Text 5"/>
          <p:cNvSpPr/>
          <p:nvPr/>
        </p:nvSpPr>
        <p:spPr>
          <a:xfrm>
            <a:off x="566928" y="1143000"/>
            <a:ext cx="4261104" cy="3246120"/>
          </a:xfrm>
          <a:prstGeom prst="rect">
            <a:avLst/>
          </a:prstGeom>
          <a:noFill/>
          <a:ln/>
        </p:spPr>
        <p:txBody>
          <a:bodyPr wrap="square" lIns="0" tIns="0" rIns="0" bIns="0" rtlCol="0" anchor="t"/>
          <a:lstStyle/>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static const uint32_t PERIOD_US = 1000U;</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static uint32_t s_lastUs = 0U;</a:t>
            </a:r>
            <a:endParaRPr lang="en-US" sz="1100" dirty="0"/>
          </a:p>
          <a:p>
            <a:pPr indent="0" marL="0">
              <a:lnSpc>
                <a:spcPct val="100000"/>
              </a:lnSpc>
              <a:buNone/>
            </a:pP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void loop() {</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    const uint32_t now = micros();</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    if (now - s_lastUs &gt;= PERIOD_US) {</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        s_lastUs = now;</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        onTick();   // runs only when</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    }               // loop() gets here</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    readSensors();</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    updateDisplay();</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a:t>
            </a:r>
            <a:endParaRPr lang="en-US" sz="1100" dirty="0"/>
          </a:p>
        </p:txBody>
      </p:sp>
      <p:sp>
        <p:nvSpPr>
          <p:cNvPr id="8" name="Text 6"/>
          <p:cNvSpPr/>
          <p:nvPr/>
        </p:nvSpPr>
        <p:spPr>
          <a:xfrm>
            <a:off x="5257800" y="1051560"/>
            <a:ext cx="3429000" cy="3291840"/>
          </a:xfrm>
          <a:prstGeom prst="rect">
            <a:avLst/>
          </a:prstGeom>
          <a:noFill/>
          <a:ln/>
        </p:spPr>
        <p:txBody>
          <a:bodyPr wrap="square" rtlCol="0" anchor="t"/>
          <a:lstStyle/>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The K3 pattern: no delay(), check the clock</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The tick happens when loop() comes back, not when the time is up</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Late by up to one full pass of loop()</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Jitter: how much the real interval varies around the target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Polling vs a hardware timer</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11  |  Hardware Timers and Interrupts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2103120" y="1097280"/>
            <a:ext cx="0" cy="2423160"/>
          </a:xfrm>
          <a:prstGeom prst="line">
            <a:avLst/>
          </a:prstGeom>
          <a:noFill/>
          <a:ln w="9525">
            <a:solidFill>
              <a:srgbClr val="3A4A8A"/>
            </a:solidFill>
            <a:prstDash val="dash"/>
          </a:ln>
        </p:spPr>
      </p:sp>
      <p:sp>
        <p:nvSpPr>
          <p:cNvPr id="7" name="Text 5"/>
          <p:cNvSpPr/>
          <p:nvPr/>
        </p:nvSpPr>
        <p:spPr>
          <a:xfrm>
            <a:off x="1737360" y="3584448"/>
            <a:ext cx="731520" cy="274320"/>
          </a:xfrm>
          <a:prstGeom prst="rect">
            <a:avLst/>
          </a:prstGeom>
          <a:noFill/>
          <a:ln/>
        </p:spPr>
        <p:txBody>
          <a:bodyPr wrap="square" lIns="0" tIns="0" rIns="0" bIns="0" rtlCol="0" anchor="t"/>
          <a:lstStyle/>
          <a:p>
            <a:pPr algn="ctr" indent="0" marL="0">
              <a:buNone/>
            </a:pPr>
            <a:r>
              <a:rPr lang="en-US" sz="1100" dirty="0">
                <a:solidFill>
                  <a:srgbClr val="8892B0"/>
                </a:solidFill>
                <a:latin typeface="Calibri" pitchFamily="34" charset="0"/>
                <a:ea typeface="Calibri" pitchFamily="34" charset="-122"/>
                <a:cs typeface="Calibri" pitchFamily="34" charset="-120"/>
              </a:rPr>
              <a:t>0</a:t>
            </a:r>
            <a:endParaRPr lang="en-US" sz="1100" dirty="0"/>
          </a:p>
        </p:txBody>
      </p:sp>
      <p:sp>
        <p:nvSpPr>
          <p:cNvPr id="8" name="Shape 6"/>
          <p:cNvSpPr/>
          <p:nvPr/>
        </p:nvSpPr>
        <p:spPr>
          <a:xfrm>
            <a:off x="3169920" y="1097280"/>
            <a:ext cx="0" cy="2423160"/>
          </a:xfrm>
          <a:prstGeom prst="line">
            <a:avLst/>
          </a:prstGeom>
          <a:noFill/>
          <a:ln w="9525">
            <a:solidFill>
              <a:srgbClr val="3A4A8A"/>
            </a:solidFill>
            <a:prstDash val="dash"/>
          </a:ln>
        </p:spPr>
      </p:sp>
      <p:sp>
        <p:nvSpPr>
          <p:cNvPr id="9" name="Text 7"/>
          <p:cNvSpPr/>
          <p:nvPr/>
        </p:nvSpPr>
        <p:spPr>
          <a:xfrm>
            <a:off x="2804160" y="3584448"/>
            <a:ext cx="731520" cy="274320"/>
          </a:xfrm>
          <a:prstGeom prst="rect">
            <a:avLst/>
          </a:prstGeom>
          <a:noFill/>
          <a:ln/>
        </p:spPr>
        <p:txBody>
          <a:bodyPr wrap="square" lIns="0" tIns="0" rIns="0" bIns="0" rtlCol="0" anchor="t"/>
          <a:lstStyle/>
          <a:p>
            <a:pPr algn="ctr" indent="0" marL="0">
              <a:buNone/>
            </a:pPr>
            <a:r>
              <a:rPr lang="en-US" sz="1100" dirty="0">
                <a:solidFill>
                  <a:srgbClr val="8892B0"/>
                </a:solidFill>
                <a:latin typeface="Calibri" pitchFamily="34" charset="0"/>
                <a:ea typeface="Calibri" pitchFamily="34" charset="-122"/>
                <a:cs typeface="Calibri" pitchFamily="34" charset="-120"/>
              </a:rPr>
              <a:t>1 ms</a:t>
            </a:r>
            <a:endParaRPr lang="en-US" sz="1100" dirty="0"/>
          </a:p>
        </p:txBody>
      </p:sp>
      <p:sp>
        <p:nvSpPr>
          <p:cNvPr id="10" name="Shape 8"/>
          <p:cNvSpPr/>
          <p:nvPr/>
        </p:nvSpPr>
        <p:spPr>
          <a:xfrm>
            <a:off x="4236720" y="1097280"/>
            <a:ext cx="0" cy="2423160"/>
          </a:xfrm>
          <a:prstGeom prst="line">
            <a:avLst/>
          </a:prstGeom>
          <a:noFill/>
          <a:ln w="9525">
            <a:solidFill>
              <a:srgbClr val="3A4A8A"/>
            </a:solidFill>
            <a:prstDash val="dash"/>
          </a:ln>
        </p:spPr>
      </p:sp>
      <p:sp>
        <p:nvSpPr>
          <p:cNvPr id="11" name="Text 9"/>
          <p:cNvSpPr/>
          <p:nvPr/>
        </p:nvSpPr>
        <p:spPr>
          <a:xfrm>
            <a:off x="3870960" y="3584448"/>
            <a:ext cx="731520" cy="274320"/>
          </a:xfrm>
          <a:prstGeom prst="rect">
            <a:avLst/>
          </a:prstGeom>
          <a:noFill/>
          <a:ln/>
        </p:spPr>
        <p:txBody>
          <a:bodyPr wrap="square" lIns="0" tIns="0" rIns="0" bIns="0" rtlCol="0" anchor="t"/>
          <a:lstStyle/>
          <a:p>
            <a:pPr algn="ctr" indent="0" marL="0">
              <a:buNone/>
            </a:pPr>
            <a:r>
              <a:rPr lang="en-US" sz="1100" dirty="0">
                <a:solidFill>
                  <a:srgbClr val="8892B0"/>
                </a:solidFill>
                <a:latin typeface="Calibri" pitchFamily="34" charset="0"/>
                <a:ea typeface="Calibri" pitchFamily="34" charset="-122"/>
                <a:cs typeface="Calibri" pitchFamily="34" charset="-120"/>
              </a:rPr>
              <a:t>2 ms</a:t>
            </a:r>
            <a:endParaRPr lang="en-US" sz="1100" dirty="0"/>
          </a:p>
        </p:txBody>
      </p:sp>
      <p:sp>
        <p:nvSpPr>
          <p:cNvPr id="12" name="Shape 10"/>
          <p:cNvSpPr/>
          <p:nvPr/>
        </p:nvSpPr>
        <p:spPr>
          <a:xfrm>
            <a:off x="5303520" y="1097280"/>
            <a:ext cx="0" cy="2423160"/>
          </a:xfrm>
          <a:prstGeom prst="line">
            <a:avLst/>
          </a:prstGeom>
          <a:noFill/>
          <a:ln w="9525">
            <a:solidFill>
              <a:srgbClr val="3A4A8A"/>
            </a:solidFill>
            <a:prstDash val="dash"/>
          </a:ln>
        </p:spPr>
      </p:sp>
      <p:sp>
        <p:nvSpPr>
          <p:cNvPr id="13" name="Text 11"/>
          <p:cNvSpPr/>
          <p:nvPr/>
        </p:nvSpPr>
        <p:spPr>
          <a:xfrm>
            <a:off x="4937760" y="3584448"/>
            <a:ext cx="731520" cy="274320"/>
          </a:xfrm>
          <a:prstGeom prst="rect">
            <a:avLst/>
          </a:prstGeom>
          <a:noFill/>
          <a:ln/>
        </p:spPr>
        <p:txBody>
          <a:bodyPr wrap="square" lIns="0" tIns="0" rIns="0" bIns="0" rtlCol="0" anchor="t"/>
          <a:lstStyle/>
          <a:p>
            <a:pPr algn="ctr" indent="0" marL="0">
              <a:buNone/>
            </a:pPr>
            <a:r>
              <a:rPr lang="en-US" sz="1100" dirty="0">
                <a:solidFill>
                  <a:srgbClr val="8892B0"/>
                </a:solidFill>
                <a:latin typeface="Calibri" pitchFamily="34" charset="0"/>
                <a:ea typeface="Calibri" pitchFamily="34" charset="-122"/>
                <a:cs typeface="Calibri" pitchFamily="34" charset="-120"/>
              </a:rPr>
              <a:t>3 ms</a:t>
            </a:r>
            <a:endParaRPr lang="en-US" sz="1100" dirty="0"/>
          </a:p>
        </p:txBody>
      </p:sp>
      <p:sp>
        <p:nvSpPr>
          <p:cNvPr id="14" name="Shape 12"/>
          <p:cNvSpPr/>
          <p:nvPr/>
        </p:nvSpPr>
        <p:spPr>
          <a:xfrm>
            <a:off x="6370320" y="1097280"/>
            <a:ext cx="0" cy="2423160"/>
          </a:xfrm>
          <a:prstGeom prst="line">
            <a:avLst/>
          </a:prstGeom>
          <a:noFill/>
          <a:ln w="9525">
            <a:solidFill>
              <a:srgbClr val="3A4A8A"/>
            </a:solidFill>
            <a:prstDash val="dash"/>
          </a:ln>
        </p:spPr>
      </p:sp>
      <p:sp>
        <p:nvSpPr>
          <p:cNvPr id="15" name="Text 13"/>
          <p:cNvSpPr/>
          <p:nvPr/>
        </p:nvSpPr>
        <p:spPr>
          <a:xfrm>
            <a:off x="6004560" y="3584448"/>
            <a:ext cx="731520" cy="274320"/>
          </a:xfrm>
          <a:prstGeom prst="rect">
            <a:avLst/>
          </a:prstGeom>
          <a:noFill/>
          <a:ln/>
        </p:spPr>
        <p:txBody>
          <a:bodyPr wrap="square" lIns="0" tIns="0" rIns="0" bIns="0" rtlCol="0" anchor="t"/>
          <a:lstStyle/>
          <a:p>
            <a:pPr algn="ctr" indent="0" marL="0">
              <a:buNone/>
            </a:pPr>
            <a:r>
              <a:rPr lang="en-US" sz="1100" dirty="0">
                <a:solidFill>
                  <a:srgbClr val="8892B0"/>
                </a:solidFill>
                <a:latin typeface="Calibri" pitchFamily="34" charset="0"/>
                <a:ea typeface="Calibri" pitchFamily="34" charset="-122"/>
                <a:cs typeface="Calibri" pitchFamily="34" charset="-120"/>
              </a:rPr>
              <a:t>4 ms</a:t>
            </a:r>
            <a:endParaRPr lang="en-US" sz="1100" dirty="0"/>
          </a:p>
        </p:txBody>
      </p:sp>
      <p:sp>
        <p:nvSpPr>
          <p:cNvPr id="16" name="Shape 14"/>
          <p:cNvSpPr/>
          <p:nvPr/>
        </p:nvSpPr>
        <p:spPr>
          <a:xfrm>
            <a:off x="7437120" y="1097280"/>
            <a:ext cx="0" cy="2423160"/>
          </a:xfrm>
          <a:prstGeom prst="line">
            <a:avLst/>
          </a:prstGeom>
          <a:noFill/>
          <a:ln w="9525">
            <a:solidFill>
              <a:srgbClr val="3A4A8A"/>
            </a:solidFill>
            <a:prstDash val="dash"/>
          </a:ln>
        </p:spPr>
      </p:sp>
      <p:sp>
        <p:nvSpPr>
          <p:cNvPr id="17" name="Text 15"/>
          <p:cNvSpPr/>
          <p:nvPr/>
        </p:nvSpPr>
        <p:spPr>
          <a:xfrm>
            <a:off x="7071360" y="3584448"/>
            <a:ext cx="731520" cy="274320"/>
          </a:xfrm>
          <a:prstGeom prst="rect">
            <a:avLst/>
          </a:prstGeom>
          <a:noFill/>
          <a:ln/>
        </p:spPr>
        <p:txBody>
          <a:bodyPr wrap="square" lIns="0" tIns="0" rIns="0" bIns="0" rtlCol="0" anchor="t"/>
          <a:lstStyle/>
          <a:p>
            <a:pPr algn="ctr" indent="0" marL="0">
              <a:buNone/>
            </a:pPr>
            <a:r>
              <a:rPr lang="en-US" sz="1100" dirty="0">
                <a:solidFill>
                  <a:srgbClr val="8892B0"/>
                </a:solidFill>
                <a:latin typeface="Calibri" pitchFamily="34" charset="0"/>
                <a:ea typeface="Calibri" pitchFamily="34" charset="-122"/>
                <a:cs typeface="Calibri" pitchFamily="34" charset="-120"/>
              </a:rPr>
              <a:t>5 ms</a:t>
            </a:r>
            <a:endParaRPr lang="en-US" sz="1100" dirty="0"/>
          </a:p>
        </p:txBody>
      </p:sp>
      <p:sp>
        <p:nvSpPr>
          <p:cNvPr id="18" name="Shape 16"/>
          <p:cNvSpPr/>
          <p:nvPr/>
        </p:nvSpPr>
        <p:spPr>
          <a:xfrm>
            <a:off x="8503920" y="1097280"/>
            <a:ext cx="0" cy="2423160"/>
          </a:xfrm>
          <a:prstGeom prst="line">
            <a:avLst/>
          </a:prstGeom>
          <a:noFill/>
          <a:ln w="9525">
            <a:solidFill>
              <a:srgbClr val="3A4A8A"/>
            </a:solidFill>
            <a:prstDash val="dash"/>
          </a:ln>
        </p:spPr>
      </p:sp>
      <p:sp>
        <p:nvSpPr>
          <p:cNvPr id="19" name="Text 17"/>
          <p:cNvSpPr/>
          <p:nvPr/>
        </p:nvSpPr>
        <p:spPr>
          <a:xfrm>
            <a:off x="8138160" y="3584448"/>
            <a:ext cx="731520" cy="274320"/>
          </a:xfrm>
          <a:prstGeom prst="rect">
            <a:avLst/>
          </a:prstGeom>
          <a:noFill/>
          <a:ln/>
        </p:spPr>
        <p:txBody>
          <a:bodyPr wrap="square" lIns="0" tIns="0" rIns="0" bIns="0" rtlCol="0" anchor="t"/>
          <a:lstStyle/>
          <a:p>
            <a:pPr algn="ctr" indent="0" marL="0">
              <a:buNone/>
            </a:pPr>
            <a:r>
              <a:rPr lang="en-US" sz="1100" dirty="0">
                <a:solidFill>
                  <a:srgbClr val="8892B0"/>
                </a:solidFill>
                <a:latin typeface="Calibri" pitchFamily="34" charset="0"/>
                <a:ea typeface="Calibri" pitchFamily="34" charset="-122"/>
                <a:cs typeface="Calibri" pitchFamily="34" charset="-120"/>
              </a:rPr>
              <a:t>6 ms</a:t>
            </a:r>
            <a:endParaRPr lang="en-US" sz="1100" dirty="0"/>
          </a:p>
        </p:txBody>
      </p:sp>
      <p:sp>
        <p:nvSpPr>
          <p:cNvPr id="20" name="Text 18"/>
          <p:cNvSpPr/>
          <p:nvPr/>
        </p:nvSpPr>
        <p:spPr>
          <a:xfrm>
            <a:off x="457200" y="1188720"/>
            <a:ext cx="155448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Target: every 1 ms</a:t>
            </a:r>
            <a:endParaRPr lang="en-US" sz="1300" dirty="0"/>
          </a:p>
        </p:txBody>
      </p:sp>
      <p:sp>
        <p:nvSpPr>
          <p:cNvPr id="21" name="Text 19"/>
          <p:cNvSpPr/>
          <p:nvPr/>
        </p:nvSpPr>
        <p:spPr>
          <a:xfrm>
            <a:off x="457200" y="1920240"/>
            <a:ext cx="155448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Hardware timer</a:t>
            </a:r>
            <a:endParaRPr lang="en-US" sz="1300" dirty="0"/>
          </a:p>
        </p:txBody>
      </p:sp>
      <p:sp>
        <p:nvSpPr>
          <p:cNvPr id="22" name="Text 20"/>
          <p:cNvSpPr/>
          <p:nvPr/>
        </p:nvSpPr>
        <p:spPr>
          <a:xfrm>
            <a:off x="457200" y="2651760"/>
            <a:ext cx="155448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Polling in loop()</a:t>
            </a:r>
            <a:endParaRPr lang="en-US" sz="1300" dirty="0"/>
          </a:p>
        </p:txBody>
      </p:sp>
      <p:sp>
        <p:nvSpPr>
          <p:cNvPr id="23" name="Shape 21"/>
          <p:cNvSpPr/>
          <p:nvPr/>
        </p:nvSpPr>
        <p:spPr>
          <a:xfrm>
            <a:off x="2103120" y="1188720"/>
            <a:ext cx="0" cy="411480"/>
          </a:xfrm>
          <a:prstGeom prst="line">
            <a:avLst/>
          </a:prstGeom>
          <a:noFill/>
          <a:ln w="31750">
            <a:solidFill>
              <a:srgbClr val="CADCFC"/>
            </a:solidFill>
            <a:prstDash val="solid"/>
          </a:ln>
        </p:spPr>
      </p:sp>
      <p:sp>
        <p:nvSpPr>
          <p:cNvPr id="24" name="Shape 22"/>
          <p:cNvSpPr/>
          <p:nvPr/>
        </p:nvSpPr>
        <p:spPr>
          <a:xfrm>
            <a:off x="2103120" y="1920240"/>
            <a:ext cx="0" cy="411480"/>
          </a:xfrm>
          <a:prstGeom prst="line">
            <a:avLst/>
          </a:prstGeom>
          <a:noFill/>
          <a:ln w="31750">
            <a:solidFill>
              <a:srgbClr val="4CAF50"/>
            </a:solidFill>
            <a:prstDash val="solid"/>
          </a:ln>
        </p:spPr>
      </p:sp>
      <p:sp>
        <p:nvSpPr>
          <p:cNvPr id="25" name="Shape 23"/>
          <p:cNvSpPr/>
          <p:nvPr/>
        </p:nvSpPr>
        <p:spPr>
          <a:xfrm>
            <a:off x="3169920" y="1188720"/>
            <a:ext cx="0" cy="411480"/>
          </a:xfrm>
          <a:prstGeom prst="line">
            <a:avLst/>
          </a:prstGeom>
          <a:noFill/>
          <a:ln w="31750">
            <a:solidFill>
              <a:srgbClr val="CADCFC"/>
            </a:solidFill>
            <a:prstDash val="solid"/>
          </a:ln>
        </p:spPr>
      </p:sp>
      <p:sp>
        <p:nvSpPr>
          <p:cNvPr id="26" name="Shape 24"/>
          <p:cNvSpPr/>
          <p:nvPr/>
        </p:nvSpPr>
        <p:spPr>
          <a:xfrm>
            <a:off x="3169920" y="1920240"/>
            <a:ext cx="0" cy="411480"/>
          </a:xfrm>
          <a:prstGeom prst="line">
            <a:avLst/>
          </a:prstGeom>
          <a:noFill/>
          <a:ln w="31750">
            <a:solidFill>
              <a:srgbClr val="4CAF50"/>
            </a:solidFill>
            <a:prstDash val="solid"/>
          </a:ln>
        </p:spPr>
      </p:sp>
      <p:sp>
        <p:nvSpPr>
          <p:cNvPr id="27" name="Shape 25"/>
          <p:cNvSpPr/>
          <p:nvPr/>
        </p:nvSpPr>
        <p:spPr>
          <a:xfrm>
            <a:off x="4236720" y="1188720"/>
            <a:ext cx="0" cy="411480"/>
          </a:xfrm>
          <a:prstGeom prst="line">
            <a:avLst/>
          </a:prstGeom>
          <a:noFill/>
          <a:ln w="31750">
            <a:solidFill>
              <a:srgbClr val="CADCFC"/>
            </a:solidFill>
            <a:prstDash val="solid"/>
          </a:ln>
        </p:spPr>
      </p:sp>
      <p:sp>
        <p:nvSpPr>
          <p:cNvPr id="28" name="Shape 26"/>
          <p:cNvSpPr/>
          <p:nvPr/>
        </p:nvSpPr>
        <p:spPr>
          <a:xfrm>
            <a:off x="4236720" y="1920240"/>
            <a:ext cx="0" cy="411480"/>
          </a:xfrm>
          <a:prstGeom prst="line">
            <a:avLst/>
          </a:prstGeom>
          <a:noFill/>
          <a:ln w="31750">
            <a:solidFill>
              <a:srgbClr val="4CAF50"/>
            </a:solidFill>
            <a:prstDash val="solid"/>
          </a:ln>
        </p:spPr>
      </p:sp>
      <p:sp>
        <p:nvSpPr>
          <p:cNvPr id="29" name="Shape 27"/>
          <p:cNvSpPr/>
          <p:nvPr/>
        </p:nvSpPr>
        <p:spPr>
          <a:xfrm>
            <a:off x="5303520" y="1188720"/>
            <a:ext cx="0" cy="411480"/>
          </a:xfrm>
          <a:prstGeom prst="line">
            <a:avLst/>
          </a:prstGeom>
          <a:noFill/>
          <a:ln w="31750">
            <a:solidFill>
              <a:srgbClr val="CADCFC"/>
            </a:solidFill>
            <a:prstDash val="solid"/>
          </a:ln>
        </p:spPr>
      </p:sp>
      <p:sp>
        <p:nvSpPr>
          <p:cNvPr id="30" name="Shape 28"/>
          <p:cNvSpPr/>
          <p:nvPr/>
        </p:nvSpPr>
        <p:spPr>
          <a:xfrm>
            <a:off x="5303520" y="1920240"/>
            <a:ext cx="0" cy="411480"/>
          </a:xfrm>
          <a:prstGeom prst="line">
            <a:avLst/>
          </a:prstGeom>
          <a:noFill/>
          <a:ln w="31750">
            <a:solidFill>
              <a:srgbClr val="4CAF50"/>
            </a:solidFill>
            <a:prstDash val="solid"/>
          </a:ln>
        </p:spPr>
      </p:sp>
      <p:sp>
        <p:nvSpPr>
          <p:cNvPr id="31" name="Shape 29"/>
          <p:cNvSpPr/>
          <p:nvPr/>
        </p:nvSpPr>
        <p:spPr>
          <a:xfrm>
            <a:off x="6370320" y="1188720"/>
            <a:ext cx="0" cy="411480"/>
          </a:xfrm>
          <a:prstGeom prst="line">
            <a:avLst/>
          </a:prstGeom>
          <a:noFill/>
          <a:ln w="31750">
            <a:solidFill>
              <a:srgbClr val="CADCFC"/>
            </a:solidFill>
            <a:prstDash val="solid"/>
          </a:ln>
        </p:spPr>
      </p:sp>
      <p:sp>
        <p:nvSpPr>
          <p:cNvPr id="32" name="Shape 30"/>
          <p:cNvSpPr/>
          <p:nvPr/>
        </p:nvSpPr>
        <p:spPr>
          <a:xfrm>
            <a:off x="6370320" y="1920240"/>
            <a:ext cx="0" cy="411480"/>
          </a:xfrm>
          <a:prstGeom prst="line">
            <a:avLst/>
          </a:prstGeom>
          <a:noFill/>
          <a:ln w="31750">
            <a:solidFill>
              <a:srgbClr val="4CAF50"/>
            </a:solidFill>
            <a:prstDash val="solid"/>
          </a:ln>
        </p:spPr>
      </p:sp>
      <p:sp>
        <p:nvSpPr>
          <p:cNvPr id="33" name="Shape 31"/>
          <p:cNvSpPr/>
          <p:nvPr/>
        </p:nvSpPr>
        <p:spPr>
          <a:xfrm>
            <a:off x="7437120" y="1188720"/>
            <a:ext cx="0" cy="411480"/>
          </a:xfrm>
          <a:prstGeom prst="line">
            <a:avLst/>
          </a:prstGeom>
          <a:noFill/>
          <a:ln w="31750">
            <a:solidFill>
              <a:srgbClr val="CADCFC"/>
            </a:solidFill>
            <a:prstDash val="solid"/>
          </a:ln>
        </p:spPr>
      </p:sp>
      <p:sp>
        <p:nvSpPr>
          <p:cNvPr id="34" name="Shape 32"/>
          <p:cNvSpPr/>
          <p:nvPr/>
        </p:nvSpPr>
        <p:spPr>
          <a:xfrm>
            <a:off x="7437120" y="1920240"/>
            <a:ext cx="0" cy="411480"/>
          </a:xfrm>
          <a:prstGeom prst="line">
            <a:avLst/>
          </a:prstGeom>
          <a:noFill/>
          <a:ln w="31750">
            <a:solidFill>
              <a:srgbClr val="4CAF50"/>
            </a:solidFill>
            <a:prstDash val="solid"/>
          </a:ln>
        </p:spPr>
      </p:sp>
      <p:sp>
        <p:nvSpPr>
          <p:cNvPr id="35" name="Shape 33"/>
          <p:cNvSpPr/>
          <p:nvPr/>
        </p:nvSpPr>
        <p:spPr>
          <a:xfrm>
            <a:off x="8503920" y="1188720"/>
            <a:ext cx="0" cy="411480"/>
          </a:xfrm>
          <a:prstGeom prst="line">
            <a:avLst/>
          </a:prstGeom>
          <a:noFill/>
          <a:ln w="31750">
            <a:solidFill>
              <a:srgbClr val="CADCFC"/>
            </a:solidFill>
            <a:prstDash val="solid"/>
          </a:ln>
        </p:spPr>
      </p:sp>
      <p:sp>
        <p:nvSpPr>
          <p:cNvPr id="36" name="Shape 34"/>
          <p:cNvSpPr/>
          <p:nvPr/>
        </p:nvSpPr>
        <p:spPr>
          <a:xfrm>
            <a:off x="8503920" y="1920240"/>
            <a:ext cx="0" cy="411480"/>
          </a:xfrm>
          <a:prstGeom prst="line">
            <a:avLst/>
          </a:prstGeom>
          <a:noFill/>
          <a:ln w="31750">
            <a:solidFill>
              <a:srgbClr val="4CAF50"/>
            </a:solidFill>
            <a:prstDash val="solid"/>
          </a:ln>
        </p:spPr>
      </p:sp>
      <p:sp>
        <p:nvSpPr>
          <p:cNvPr id="37" name="Shape 35"/>
          <p:cNvSpPr/>
          <p:nvPr/>
        </p:nvSpPr>
        <p:spPr>
          <a:xfrm>
            <a:off x="2103120" y="3090672"/>
            <a:ext cx="320040" cy="201168"/>
          </a:xfrm>
          <a:prstGeom prst="rect">
            <a:avLst/>
          </a:prstGeom>
          <a:solidFill>
            <a:srgbClr val="3A4A8A"/>
          </a:solidFill>
          <a:ln w="9525">
            <a:solidFill>
              <a:srgbClr val="1E2761"/>
            </a:solidFill>
            <a:prstDash val="solid"/>
          </a:ln>
        </p:spPr>
      </p:sp>
      <p:sp>
        <p:nvSpPr>
          <p:cNvPr id="38" name="Shape 36"/>
          <p:cNvSpPr/>
          <p:nvPr/>
        </p:nvSpPr>
        <p:spPr>
          <a:xfrm>
            <a:off x="2423160" y="3090672"/>
            <a:ext cx="906780" cy="201168"/>
          </a:xfrm>
          <a:prstGeom prst="rect">
            <a:avLst/>
          </a:prstGeom>
          <a:solidFill>
            <a:srgbClr val="253270"/>
          </a:solidFill>
          <a:ln w="9525">
            <a:solidFill>
              <a:srgbClr val="1E2761"/>
            </a:solidFill>
            <a:prstDash val="solid"/>
          </a:ln>
        </p:spPr>
      </p:sp>
      <p:sp>
        <p:nvSpPr>
          <p:cNvPr id="39" name="Shape 37"/>
          <p:cNvSpPr/>
          <p:nvPr/>
        </p:nvSpPr>
        <p:spPr>
          <a:xfrm>
            <a:off x="3329940" y="3090672"/>
            <a:ext cx="373380" cy="201168"/>
          </a:xfrm>
          <a:prstGeom prst="rect">
            <a:avLst/>
          </a:prstGeom>
          <a:solidFill>
            <a:srgbClr val="3A4A8A"/>
          </a:solidFill>
          <a:ln w="9525">
            <a:solidFill>
              <a:srgbClr val="1E2761"/>
            </a:solidFill>
            <a:prstDash val="solid"/>
          </a:ln>
        </p:spPr>
      </p:sp>
      <p:sp>
        <p:nvSpPr>
          <p:cNvPr id="40" name="Shape 38"/>
          <p:cNvSpPr/>
          <p:nvPr/>
        </p:nvSpPr>
        <p:spPr>
          <a:xfrm>
            <a:off x="3703320" y="3090672"/>
            <a:ext cx="746760" cy="201168"/>
          </a:xfrm>
          <a:prstGeom prst="rect">
            <a:avLst/>
          </a:prstGeom>
          <a:solidFill>
            <a:srgbClr val="253270"/>
          </a:solidFill>
          <a:ln w="9525">
            <a:solidFill>
              <a:srgbClr val="1E2761"/>
            </a:solidFill>
            <a:prstDash val="solid"/>
          </a:ln>
        </p:spPr>
      </p:sp>
      <p:sp>
        <p:nvSpPr>
          <p:cNvPr id="41" name="Shape 39"/>
          <p:cNvSpPr/>
          <p:nvPr/>
        </p:nvSpPr>
        <p:spPr>
          <a:xfrm>
            <a:off x="4450080" y="3090672"/>
            <a:ext cx="1013460" cy="201168"/>
          </a:xfrm>
          <a:prstGeom prst="rect">
            <a:avLst/>
          </a:prstGeom>
          <a:solidFill>
            <a:srgbClr val="3A4A8A"/>
          </a:solidFill>
          <a:ln w="9525">
            <a:solidFill>
              <a:srgbClr val="1E2761"/>
            </a:solidFill>
            <a:prstDash val="solid"/>
          </a:ln>
        </p:spPr>
      </p:sp>
      <p:sp>
        <p:nvSpPr>
          <p:cNvPr id="42" name="Shape 40"/>
          <p:cNvSpPr/>
          <p:nvPr/>
        </p:nvSpPr>
        <p:spPr>
          <a:xfrm>
            <a:off x="5463540" y="3090672"/>
            <a:ext cx="320040" cy="201168"/>
          </a:xfrm>
          <a:prstGeom prst="rect">
            <a:avLst/>
          </a:prstGeom>
          <a:solidFill>
            <a:srgbClr val="253270"/>
          </a:solidFill>
          <a:ln w="9525">
            <a:solidFill>
              <a:srgbClr val="1E2761"/>
            </a:solidFill>
            <a:prstDash val="solid"/>
          </a:ln>
        </p:spPr>
      </p:sp>
      <p:sp>
        <p:nvSpPr>
          <p:cNvPr id="43" name="Shape 41"/>
          <p:cNvSpPr/>
          <p:nvPr/>
        </p:nvSpPr>
        <p:spPr>
          <a:xfrm>
            <a:off x="5783580" y="3090672"/>
            <a:ext cx="480060" cy="201168"/>
          </a:xfrm>
          <a:prstGeom prst="rect">
            <a:avLst/>
          </a:prstGeom>
          <a:solidFill>
            <a:srgbClr val="3A4A8A"/>
          </a:solidFill>
          <a:ln w="9525">
            <a:solidFill>
              <a:srgbClr val="1E2761"/>
            </a:solidFill>
            <a:prstDash val="solid"/>
          </a:ln>
        </p:spPr>
      </p:sp>
      <p:sp>
        <p:nvSpPr>
          <p:cNvPr id="44" name="Shape 42"/>
          <p:cNvSpPr/>
          <p:nvPr/>
        </p:nvSpPr>
        <p:spPr>
          <a:xfrm>
            <a:off x="6263640" y="3090672"/>
            <a:ext cx="1120140" cy="201168"/>
          </a:xfrm>
          <a:prstGeom prst="rect">
            <a:avLst/>
          </a:prstGeom>
          <a:solidFill>
            <a:srgbClr val="253270"/>
          </a:solidFill>
          <a:ln w="9525">
            <a:solidFill>
              <a:srgbClr val="1E2761"/>
            </a:solidFill>
            <a:prstDash val="solid"/>
          </a:ln>
        </p:spPr>
      </p:sp>
      <p:sp>
        <p:nvSpPr>
          <p:cNvPr id="45" name="Shape 43"/>
          <p:cNvSpPr/>
          <p:nvPr/>
        </p:nvSpPr>
        <p:spPr>
          <a:xfrm>
            <a:off x="7383780" y="3090672"/>
            <a:ext cx="320040" cy="201168"/>
          </a:xfrm>
          <a:prstGeom prst="rect">
            <a:avLst/>
          </a:prstGeom>
          <a:solidFill>
            <a:srgbClr val="3A4A8A"/>
          </a:solidFill>
          <a:ln w="9525">
            <a:solidFill>
              <a:srgbClr val="1E2761"/>
            </a:solidFill>
            <a:prstDash val="solid"/>
          </a:ln>
        </p:spPr>
      </p:sp>
      <p:sp>
        <p:nvSpPr>
          <p:cNvPr id="46" name="Shape 44"/>
          <p:cNvSpPr/>
          <p:nvPr/>
        </p:nvSpPr>
        <p:spPr>
          <a:xfrm>
            <a:off x="7703820" y="3090672"/>
            <a:ext cx="586740" cy="201168"/>
          </a:xfrm>
          <a:prstGeom prst="rect">
            <a:avLst/>
          </a:prstGeom>
          <a:solidFill>
            <a:srgbClr val="253270"/>
          </a:solidFill>
          <a:ln w="9525">
            <a:solidFill>
              <a:srgbClr val="1E2761"/>
            </a:solidFill>
            <a:prstDash val="solid"/>
          </a:ln>
        </p:spPr>
      </p:sp>
      <p:sp>
        <p:nvSpPr>
          <p:cNvPr id="47" name="Shape 45"/>
          <p:cNvSpPr/>
          <p:nvPr/>
        </p:nvSpPr>
        <p:spPr>
          <a:xfrm>
            <a:off x="8290560" y="3090672"/>
            <a:ext cx="213360" cy="201168"/>
          </a:xfrm>
          <a:prstGeom prst="rect">
            <a:avLst/>
          </a:prstGeom>
          <a:solidFill>
            <a:srgbClr val="3A4A8A"/>
          </a:solidFill>
          <a:ln w="9525">
            <a:solidFill>
              <a:srgbClr val="1E2761"/>
            </a:solidFill>
            <a:prstDash val="solid"/>
          </a:ln>
        </p:spPr>
      </p:sp>
      <p:sp>
        <p:nvSpPr>
          <p:cNvPr id="48" name="Shape 46"/>
          <p:cNvSpPr/>
          <p:nvPr/>
        </p:nvSpPr>
        <p:spPr>
          <a:xfrm>
            <a:off x="2103120" y="2651760"/>
            <a:ext cx="0" cy="411480"/>
          </a:xfrm>
          <a:prstGeom prst="line">
            <a:avLst/>
          </a:prstGeom>
          <a:noFill/>
          <a:ln w="31750">
            <a:solidFill>
              <a:srgbClr val="FFB300"/>
            </a:solidFill>
            <a:prstDash val="solid"/>
          </a:ln>
        </p:spPr>
      </p:sp>
      <p:sp>
        <p:nvSpPr>
          <p:cNvPr id="49" name="Shape 47"/>
          <p:cNvSpPr/>
          <p:nvPr/>
        </p:nvSpPr>
        <p:spPr>
          <a:xfrm>
            <a:off x="3329940" y="2651760"/>
            <a:ext cx="0" cy="411480"/>
          </a:xfrm>
          <a:prstGeom prst="line">
            <a:avLst/>
          </a:prstGeom>
          <a:noFill/>
          <a:ln w="31750">
            <a:solidFill>
              <a:srgbClr val="FFB300"/>
            </a:solidFill>
            <a:prstDash val="solid"/>
          </a:ln>
        </p:spPr>
      </p:sp>
      <p:sp>
        <p:nvSpPr>
          <p:cNvPr id="50" name="Shape 48"/>
          <p:cNvSpPr/>
          <p:nvPr/>
        </p:nvSpPr>
        <p:spPr>
          <a:xfrm>
            <a:off x="4450080" y="2651760"/>
            <a:ext cx="0" cy="411480"/>
          </a:xfrm>
          <a:prstGeom prst="line">
            <a:avLst/>
          </a:prstGeom>
          <a:noFill/>
          <a:ln w="31750">
            <a:solidFill>
              <a:srgbClr val="FFB300"/>
            </a:solidFill>
            <a:prstDash val="solid"/>
          </a:ln>
        </p:spPr>
      </p:sp>
      <p:sp>
        <p:nvSpPr>
          <p:cNvPr id="51" name="Shape 49"/>
          <p:cNvSpPr/>
          <p:nvPr/>
        </p:nvSpPr>
        <p:spPr>
          <a:xfrm>
            <a:off x="5783580" y="2651760"/>
            <a:ext cx="0" cy="411480"/>
          </a:xfrm>
          <a:prstGeom prst="line">
            <a:avLst/>
          </a:prstGeom>
          <a:noFill/>
          <a:ln w="31750">
            <a:solidFill>
              <a:srgbClr val="FFB300"/>
            </a:solidFill>
            <a:prstDash val="solid"/>
          </a:ln>
        </p:spPr>
      </p:sp>
      <p:sp>
        <p:nvSpPr>
          <p:cNvPr id="52" name="Shape 50"/>
          <p:cNvSpPr/>
          <p:nvPr/>
        </p:nvSpPr>
        <p:spPr>
          <a:xfrm>
            <a:off x="7383780" y="2651760"/>
            <a:ext cx="0" cy="411480"/>
          </a:xfrm>
          <a:prstGeom prst="line">
            <a:avLst/>
          </a:prstGeom>
          <a:noFill/>
          <a:ln w="31750">
            <a:solidFill>
              <a:srgbClr val="FFB300"/>
            </a:solidFill>
            <a:prstDash val="solid"/>
          </a:ln>
        </p:spPr>
      </p:sp>
      <p:sp>
        <p:nvSpPr>
          <p:cNvPr id="53" name="Text 51"/>
          <p:cNvSpPr/>
          <p:nvPr/>
        </p:nvSpPr>
        <p:spPr>
          <a:xfrm>
            <a:off x="457200" y="3977640"/>
            <a:ext cx="8229600" cy="594360"/>
          </a:xfrm>
          <a:prstGeom prst="rect">
            <a:avLst/>
          </a:prstGeom>
          <a:noFill/>
          <a:ln/>
        </p:spPr>
        <p:txBody>
          <a:bodyPr wrap="square" lIns="0" tIns="0" rIns="0" bIns="0" rtlCol="0" anchor="t"/>
          <a:lstStyle/>
          <a:p>
            <a:pPr indent="0" marL="0">
              <a:buNone/>
            </a:pPr>
            <a:r>
              <a:rPr lang="en-US" sz="1300" dirty="0">
                <a:solidFill>
                  <a:srgbClr val="CADCFC"/>
                </a:solidFill>
                <a:latin typeface="Calibri" pitchFamily="34" charset="0"/>
                <a:ea typeface="Calibri" pitchFamily="34" charset="-122"/>
                <a:cs typeface="Calibri" pitchFamily="34" charset="-120"/>
              </a:rPr>
              <a:t>Blocks under the polled ticks: one pass of loop() each. Polling fires at the end of the pass in which the time came due, and the lateness adds up: 5 ticks in 6 ms where 7 were due. The timer stays on the grid.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B3D"/>
        </a:solidFill>
      </p:bgPr>
    </p:bg>
    <p:spTree>
      <p:nvGrpSpPr>
        <p:cNvPr id="1" name=""/>
        <p:cNvGrpSpPr/>
        <p:nvPr/>
      </p:nvGrpSpPr>
      <p:grpSpPr>
        <a:xfrm>
          <a:off x="0" y="0"/>
          <a:ext cx="0" cy="0"/>
          <a:chOff x="0" y="0"/>
          <a:chExt cx="0" cy="0"/>
        </a:xfrm>
      </p:grpSpPr>
      <p:sp>
        <p:nvSpPr>
          <p:cNvPr id="2" name="Shape 0"/>
          <p:cNvSpPr/>
          <p:nvPr/>
        </p:nvSpPr>
        <p:spPr>
          <a:xfrm>
            <a:off x="0" y="2148840"/>
            <a:ext cx="822960" cy="54864"/>
          </a:xfrm>
          <a:prstGeom prst="rect">
            <a:avLst/>
          </a:prstGeom>
          <a:solidFill>
            <a:srgbClr val="FFB300"/>
          </a:solidFill>
          <a:ln/>
        </p:spPr>
      </p:sp>
      <p:sp>
        <p:nvSpPr>
          <p:cNvPr id="3" name="Text 1"/>
          <p:cNvSpPr/>
          <p:nvPr/>
        </p:nvSpPr>
        <p:spPr>
          <a:xfrm>
            <a:off x="1097280" y="1874520"/>
            <a:ext cx="7315200" cy="365760"/>
          </a:xfrm>
          <a:prstGeom prst="rect">
            <a:avLst/>
          </a:prstGeom>
          <a:noFill/>
          <a:ln/>
        </p:spPr>
        <p:txBody>
          <a:bodyPr wrap="square" lIns="0" tIns="0" rIns="0" bIns="0" rtlCol="0" anchor="ctr"/>
          <a:lstStyle/>
          <a:p>
            <a:pPr indent="0" marL="0">
              <a:buNone/>
            </a:pPr>
            <a:r>
              <a:rPr lang="en-US" sz="1300" b="1" spc="200" kern="0" dirty="0">
                <a:solidFill>
                  <a:srgbClr val="FFB300"/>
                </a:solidFill>
                <a:latin typeface="Calibri" pitchFamily="34" charset="0"/>
                <a:ea typeface="Calibri" pitchFamily="34" charset="-122"/>
                <a:cs typeface="Calibri" pitchFamily="34" charset="-120"/>
              </a:rPr>
              <a:t>PART 2</a:t>
            </a:r>
            <a:endParaRPr lang="en-US" sz="1300" dirty="0"/>
          </a:p>
        </p:txBody>
      </p:sp>
      <p:sp>
        <p:nvSpPr>
          <p:cNvPr id="4" name="Text 2"/>
          <p:cNvSpPr/>
          <p:nvPr/>
        </p:nvSpPr>
        <p:spPr>
          <a:xfrm>
            <a:off x="1097280" y="2240280"/>
            <a:ext cx="7315200" cy="822960"/>
          </a:xfrm>
          <a:prstGeom prst="rect">
            <a:avLst/>
          </a:prstGeom>
          <a:noFill/>
          <a:ln/>
        </p:spPr>
        <p:txBody>
          <a:bodyPr wrap="square" lIns="0" tIns="0" rIns="0" bIns="0"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From the TRM to the API</a:t>
            </a:r>
            <a:endParaRPr lang="en-US" sz="3400" dirty="0"/>
          </a:p>
        </p:txBody>
      </p:sp>
      <p:sp>
        <p:nvSpPr>
          <p:cNvPr id="5" name="Text 3"/>
          <p:cNvSpPr/>
          <p:nvPr/>
        </p:nvSpPr>
        <p:spPr>
          <a:xfrm>
            <a:off x="1097280" y="3063240"/>
            <a:ext cx="7315200" cy="457200"/>
          </a:xfrm>
          <a:prstGeom prst="rect">
            <a:avLst/>
          </a:prstGeom>
          <a:noFill/>
          <a:ln/>
        </p:spPr>
        <p:txBody>
          <a:bodyPr wrap="square" lIns="0" tIns="0" rIns="0" bIns="0" rtlCol="0" anchor="ctr"/>
          <a:lstStyle/>
          <a:p>
            <a:pPr indent="0" marL="0">
              <a:buNone/>
            </a:pPr>
            <a:r>
              <a:rPr lang="en-US" sz="1400" dirty="0">
                <a:solidFill>
                  <a:srgbClr val="8892B0"/>
                </a:solidFill>
                <a:latin typeface="Calibri" pitchFamily="34" charset="0"/>
                <a:ea typeface="Calibri" pitchFamily="34" charset="-122"/>
                <a:cs typeface="Calibri" pitchFamily="34" charset="-120"/>
              </a:rPr>
              <a:t>Clock, prescaler, counter, alarm</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Inside a timer group</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11  |  Hardware Timers and Interrupts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457200" y="1325880"/>
            <a:ext cx="1325880" cy="960120"/>
          </a:xfrm>
          <a:prstGeom prst="rect">
            <a:avLst/>
          </a:prstGeom>
          <a:solidFill>
            <a:srgbClr val="253270"/>
          </a:solidFill>
          <a:ln w="25400">
            <a:solidFill>
              <a:srgbClr val="CADCFC"/>
            </a:solidFill>
            <a:prstDash val="solid"/>
          </a:ln>
          <a:effectLst>
            <a:outerShdw sx="100000" sy="100000" kx="0" ky="0" algn="bl" rotWithShape="0" blurRad="50800" dist="25400" dir="8100000">
              <a:srgbClr val="000000">
                <a:alpha val="25000"/>
              </a:srgbClr>
            </a:outerShdw>
          </a:effectLst>
        </p:spPr>
      </p:sp>
      <p:sp>
        <p:nvSpPr>
          <p:cNvPr id="7" name="Text 5"/>
          <p:cNvSpPr/>
          <p:nvPr/>
        </p:nvSpPr>
        <p:spPr>
          <a:xfrm>
            <a:off x="457200" y="1490472"/>
            <a:ext cx="1325880" cy="320040"/>
          </a:xfrm>
          <a:prstGeom prst="rect">
            <a:avLst/>
          </a:prstGeom>
          <a:noFill/>
          <a:ln/>
        </p:spPr>
        <p:txBody>
          <a:bodyPr wrap="square" lIns="0" tIns="0" rIns="0" bIns="0" rtlCol="0" anchor="t"/>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APB_CLK</a:t>
            </a:r>
            <a:endParaRPr lang="en-US" sz="1600" dirty="0"/>
          </a:p>
        </p:txBody>
      </p:sp>
      <p:sp>
        <p:nvSpPr>
          <p:cNvPr id="8" name="Text 6"/>
          <p:cNvSpPr/>
          <p:nvPr/>
        </p:nvSpPr>
        <p:spPr>
          <a:xfrm>
            <a:off x="530352" y="1828800"/>
            <a:ext cx="1179576" cy="36576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80 MHz</a:t>
            </a:r>
            <a:endParaRPr lang="en-US" sz="1200" dirty="0"/>
          </a:p>
        </p:txBody>
      </p:sp>
      <p:sp>
        <p:nvSpPr>
          <p:cNvPr id="9" name="Shape 7"/>
          <p:cNvSpPr/>
          <p:nvPr/>
        </p:nvSpPr>
        <p:spPr>
          <a:xfrm>
            <a:off x="1828800" y="1805940"/>
            <a:ext cx="308610" cy="0"/>
          </a:xfrm>
          <a:prstGeom prst="line">
            <a:avLst/>
          </a:prstGeom>
          <a:noFill/>
          <a:ln w="25400">
            <a:solidFill>
              <a:srgbClr val="CADCFC"/>
            </a:solidFill>
            <a:prstDash val="solid"/>
            <a:tailEnd type="triangle"/>
          </a:ln>
        </p:spPr>
      </p:sp>
      <p:sp>
        <p:nvSpPr>
          <p:cNvPr id="10" name="Shape 8"/>
          <p:cNvSpPr/>
          <p:nvPr/>
        </p:nvSpPr>
        <p:spPr>
          <a:xfrm>
            <a:off x="2183130" y="1325880"/>
            <a:ext cx="1325880" cy="960120"/>
          </a:xfrm>
          <a:prstGeom prst="rect">
            <a:avLst/>
          </a:prstGeom>
          <a:solidFill>
            <a:srgbClr val="253270"/>
          </a:solidFill>
          <a:ln w="25400">
            <a:solidFill>
              <a:srgbClr val="CADCFC"/>
            </a:solidFill>
            <a:prstDash val="solid"/>
          </a:ln>
          <a:effectLst>
            <a:outerShdw sx="100000" sy="100000" kx="0" ky="0" algn="bl" rotWithShape="0" blurRad="50800" dist="25400" dir="8100000">
              <a:srgbClr val="000000">
                <a:alpha val="25000"/>
              </a:srgbClr>
            </a:outerShdw>
          </a:effectLst>
        </p:spPr>
      </p:sp>
      <p:sp>
        <p:nvSpPr>
          <p:cNvPr id="11" name="Text 9"/>
          <p:cNvSpPr/>
          <p:nvPr/>
        </p:nvSpPr>
        <p:spPr>
          <a:xfrm>
            <a:off x="2183130" y="1490472"/>
            <a:ext cx="1325880" cy="320040"/>
          </a:xfrm>
          <a:prstGeom prst="rect">
            <a:avLst/>
          </a:prstGeom>
          <a:noFill/>
          <a:ln/>
        </p:spPr>
        <p:txBody>
          <a:bodyPr wrap="square" lIns="0" tIns="0" rIns="0" bIns="0" rtlCol="0" anchor="t"/>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Prescaler</a:t>
            </a:r>
            <a:endParaRPr lang="en-US" sz="1600" dirty="0"/>
          </a:p>
        </p:txBody>
      </p:sp>
      <p:sp>
        <p:nvSpPr>
          <p:cNvPr id="12" name="Text 10"/>
          <p:cNvSpPr/>
          <p:nvPr/>
        </p:nvSpPr>
        <p:spPr>
          <a:xfrm>
            <a:off x="2256282" y="1828800"/>
            <a:ext cx="1179576" cy="36576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divide by 2 .. 65536</a:t>
            </a:r>
            <a:endParaRPr lang="en-US" sz="1200" dirty="0"/>
          </a:p>
        </p:txBody>
      </p:sp>
      <p:sp>
        <p:nvSpPr>
          <p:cNvPr id="13" name="Shape 11"/>
          <p:cNvSpPr/>
          <p:nvPr/>
        </p:nvSpPr>
        <p:spPr>
          <a:xfrm>
            <a:off x="3554730" y="1805940"/>
            <a:ext cx="308610" cy="0"/>
          </a:xfrm>
          <a:prstGeom prst="line">
            <a:avLst/>
          </a:prstGeom>
          <a:noFill/>
          <a:ln w="25400">
            <a:solidFill>
              <a:srgbClr val="CADCFC"/>
            </a:solidFill>
            <a:prstDash val="solid"/>
            <a:tailEnd type="triangle"/>
          </a:ln>
        </p:spPr>
      </p:sp>
      <p:sp>
        <p:nvSpPr>
          <p:cNvPr id="14" name="Shape 12"/>
          <p:cNvSpPr/>
          <p:nvPr/>
        </p:nvSpPr>
        <p:spPr>
          <a:xfrm>
            <a:off x="3909060" y="1325880"/>
            <a:ext cx="1325880" cy="960120"/>
          </a:xfrm>
          <a:prstGeom prst="rect">
            <a:avLst/>
          </a:prstGeom>
          <a:solidFill>
            <a:srgbClr val="253270"/>
          </a:solidFill>
          <a:ln w="25400">
            <a:solidFill>
              <a:srgbClr val="CADCFC"/>
            </a:solidFill>
            <a:prstDash val="solid"/>
          </a:ln>
          <a:effectLst>
            <a:outerShdw sx="100000" sy="100000" kx="0" ky="0" algn="bl" rotWithShape="0" blurRad="50800" dist="25400" dir="8100000">
              <a:srgbClr val="000000">
                <a:alpha val="25000"/>
              </a:srgbClr>
            </a:outerShdw>
          </a:effectLst>
        </p:spPr>
      </p:sp>
      <p:sp>
        <p:nvSpPr>
          <p:cNvPr id="15" name="Text 13"/>
          <p:cNvSpPr/>
          <p:nvPr/>
        </p:nvSpPr>
        <p:spPr>
          <a:xfrm>
            <a:off x="3909060" y="1490472"/>
            <a:ext cx="1325880" cy="320040"/>
          </a:xfrm>
          <a:prstGeom prst="rect">
            <a:avLst/>
          </a:prstGeom>
          <a:noFill/>
          <a:ln/>
        </p:spPr>
        <p:txBody>
          <a:bodyPr wrap="square" lIns="0" tIns="0" rIns="0" bIns="0" rtlCol="0" anchor="t"/>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Counter</a:t>
            </a:r>
            <a:endParaRPr lang="en-US" sz="1600" dirty="0"/>
          </a:p>
        </p:txBody>
      </p:sp>
      <p:sp>
        <p:nvSpPr>
          <p:cNvPr id="16" name="Text 14"/>
          <p:cNvSpPr/>
          <p:nvPr/>
        </p:nvSpPr>
        <p:spPr>
          <a:xfrm>
            <a:off x="3982212" y="1828800"/>
            <a:ext cx="1179576" cy="36576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54 bits, up or down</a:t>
            </a:r>
            <a:endParaRPr lang="en-US" sz="1200" dirty="0"/>
          </a:p>
        </p:txBody>
      </p:sp>
      <p:sp>
        <p:nvSpPr>
          <p:cNvPr id="17" name="Shape 15"/>
          <p:cNvSpPr/>
          <p:nvPr/>
        </p:nvSpPr>
        <p:spPr>
          <a:xfrm>
            <a:off x="5280660" y="1805940"/>
            <a:ext cx="308610" cy="0"/>
          </a:xfrm>
          <a:prstGeom prst="line">
            <a:avLst/>
          </a:prstGeom>
          <a:noFill/>
          <a:ln w="25400">
            <a:solidFill>
              <a:srgbClr val="CADCFC"/>
            </a:solidFill>
            <a:prstDash val="solid"/>
            <a:tailEnd type="triangle"/>
          </a:ln>
        </p:spPr>
      </p:sp>
      <p:sp>
        <p:nvSpPr>
          <p:cNvPr id="18" name="Shape 16"/>
          <p:cNvSpPr/>
          <p:nvPr/>
        </p:nvSpPr>
        <p:spPr>
          <a:xfrm>
            <a:off x="5634990" y="1325880"/>
            <a:ext cx="1325880" cy="960120"/>
          </a:xfrm>
          <a:prstGeom prst="rect">
            <a:avLst/>
          </a:prstGeom>
          <a:solidFill>
            <a:srgbClr val="253270"/>
          </a:solidFill>
          <a:ln w="25400">
            <a:solidFill>
              <a:srgbClr val="CADCFC"/>
            </a:solidFill>
            <a:prstDash val="solid"/>
          </a:ln>
          <a:effectLst>
            <a:outerShdw sx="100000" sy="100000" kx="0" ky="0" algn="bl" rotWithShape="0" blurRad="50800" dist="25400" dir="8100000">
              <a:srgbClr val="000000">
                <a:alpha val="25000"/>
              </a:srgbClr>
            </a:outerShdw>
          </a:effectLst>
        </p:spPr>
      </p:sp>
      <p:sp>
        <p:nvSpPr>
          <p:cNvPr id="19" name="Text 17"/>
          <p:cNvSpPr/>
          <p:nvPr/>
        </p:nvSpPr>
        <p:spPr>
          <a:xfrm>
            <a:off x="5634990" y="1490472"/>
            <a:ext cx="1325880" cy="320040"/>
          </a:xfrm>
          <a:prstGeom prst="rect">
            <a:avLst/>
          </a:prstGeom>
          <a:noFill/>
          <a:ln/>
        </p:spPr>
        <p:txBody>
          <a:bodyPr wrap="square" lIns="0" tIns="0" rIns="0" bIns="0" rtlCol="0" anchor="t"/>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Alarm</a:t>
            </a:r>
            <a:endParaRPr lang="en-US" sz="1600" dirty="0"/>
          </a:p>
        </p:txBody>
      </p:sp>
      <p:sp>
        <p:nvSpPr>
          <p:cNvPr id="20" name="Text 18"/>
          <p:cNvSpPr/>
          <p:nvPr/>
        </p:nvSpPr>
        <p:spPr>
          <a:xfrm>
            <a:off x="5708142" y="1828800"/>
            <a:ext cx="1179576" cy="36576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counter == alarm ?</a:t>
            </a:r>
            <a:endParaRPr lang="en-US" sz="1200" dirty="0"/>
          </a:p>
        </p:txBody>
      </p:sp>
      <p:sp>
        <p:nvSpPr>
          <p:cNvPr id="21" name="Shape 19"/>
          <p:cNvSpPr/>
          <p:nvPr/>
        </p:nvSpPr>
        <p:spPr>
          <a:xfrm>
            <a:off x="7006590" y="1805940"/>
            <a:ext cx="308610" cy="0"/>
          </a:xfrm>
          <a:prstGeom prst="line">
            <a:avLst/>
          </a:prstGeom>
          <a:noFill/>
          <a:ln w="25400">
            <a:solidFill>
              <a:srgbClr val="CADCFC"/>
            </a:solidFill>
            <a:prstDash val="solid"/>
            <a:tailEnd type="triangle"/>
          </a:ln>
        </p:spPr>
      </p:sp>
      <p:sp>
        <p:nvSpPr>
          <p:cNvPr id="22" name="Shape 20"/>
          <p:cNvSpPr/>
          <p:nvPr/>
        </p:nvSpPr>
        <p:spPr>
          <a:xfrm>
            <a:off x="7360920" y="1325880"/>
            <a:ext cx="1325880" cy="960120"/>
          </a:xfrm>
          <a:prstGeom prst="rect">
            <a:avLst/>
          </a:prstGeom>
          <a:solidFill>
            <a:srgbClr val="253270"/>
          </a:solidFill>
          <a:ln w="25400">
            <a:solidFill>
              <a:srgbClr val="FFB300"/>
            </a:solidFill>
            <a:prstDash val="solid"/>
          </a:ln>
          <a:effectLst>
            <a:outerShdw sx="100000" sy="100000" kx="0" ky="0" algn="bl" rotWithShape="0" blurRad="50800" dist="25400" dir="8100000">
              <a:srgbClr val="000000">
                <a:alpha val="25000"/>
              </a:srgbClr>
            </a:outerShdw>
          </a:effectLst>
        </p:spPr>
      </p:sp>
      <p:sp>
        <p:nvSpPr>
          <p:cNvPr id="23" name="Text 21"/>
          <p:cNvSpPr/>
          <p:nvPr/>
        </p:nvSpPr>
        <p:spPr>
          <a:xfrm>
            <a:off x="7360920" y="1490472"/>
            <a:ext cx="1325880" cy="320040"/>
          </a:xfrm>
          <a:prstGeom prst="rect">
            <a:avLst/>
          </a:prstGeom>
          <a:noFill/>
          <a:ln/>
        </p:spPr>
        <p:txBody>
          <a:bodyPr wrap="square" lIns="0" tIns="0" rIns="0" bIns="0" rtlCol="0" anchor="t"/>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Interrupt</a:t>
            </a:r>
            <a:endParaRPr lang="en-US" sz="1600" dirty="0"/>
          </a:p>
        </p:txBody>
      </p:sp>
      <p:sp>
        <p:nvSpPr>
          <p:cNvPr id="24" name="Text 22"/>
          <p:cNvSpPr/>
          <p:nvPr/>
        </p:nvSpPr>
        <p:spPr>
          <a:xfrm>
            <a:off x="7434072" y="1828800"/>
            <a:ext cx="1179576" cy="36576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your ISR runs</a:t>
            </a:r>
            <a:endParaRPr lang="en-US" sz="1200" dirty="0"/>
          </a:p>
        </p:txBody>
      </p:sp>
      <p:sp>
        <p:nvSpPr>
          <p:cNvPr id="25" name="Shape 23"/>
          <p:cNvSpPr/>
          <p:nvPr/>
        </p:nvSpPr>
        <p:spPr>
          <a:xfrm>
            <a:off x="6297930" y="2286000"/>
            <a:ext cx="0" cy="320040"/>
          </a:xfrm>
          <a:prstGeom prst="line">
            <a:avLst/>
          </a:prstGeom>
          <a:noFill/>
          <a:ln w="22225">
            <a:solidFill>
              <a:srgbClr val="4CAF50"/>
            </a:solidFill>
            <a:prstDash val="solid"/>
          </a:ln>
        </p:spPr>
      </p:sp>
      <p:sp>
        <p:nvSpPr>
          <p:cNvPr id="26" name="Shape 24"/>
          <p:cNvSpPr/>
          <p:nvPr/>
        </p:nvSpPr>
        <p:spPr>
          <a:xfrm flipH="1">
            <a:off x="4572000" y="2606040"/>
            <a:ext cx="1725930" cy="0"/>
          </a:xfrm>
          <a:prstGeom prst="line">
            <a:avLst/>
          </a:prstGeom>
          <a:noFill/>
          <a:ln w="22225">
            <a:solidFill>
              <a:srgbClr val="4CAF50"/>
            </a:solidFill>
            <a:prstDash val="solid"/>
          </a:ln>
        </p:spPr>
      </p:sp>
      <p:sp>
        <p:nvSpPr>
          <p:cNvPr id="27" name="Shape 25"/>
          <p:cNvSpPr/>
          <p:nvPr/>
        </p:nvSpPr>
        <p:spPr>
          <a:xfrm flipV="1">
            <a:off x="4572000" y="2313432"/>
            <a:ext cx="0" cy="292608"/>
          </a:xfrm>
          <a:prstGeom prst="line">
            <a:avLst/>
          </a:prstGeom>
          <a:noFill/>
          <a:ln w="22225">
            <a:solidFill>
              <a:srgbClr val="4CAF50"/>
            </a:solidFill>
            <a:prstDash val="solid"/>
            <a:tailEnd type="triangle"/>
          </a:ln>
        </p:spPr>
      </p:sp>
      <p:sp>
        <p:nvSpPr>
          <p:cNvPr id="28" name="Text 26"/>
          <p:cNvSpPr/>
          <p:nvPr/>
        </p:nvSpPr>
        <p:spPr>
          <a:xfrm>
            <a:off x="4206240" y="2670048"/>
            <a:ext cx="2457450" cy="274320"/>
          </a:xfrm>
          <a:prstGeom prst="rect">
            <a:avLst/>
          </a:prstGeom>
          <a:noFill/>
          <a:ln/>
        </p:spPr>
        <p:txBody>
          <a:bodyPr wrap="square" lIns="0" tIns="0" rIns="0" bIns="0" rtlCol="0" anchor="t"/>
          <a:lstStyle/>
          <a:p>
            <a:pPr algn="ctr" indent="0" marL="0">
              <a:buNone/>
            </a:pPr>
            <a:r>
              <a:rPr lang="en-US" sz="1200" i="1" dirty="0">
                <a:solidFill>
                  <a:srgbClr val="4CAF50"/>
                </a:solidFill>
                <a:latin typeface="Calibri" pitchFamily="34" charset="0"/>
                <a:ea typeface="Calibri" pitchFamily="34" charset="-122"/>
                <a:cs typeface="Calibri" pitchFamily="34" charset="-120"/>
              </a:rPr>
              <a:t>auto-reload: counter back to 0</a:t>
            </a:r>
            <a:endParaRPr lang="en-US" sz="1200" dirty="0"/>
          </a:p>
        </p:txBody>
      </p:sp>
      <p:pic>
        <p:nvPicPr>
          <p:cNvPr id="29" name="Image 0" descr="preencoded.png">    </p:cNvPr>
          <p:cNvPicPr>
            <a:picLocks noChangeAspect="1"/>
          </p:cNvPicPr>
          <p:nvPr/>
        </p:nvPicPr>
        <p:blipFill>
          <a:blip r:embed="rId1"/>
          <a:stretch>
            <a:fillRect/>
          </a:stretch>
        </p:blipFill>
        <p:spPr>
          <a:xfrm>
            <a:off x="685800" y="3429000"/>
            <a:ext cx="457200" cy="457200"/>
          </a:xfrm>
          <a:prstGeom prst="rect">
            <a:avLst/>
          </a:prstGeom>
        </p:spPr>
      </p:pic>
      <p:sp>
        <p:nvSpPr>
          <p:cNvPr id="30" name="Text 27"/>
          <p:cNvSpPr/>
          <p:nvPr/>
        </p:nvSpPr>
        <p:spPr>
          <a:xfrm>
            <a:off x="1371600" y="3310128"/>
            <a:ext cx="7223760" cy="320040"/>
          </a:xfrm>
          <a:prstGeom prst="rect">
            <a:avLst/>
          </a:prstGeom>
          <a:noFill/>
          <a:ln/>
        </p:spPr>
        <p:txBody>
          <a:bodyPr wrap="square" lIns="0" tIns="0" rIns="0" bIns="0" rtlCol="0" anchor="t"/>
          <a:lstStyle/>
          <a:p>
            <a:pPr indent="0" marL="0">
              <a:buNone/>
            </a:pPr>
            <a:r>
              <a:rPr lang="en-US" sz="1500" b="1" dirty="0">
                <a:solidFill>
                  <a:srgbClr val="FFFFFF"/>
                </a:solidFill>
                <a:latin typeface="Trebuchet MS" pitchFamily="34" charset="0"/>
                <a:ea typeface="Trebuchet MS" pitchFamily="34" charset="-122"/>
                <a:cs typeface="Trebuchet MS" pitchFamily="34" charset="-120"/>
              </a:rPr>
              <a:t>Find it yourself</a:t>
            </a:r>
            <a:endParaRPr lang="en-US" sz="1500" dirty="0"/>
          </a:p>
        </p:txBody>
      </p:sp>
      <p:sp>
        <p:nvSpPr>
          <p:cNvPr id="31" name="Text 28"/>
          <p:cNvSpPr/>
          <p:nvPr/>
        </p:nvSpPr>
        <p:spPr>
          <a:xfrm>
            <a:off x="1371600" y="3630168"/>
            <a:ext cx="7223760" cy="64008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ESP32-C3 Technical Reference Manual, chapter Timer Group (TIMG). Two groups, one general-purpose timer each - the Arduino core calls them timer 0 and timer 1.</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The arithmetic</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11  |  Hardware Timers and Interrupts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457200" y="1325880"/>
            <a:ext cx="1298448" cy="1188720"/>
          </a:xfrm>
          <a:prstGeom prst="rect">
            <a:avLst/>
          </a:prstGeom>
          <a:solidFill>
            <a:srgbClr val="253270"/>
          </a:solidFill>
          <a:ln w="12700">
            <a:solidFill>
              <a:srgbClr val="3A4A8A"/>
            </a:solidFill>
            <a:prstDash val="solid"/>
          </a:ln>
          <a:effectLst>
            <a:outerShdw sx="100000" sy="100000" kx="0" ky="0" algn="bl" rotWithShape="0" blurRad="50800" dist="25400" dir="8100000">
              <a:srgbClr val="000000">
                <a:alpha val="25000"/>
              </a:srgbClr>
            </a:outerShdw>
          </a:effectLst>
        </p:spPr>
      </p:sp>
      <p:sp>
        <p:nvSpPr>
          <p:cNvPr id="7" name="Text 5"/>
          <p:cNvSpPr/>
          <p:nvPr/>
        </p:nvSpPr>
        <p:spPr>
          <a:xfrm>
            <a:off x="457200" y="1508760"/>
            <a:ext cx="1298448"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80 MHz</a:t>
            </a:r>
            <a:endParaRPr lang="en-US" sz="2200" dirty="0"/>
          </a:p>
        </p:txBody>
      </p:sp>
      <p:sp>
        <p:nvSpPr>
          <p:cNvPr id="8" name="Text 6"/>
          <p:cNvSpPr/>
          <p:nvPr/>
        </p:nvSpPr>
        <p:spPr>
          <a:xfrm>
            <a:off x="502920" y="2075688"/>
            <a:ext cx="1207008" cy="3200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APB clock</a:t>
            </a:r>
            <a:endParaRPr lang="en-US" sz="1200" dirty="0"/>
          </a:p>
        </p:txBody>
      </p:sp>
      <p:sp>
        <p:nvSpPr>
          <p:cNvPr id="9" name="Text 7"/>
          <p:cNvSpPr/>
          <p:nvPr/>
        </p:nvSpPr>
        <p:spPr>
          <a:xfrm>
            <a:off x="1755648" y="1325880"/>
            <a:ext cx="434340" cy="1188720"/>
          </a:xfrm>
          <a:prstGeom prst="rect">
            <a:avLst/>
          </a:prstGeom>
          <a:noFill/>
          <a:ln/>
        </p:spPr>
        <p:txBody>
          <a:bodyPr wrap="square" lIns="0" tIns="0" rIns="0" bIns="0" rtlCol="0" anchor="ctr"/>
          <a:lstStyle/>
          <a:p>
            <a:pPr algn="ctr" indent="0" marL="0">
              <a:buNone/>
            </a:pPr>
            <a:r>
              <a:rPr lang="en-US" sz="3000" b="1" dirty="0">
                <a:solidFill>
                  <a:srgbClr val="8892B0"/>
                </a:solidFill>
                <a:latin typeface="Trebuchet MS" pitchFamily="34" charset="0"/>
                <a:ea typeface="Trebuchet MS" pitchFamily="34" charset="-122"/>
                <a:cs typeface="Trebuchet MS" pitchFamily="34" charset="-120"/>
              </a:rPr>
              <a:t>/</a:t>
            </a:r>
            <a:endParaRPr lang="en-US" sz="3000" dirty="0"/>
          </a:p>
        </p:txBody>
      </p:sp>
      <p:sp>
        <p:nvSpPr>
          <p:cNvPr id="10" name="Shape 8"/>
          <p:cNvSpPr/>
          <p:nvPr/>
        </p:nvSpPr>
        <p:spPr>
          <a:xfrm>
            <a:off x="2189988" y="1325880"/>
            <a:ext cx="1298448" cy="1188720"/>
          </a:xfrm>
          <a:prstGeom prst="rect">
            <a:avLst/>
          </a:prstGeom>
          <a:solidFill>
            <a:srgbClr val="253270"/>
          </a:solidFill>
          <a:ln w="12700">
            <a:solidFill>
              <a:srgbClr val="3A4A8A"/>
            </a:solidFill>
            <a:prstDash val="solid"/>
          </a:ln>
          <a:effectLst>
            <a:outerShdw sx="100000" sy="100000" kx="0" ky="0" algn="bl" rotWithShape="0" blurRad="50800" dist="25400" dir="8100000">
              <a:srgbClr val="000000">
                <a:alpha val="25000"/>
              </a:srgbClr>
            </a:outerShdw>
          </a:effectLst>
        </p:spPr>
      </p:sp>
      <p:sp>
        <p:nvSpPr>
          <p:cNvPr id="11" name="Text 9"/>
          <p:cNvSpPr/>
          <p:nvPr/>
        </p:nvSpPr>
        <p:spPr>
          <a:xfrm>
            <a:off x="2189988" y="1508760"/>
            <a:ext cx="1298448"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80</a:t>
            </a:r>
            <a:endParaRPr lang="en-US" sz="2200" dirty="0"/>
          </a:p>
        </p:txBody>
      </p:sp>
      <p:sp>
        <p:nvSpPr>
          <p:cNvPr id="12" name="Text 10"/>
          <p:cNvSpPr/>
          <p:nvPr/>
        </p:nvSpPr>
        <p:spPr>
          <a:xfrm>
            <a:off x="2235708" y="2075688"/>
            <a:ext cx="1207008" cy="3200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divider</a:t>
            </a:r>
            <a:endParaRPr lang="en-US" sz="1200" dirty="0"/>
          </a:p>
        </p:txBody>
      </p:sp>
      <p:sp>
        <p:nvSpPr>
          <p:cNvPr id="13" name="Text 11"/>
          <p:cNvSpPr/>
          <p:nvPr/>
        </p:nvSpPr>
        <p:spPr>
          <a:xfrm>
            <a:off x="3488436" y="1325880"/>
            <a:ext cx="434340" cy="1188720"/>
          </a:xfrm>
          <a:prstGeom prst="rect">
            <a:avLst/>
          </a:prstGeom>
          <a:noFill/>
          <a:ln/>
        </p:spPr>
        <p:txBody>
          <a:bodyPr wrap="square" lIns="0" tIns="0" rIns="0" bIns="0" rtlCol="0" anchor="ctr"/>
          <a:lstStyle/>
          <a:p>
            <a:pPr algn="ctr" indent="0" marL="0">
              <a:buNone/>
            </a:pPr>
            <a:r>
              <a:rPr lang="en-US" sz="3000" b="1" dirty="0">
                <a:solidFill>
                  <a:srgbClr val="8892B0"/>
                </a:solidFill>
                <a:latin typeface="Trebuchet MS" pitchFamily="34" charset="0"/>
                <a:ea typeface="Trebuchet MS" pitchFamily="34" charset="-122"/>
                <a:cs typeface="Trebuchet MS" pitchFamily="34" charset="-120"/>
              </a:rPr>
              <a:t>=</a:t>
            </a:r>
            <a:endParaRPr lang="en-US" sz="3000" dirty="0"/>
          </a:p>
        </p:txBody>
      </p:sp>
      <p:sp>
        <p:nvSpPr>
          <p:cNvPr id="14" name="Shape 12"/>
          <p:cNvSpPr/>
          <p:nvPr/>
        </p:nvSpPr>
        <p:spPr>
          <a:xfrm>
            <a:off x="3922776" y="1325880"/>
            <a:ext cx="1298448" cy="1188720"/>
          </a:xfrm>
          <a:prstGeom prst="rect">
            <a:avLst/>
          </a:prstGeom>
          <a:solidFill>
            <a:srgbClr val="253270"/>
          </a:solidFill>
          <a:ln w="25400">
            <a:solidFill>
              <a:srgbClr val="CADCFC"/>
            </a:solidFill>
            <a:prstDash val="solid"/>
          </a:ln>
          <a:effectLst>
            <a:outerShdw sx="100000" sy="100000" kx="0" ky="0" algn="bl" rotWithShape="0" blurRad="50800" dist="25400" dir="8100000">
              <a:srgbClr val="000000">
                <a:alpha val="25000"/>
              </a:srgbClr>
            </a:outerShdw>
          </a:effectLst>
        </p:spPr>
      </p:sp>
      <p:sp>
        <p:nvSpPr>
          <p:cNvPr id="15" name="Text 13"/>
          <p:cNvSpPr/>
          <p:nvPr/>
        </p:nvSpPr>
        <p:spPr>
          <a:xfrm>
            <a:off x="3922776" y="1508760"/>
            <a:ext cx="1298448"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1 us</a:t>
            </a:r>
            <a:endParaRPr lang="en-US" sz="2200" dirty="0"/>
          </a:p>
        </p:txBody>
      </p:sp>
      <p:sp>
        <p:nvSpPr>
          <p:cNvPr id="16" name="Text 14"/>
          <p:cNvSpPr/>
          <p:nvPr/>
        </p:nvSpPr>
        <p:spPr>
          <a:xfrm>
            <a:off x="3968496" y="2075688"/>
            <a:ext cx="1207008" cy="3200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one tick (1 MHz)</a:t>
            </a:r>
            <a:endParaRPr lang="en-US" sz="1200" dirty="0"/>
          </a:p>
        </p:txBody>
      </p:sp>
      <p:sp>
        <p:nvSpPr>
          <p:cNvPr id="17" name="Text 15"/>
          <p:cNvSpPr/>
          <p:nvPr/>
        </p:nvSpPr>
        <p:spPr>
          <a:xfrm>
            <a:off x="5221224" y="1325880"/>
            <a:ext cx="434340" cy="1188720"/>
          </a:xfrm>
          <a:prstGeom prst="rect">
            <a:avLst/>
          </a:prstGeom>
          <a:noFill/>
          <a:ln/>
        </p:spPr>
        <p:txBody>
          <a:bodyPr wrap="square" lIns="0" tIns="0" rIns="0" bIns="0" rtlCol="0" anchor="ctr"/>
          <a:lstStyle/>
          <a:p>
            <a:pPr algn="ctr" indent="0" marL="0">
              <a:buNone/>
            </a:pPr>
            <a:r>
              <a:rPr lang="en-US" sz="3000" b="1" dirty="0">
                <a:solidFill>
                  <a:srgbClr val="8892B0"/>
                </a:solidFill>
                <a:latin typeface="Trebuchet MS" pitchFamily="34" charset="0"/>
                <a:ea typeface="Trebuchet MS" pitchFamily="34" charset="-122"/>
                <a:cs typeface="Trebuchet MS" pitchFamily="34" charset="-120"/>
              </a:rPr>
              <a:t>x</a:t>
            </a:r>
            <a:endParaRPr lang="en-US" sz="3000" dirty="0"/>
          </a:p>
        </p:txBody>
      </p:sp>
      <p:sp>
        <p:nvSpPr>
          <p:cNvPr id="18" name="Shape 16"/>
          <p:cNvSpPr/>
          <p:nvPr/>
        </p:nvSpPr>
        <p:spPr>
          <a:xfrm>
            <a:off x="5655564" y="1325880"/>
            <a:ext cx="1298448" cy="1188720"/>
          </a:xfrm>
          <a:prstGeom prst="rect">
            <a:avLst/>
          </a:prstGeom>
          <a:solidFill>
            <a:srgbClr val="253270"/>
          </a:solidFill>
          <a:ln w="12700">
            <a:solidFill>
              <a:srgbClr val="3A4A8A"/>
            </a:solidFill>
            <a:prstDash val="solid"/>
          </a:ln>
          <a:effectLst>
            <a:outerShdw sx="100000" sy="100000" kx="0" ky="0" algn="bl" rotWithShape="0" blurRad="50800" dist="25400" dir="8100000">
              <a:srgbClr val="000000">
                <a:alpha val="25000"/>
              </a:srgbClr>
            </a:outerShdw>
          </a:effectLst>
        </p:spPr>
      </p:sp>
      <p:sp>
        <p:nvSpPr>
          <p:cNvPr id="19" name="Text 17"/>
          <p:cNvSpPr/>
          <p:nvPr/>
        </p:nvSpPr>
        <p:spPr>
          <a:xfrm>
            <a:off x="5655564" y="1508760"/>
            <a:ext cx="1298448"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1000</a:t>
            </a:r>
            <a:endParaRPr lang="en-US" sz="2200" dirty="0"/>
          </a:p>
        </p:txBody>
      </p:sp>
      <p:sp>
        <p:nvSpPr>
          <p:cNvPr id="20" name="Text 18"/>
          <p:cNvSpPr/>
          <p:nvPr/>
        </p:nvSpPr>
        <p:spPr>
          <a:xfrm>
            <a:off x="5701284" y="2075688"/>
            <a:ext cx="1207008" cy="3200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alarm, in ticks</a:t>
            </a:r>
            <a:endParaRPr lang="en-US" sz="1200" dirty="0"/>
          </a:p>
        </p:txBody>
      </p:sp>
      <p:sp>
        <p:nvSpPr>
          <p:cNvPr id="21" name="Text 19"/>
          <p:cNvSpPr/>
          <p:nvPr/>
        </p:nvSpPr>
        <p:spPr>
          <a:xfrm>
            <a:off x="6954012" y="1325880"/>
            <a:ext cx="434340" cy="1188720"/>
          </a:xfrm>
          <a:prstGeom prst="rect">
            <a:avLst/>
          </a:prstGeom>
          <a:noFill/>
          <a:ln/>
        </p:spPr>
        <p:txBody>
          <a:bodyPr wrap="square" lIns="0" tIns="0" rIns="0" bIns="0" rtlCol="0" anchor="ctr"/>
          <a:lstStyle/>
          <a:p>
            <a:pPr algn="ctr" indent="0" marL="0">
              <a:buNone/>
            </a:pPr>
            <a:r>
              <a:rPr lang="en-US" sz="3000" b="1" dirty="0">
                <a:solidFill>
                  <a:srgbClr val="8892B0"/>
                </a:solidFill>
                <a:latin typeface="Trebuchet MS" pitchFamily="34" charset="0"/>
                <a:ea typeface="Trebuchet MS" pitchFamily="34" charset="-122"/>
                <a:cs typeface="Trebuchet MS" pitchFamily="34" charset="-120"/>
              </a:rPr>
              <a:t>=</a:t>
            </a:r>
            <a:endParaRPr lang="en-US" sz="3000" dirty="0"/>
          </a:p>
        </p:txBody>
      </p:sp>
      <p:sp>
        <p:nvSpPr>
          <p:cNvPr id="22" name="Shape 20"/>
          <p:cNvSpPr/>
          <p:nvPr/>
        </p:nvSpPr>
        <p:spPr>
          <a:xfrm>
            <a:off x="7388352" y="1325880"/>
            <a:ext cx="1298448" cy="1188720"/>
          </a:xfrm>
          <a:prstGeom prst="rect">
            <a:avLst/>
          </a:prstGeom>
          <a:solidFill>
            <a:srgbClr val="253270"/>
          </a:solidFill>
          <a:ln w="25400">
            <a:solidFill>
              <a:srgbClr val="FFB300"/>
            </a:solidFill>
            <a:prstDash val="solid"/>
          </a:ln>
          <a:effectLst>
            <a:outerShdw sx="100000" sy="100000" kx="0" ky="0" algn="bl" rotWithShape="0" blurRad="50800" dist="25400" dir="8100000">
              <a:srgbClr val="000000">
                <a:alpha val="25000"/>
              </a:srgbClr>
            </a:outerShdw>
          </a:effectLst>
        </p:spPr>
      </p:sp>
      <p:sp>
        <p:nvSpPr>
          <p:cNvPr id="23" name="Text 21"/>
          <p:cNvSpPr/>
          <p:nvPr/>
        </p:nvSpPr>
        <p:spPr>
          <a:xfrm>
            <a:off x="7388352" y="1508760"/>
            <a:ext cx="1298448"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1 ms</a:t>
            </a:r>
            <a:endParaRPr lang="en-US" sz="2200" dirty="0"/>
          </a:p>
        </p:txBody>
      </p:sp>
      <p:sp>
        <p:nvSpPr>
          <p:cNvPr id="24" name="Text 22"/>
          <p:cNvSpPr/>
          <p:nvPr/>
        </p:nvSpPr>
        <p:spPr>
          <a:xfrm>
            <a:off x="7434072" y="2075688"/>
            <a:ext cx="1207008" cy="3200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period (1 kHz)</a:t>
            </a:r>
            <a:endParaRPr lang="en-US" sz="1200" dirty="0"/>
          </a:p>
        </p:txBody>
      </p:sp>
      <p:sp>
        <p:nvSpPr>
          <p:cNvPr id="25" name="Shape 23"/>
          <p:cNvSpPr/>
          <p:nvPr/>
        </p:nvSpPr>
        <p:spPr>
          <a:xfrm>
            <a:off x="1828800" y="2880360"/>
            <a:ext cx="5486400" cy="548640"/>
          </a:xfrm>
          <a:prstGeom prst="rect">
            <a:avLst/>
          </a:prstGeom>
          <a:solidFill>
            <a:srgbClr val="0D1117"/>
          </a:solidFill>
          <a:ln w="12700">
            <a:solidFill>
              <a:srgbClr val="3A4A8A"/>
            </a:solidFill>
            <a:prstDash val="solid"/>
          </a:ln>
        </p:spPr>
      </p:sp>
      <p:sp>
        <p:nvSpPr>
          <p:cNvPr id="26" name="Text 24"/>
          <p:cNvSpPr/>
          <p:nvPr/>
        </p:nvSpPr>
        <p:spPr>
          <a:xfrm>
            <a:off x="1828800" y="2880360"/>
            <a:ext cx="5486400" cy="548640"/>
          </a:xfrm>
          <a:prstGeom prst="rect">
            <a:avLst/>
          </a:prstGeom>
          <a:noFill/>
          <a:ln/>
        </p:spPr>
        <p:txBody>
          <a:bodyPr wrap="square" lIns="0" tIns="0" rIns="0" bIns="0" rtlCol="0" anchor="ctr"/>
          <a:lstStyle/>
          <a:p>
            <a:pPr algn="ctr" indent="0" marL="0">
              <a:buNone/>
            </a:pPr>
            <a:r>
              <a:rPr lang="en-US" sz="2000" dirty="0">
                <a:solidFill>
                  <a:srgbClr val="A8D8FF"/>
                </a:solidFill>
                <a:latin typeface="Consolas" pitchFamily="34" charset="0"/>
                <a:ea typeface="Consolas" pitchFamily="34" charset="-122"/>
                <a:cs typeface="Consolas" pitchFamily="34" charset="-120"/>
              </a:rPr>
              <a:t>period = divider x alarm / 80 MHz</a:t>
            </a:r>
            <a:endParaRPr lang="en-US" sz="2000" dirty="0"/>
          </a:p>
        </p:txBody>
      </p:sp>
      <p:sp>
        <p:nvSpPr>
          <p:cNvPr id="27" name="Text 25"/>
          <p:cNvSpPr/>
          <p:nvPr/>
        </p:nvSpPr>
        <p:spPr>
          <a:xfrm>
            <a:off x="457200" y="3749040"/>
            <a:ext cx="8229600" cy="365760"/>
          </a:xfrm>
          <a:prstGeom prst="rect">
            <a:avLst/>
          </a:prstGeom>
          <a:noFill/>
          <a:ln/>
        </p:spPr>
        <p:txBody>
          <a:bodyPr wrap="square" lIns="0" tIns="0" rIns="0" bIns="0" rtlCol="0" anchor="t"/>
          <a:lstStyle/>
          <a:p>
            <a:pPr algn="ctr" indent="0" marL="0">
              <a:buNone/>
            </a:pPr>
            <a:r>
              <a:rPr lang="en-US" sz="1300" i="1" dirty="0">
                <a:solidFill>
                  <a:srgbClr val="8892B0"/>
                </a:solidFill>
                <a:latin typeface="Calibri" pitchFamily="34" charset="0"/>
                <a:ea typeface="Calibri" pitchFamily="34" charset="-122"/>
                <a:cs typeface="Calibri" pitchFamily="34" charset="-120"/>
              </a:rPr>
              <a:t>A 54-bit counter at 1 MHz overflows after about 570 years. You will not have to wait for it.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Your turn: divider and alarm</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11  |  Hardware Timers and Interrupts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9</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743200"/>
                <a:gridCol w="1828800"/>
                <a:gridCol w="1828800"/>
                <a:gridCol w="1828800"/>
              </a:tblGrid>
              <a:tr h="32004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Target rate</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Period</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Divider</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Alarm (ticks)</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r>
              <a:tr h="320040">
                <a:tc>
                  <a:txBody>
                    <a:bodyPr/>
                    <a:lstStyle/>
                    <a:p>
                      <a:pPr algn="l" indent="0" marL="0">
                        <a:buNone/>
                      </a:pPr>
                      <a:r>
                        <a:rPr lang="en-US" sz="1400" dirty="0">
                          <a:solidFill>
                            <a:srgbClr val="FFFFFF"/>
                          </a:solidFill>
                          <a:latin typeface="Calibri" pitchFamily="34" charset="0"/>
                          <a:ea typeface="Calibri" pitchFamily="34" charset="-122"/>
                          <a:cs typeface="Calibri" pitchFamily="34" charset="-120"/>
                        </a:rPr>
                        <a:t>1 kHz (worked example)</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400" dirty="0">
                          <a:solidFill>
                            <a:srgbClr val="CADCFC"/>
                          </a:solidFill>
                          <a:latin typeface="Calibri" pitchFamily="34" charset="0"/>
                          <a:ea typeface="Calibri" pitchFamily="34" charset="-122"/>
                          <a:cs typeface="Calibri" pitchFamily="34" charset="-120"/>
                        </a:rPr>
                        <a:t>1 ms</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400" dirty="0">
                          <a:solidFill>
                            <a:srgbClr val="CADCFC"/>
                          </a:solidFill>
                          <a:latin typeface="Calibri" pitchFamily="34" charset="0"/>
                          <a:ea typeface="Calibri" pitchFamily="34" charset="-122"/>
                          <a:cs typeface="Calibri" pitchFamily="34" charset="-120"/>
                        </a:rPr>
                        <a:t>80</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400" dirty="0">
                          <a:solidFill>
                            <a:srgbClr val="CADCFC"/>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400" dirty="0">
                          <a:solidFill>
                            <a:srgbClr val="FFFFFF"/>
                          </a:solidFill>
                          <a:latin typeface="Calibri" pitchFamily="34" charset="0"/>
                          <a:ea typeface="Calibri" pitchFamily="34" charset="-122"/>
                          <a:cs typeface="Calibri" pitchFamily="34" charset="-120"/>
                        </a:rPr>
                        <a:t>10 Hz</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400" dirty="0">
                          <a:solidFill>
                            <a:srgbClr val="FFFFFF"/>
                          </a:solidFill>
                          <a:latin typeface="Calibri" pitchFamily="34" charset="0"/>
                          <a:ea typeface="Calibri" pitchFamily="34" charset="-122"/>
                          <a:cs typeface="Calibri" pitchFamily="34" charset="-120"/>
                        </a:rPr>
                        <a:t>1 Hz</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400" dirty="0">
                          <a:solidFill>
                            <a:srgbClr val="FFFFFF"/>
                          </a:solidFill>
                          <a:latin typeface="Calibri" pitchFamily="34" charset="0"/>
                          <a:ea typeface="Calibri" pitchFamily="34" charset="-122"/>
                          <a:cs typeface="Calibri" pitchFamily="34" charset="-120"/>
                        </a:rPr>
                        <a:t>40 kHz</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400" dirty="0">
                          <a:solidFill>
                            <a:srgbClr val="FFFFFF"/>
                          </a:solidFill>
                          <a:latin typeface="Calibri" pitchFamily="34" charset="0"/>
                          <a:ea typeface="Calibri" pitchFamily="34" charset="-122"/>
                          <a:cs typeface="Calibri" pitchFamily="34" charset="-120"/>
                        </a:rPr>
                        <a:t>Fastest possible tick</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400" dirty="0">
                          <a:solidFill>
                            <a:srgbClr val="CADCFC"/>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bl>
          </a:graphicData>
        </a:graphic>
      </p:graphicFrame>
      <p:sp>
        <p:nvSpPr>
          <p:cNvPr id="7" name="Shape 4"/>
          <p:cNvSpPr/>
          <p:nvPr/>
        </p:nvSpPr>
        <p:spPr>
          <a:xfrm>
            <a:off x="457200" y="3429000"/>
            <a:ext cx="8229600" cy="777240"/>
          </a:xfrm>
          <a:prstGeom prst="rect">
            <a:avLst/>
          </a:prstGeom>
          <a:solidFill>
            <a:srgbClr val="253270"/>
          </a:solidFill>
          <a:ln w="12700">
            <a:solidFill>
              <a:srgbClr val="CADCFC"/>
            </a:solidFill>
            <a:prstDash val="solid"/>
          </a:ln>
        </p:spPr>
      </p:sp>
      <p:sp>
        <p:nvSpPr>
          <p:cNvPr id="8" name="Shape 5"/>
          <p:cNvSpPr/>
          <p:nvPr/>
        </p:nvSpPr>
        <p:spPr>
          <a:xfrm>
            <a:off x="457200" y="3429000"/>
            <a:ext cx="64008" cy="777240"/>
          </a:xfrm>
          <a:prstGeom prst="rect">
            <a:avLst/>
          </a:prstGeom>
          <a:solidFill>
            <a:srgbClr val="CADCFC"/>
          </a:solidFill>
          <a:ln/>
        </p:spPr>
      </p:sp>
      <p:sp>
        <p:nvSpPr>
          <p:cNvPr id="9" name="Text 6"/>
          <p:cNvSpPr/>
          <p:nvPr/>
        </p:nvSpPr>
        <p:spPr>
          <a:xfrm>
            <a:off x="685800" y="3502152"/>
            <a:ext cx="7863840" cy="274320"/>
          </a:xfrm>
          <a:prstGeom prst="rect">
            <a:avLst/>
          </a:prstGeom>
          <a:noFill/>
          <a:ln/>
        </p:spPr>
        <p:txBody>
          <a:bodyPr wrap="square" lIns="0" tIns="0" rIns="0" bIns="0" rtlCol="0" anchor="ctr"/>
          <a:lstStyle/>
          <a:p>
            <a:pPr indent="0" marL="0">
              <a:buNone/>
            </a:pPr>
            <a:r>
              <a:rPr lang="en-US" sz="1300" b="1" dirty="0">
                <a:solidFill>
                  <a:srgbClr val="CADCFC"/>
                </a:solidFill>
                <a:latin typeface="Trebuchet MS" pitchFamily="34" charset="0"/>
                <a:ea typeface="Trebuchet MS" pitchFamily="34" charset="-122"/>
                <a:cs typeface="Trebuchet MS" pitchFamily="34" charset="-120"/>
              </a:rPr>
              <a:t>Hint</a:t>
            </a:r>
            <a:endParaRPr lang="en-US" sz="1300" dirty="0"/>
          </a:p>
        </p:txBody>
      </p:sp>
      <p:sp>
        <p:nvSpPr>
          <p:cNvPr id="10" name="Text 7"/>
          <p:cNvSpPr/>
          <p:nvPr/>
        </p:nvSpPr>
        <p:spPr>
          <a:xfrm>
            <a:off x="685800" y="3776472"/>
            <a:ext cx="7863840" cy="36576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Some rows have more than one right answer. Choose the divider first, then check that the alarm is a whole number.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Four calls to a periodic interrupt</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11  |  Hardware Timers and Interrupts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457200" y="1051560"/>
            <a:ext cx="8229600" cy="3063240"/>
          </a:xfrm>
          <a:prstGeom prst="rect">
            <a:avLst/>
          </a:prstGeom>
          <a:solidFill>
            <a:srgbClr val="0D1117"/>
          </a:solidFill>
          <a:ln w="12700">
            <a:solidFill>
              <a:srgbClr val="3A4A8A"/>
            </a:solidFill>
            <a:prstDash val="solid"/>
          </a:ln>
        </p:spPr>
      </p:sp>
      <p:sp>
        <p:nvSpPr>
          <p:cNvPr id="7" name="Text 5"/>
          <p:cNvSpPr/>
          <p:nvPr/>
        </p:nvSpPr>
        <p:spPr>
          <a:xfrm>
            <a:off x="566928" y="1143000"/>
            <a:ext cx="8010144" cy="2880360"/>
          </a:xfrm>
          <a:prstGeom prst="rect">
            <a:avLst/>
          </a:prstGeom>
          <a:noFill/>
          <a:ln/>
        </p:spPr>
        <p:txBody>
          <a:bodyPr wrap="square" lIns="0" tIns="0" rIns="0" bIns="0" rtlCol="0" anchor="t"/>
          <a:lstStyle/>
          <a:p>
            <a:pPr indent="0" marL="0">
              <a:lnSpc>
                <a:spcPct val="100000"/>
              </a:lnSpc>
              <a:buNone/>
            </a:pPr>
            <a:r>
              <a:rPr lang="en-US" sz="1050" dirty="0">
                <a:solidFill>
                  <a:srgbClr val="A8D8FF"/>
                </a:solidFill>
                <a:latin typeface="Consolas" pitchFamily="34" charset="0"/>
                <a:ea typeface="Consolas" pitchFamily="34" charset="-122"/>
                <a:cs typeface="Consolas" pitchFamily="34" charset="-120"/>
              </a:rPr>
              <a:t>static const uint8_t  TIMER_NUM   = 0U;     // timer 0 = TIMG0</a:t>
            </a:r>
            <a:endParaRPr lang="en-US" sz="1050" dirty="0"/>
          </a:p>
          <a:p>
            <a:pPr indent="0" marL="0">
              <a:lnSpc>
                <a:spcPct val="100000"/>
              </a:lnSpc>
              <a:buNone/>
            </a:pPr>
            <a:r>
              <a:rPr lang="en-US" sz="1050" dirty="0">
                <a:solidFill>
                  <a:srgbClr val="A8D8FF"/>
                </a:solidFill>
                <a:latin typeface="Consolas" pitchFamily="34" charset="0"/>
                <a:ea typeface="Consolas" pitchFamily="34" charset="-122"/>
                <a:cs typeface="Consolas" pitchFamily="34" charset="-120"/>
              </a:rPr>
              <a:t>static const uint16_t TIMER_DIV   = 80U;    // 80 MHz / 80 = 1 MHz -&gt; 1 us per tick</a:t>
            </a:r>
            <a:endParaRPr lang="en-US" sz="1050" dirty="0"/>
          </a:p>
          <a:p>
            <a:pPr indent="0" marL="0">
              <a:lnSpc>
                <a:spcPct val="100000"/>
              </a:lnSpc>
              <a:buNone/>
            </a:pPr>
            <a:r>
              <a:rPr lang="en-US" sz="1050" dirty="0">
                <a:solidFill>
                  <a:srgbClr val="A8D8FF"/>
                </a:solidFill>
                <a:latin typeface="Consolas" pitchFamily="34" charset="0"/>
                <a:ea typeface="Consolas" pitchFamily="34" charset="-122"/>
                <a:cs typeface="Consolas" pitchFamily="34" charset="-120"/>
              </a:rPr>
              <a:t>static const uint64_t ALARM_TICKS = 1000U;  // 1000 ticks x 1 us = 1 ms</a:t>
            </a:r>
            <a:endParaRPr lang="en-US" sz="1050" dirty="0"/>
          </a:p>
          <a:p>
            <a:pPr indent="0" marL="0">
              <a:lnSpc>
                <a:spcPct val="100000"/>
              </a:lnSpc>
              <a:buNone/>
            </a:pPr>
            <a:r>
              <a:rPr lang="en-US" sz="1050" dirty="0">
                <a:solidFill>
                  <a:srgbClr val="A8D8FF"/>
                </a:solidFill>
                <a:latin typeface="Consolas" pitchFamily="34" charset="0"/>
                <a:ea typeface="Consolas" pitchFamily="34" charset="-122"/>
                <a:cs typeface="Consolas" pitchFamily="34" charset="-120"/>
              </a:rPr>
              <a:t>static hw_timer_t* s_timer = nullptr;</a:t>
            </a:r>
            <a:endParaRPr lang="en-US" sz="1050" dirty="0"/>
          </a:p>
          <a:p>
            <a:pPr indent="0" marL="0">
              <a:lnSpc>
                <a:spcPct val="100000"/>
              </a:lnSpc>
              <a:buNone/>
            </a:pPr>
            <a:endParaRPr lang="en-US" sz="1050" dirty="0"/>
          </a:p>
          <a:p>
            <a:pPr indent="0" marL="0">
              <a:lnSpc>
                <a:spcPct val="100000"/>
              </a:lnSpc>
              <a:buNone/>
            </a:pPr>
            <a:r>
              <a:rPr lang="en-US" sz="1050" dirty="0">
                <a:solidFill>
                  <a:srgbClr val="A8D8FF"/>
                </a:solidFill>
                <a:latin typeface="Consolas" pitchFamily="34" charset="0"/>
                <a:ea typeface="Consolas" pitchFamily="34" charset="-122"/>
                <a:cs typeface="Consolas" pitchFamily="34" charset="-120"/>
              </a:rPr>
              <a:t>void setup() {</a:t>
            </a:r>
            <a:endParaRPr lang="en-US" sz="1050" dirty="0"/>
          </a:p>
          <a:p>
            <a:pPr indent="0" marL="0">
              <a:lnSpc>
                <a:spcPct val="100000"/>
              </a:lnSpc>
              <a:buNone/>
            </a:pPr>
            <a:r>
              <a:rPr lang="en-US" sz="1050" dirty="0">
                <a:solidFill>
                  <a:srgbClr val="A8D8FF"/>
                </a:solidFill>
                <a:latin typeface="Consolas" pitchFamily="34" charset="0"/>
                <a:ea typeface="Consolas" pitchFamily="34" charset="-122"/>
                <a:cs typeface="Consolas" pitchFamily="34" charset="-120"/>
              </a:rPr>
              <a:t>    s_timer = timerBegin(TIMER_NUM, TIMER_DIV, true);  // true: count up</a:t>
            </a:r>
            <a:endParaRPr lang="en-US" sz="1050" dirty="0"/>
          </a:p>
          <a:p>
            <a:pPr indent="0" marL="0">
              <a:lnSpc>
                <a:spcPct val="100000"/>
              </a:lnSpc>
              <a:buNone/>
            </a:pPr>
            <a:r>
              <a:rPr lang="en-US" sz="1050" dirty="0">
                <a:solidFill>
                  <a:srgbClr val="A8D8FF"/>
                </a:solidFill>
                <a:latin typeface="Consolas" pitchFamily="34" charset="0"/>
                <a:ea typeface="Consolas" pitchFamily="34" charset="-122"/>
                <a:cs typeface="Consolas" pitchFamily="34" charset="-120"/>
              </a:rPr>
              <a:t>    timerAttachInterrupt(s_timer, &amp;onTick, false);     // false: level interrupt</a:t>
            </a:r>
            <a:endParaRPr lang="en-US" sz="1050" dirty="0"/>
          </a:p>
          <a:p>
            <a:pPr indent="0" marL="0">
              <a:lnSpc>
                <a:spcPct val="100000"/>
              </a:lnSpc>
              <a:buNone/>
            </a:pPr>
            <a:r>
              <a:rPr lang="en-US" sz="1050" dirty="0">
                <a:solidFill>
                  <a:srgbClr val="A8D8FF"/>
                </a:solidFill>
                <a:latin typeface="Consolas" pitchFamily="34" charset="0"/>
                <a:ea typeface="Consolas" pitchFamily="34" charset="-122"/>
                <a:cs typeface="Consolas" pitchFamily="34" charset="-120"/>
              </a:rPr>
              <a:t>    timerAlarmWrite(s_timer, ALARM_TICKS, true);       // true: auto-reload, repeat</a:t>
            </a:r>
            <a:endParaRPr lang="en-US" sz="1050" dirty="0"/>
          </a:p>
          <a:p>
            <a:pPr indent="0" marL="0">
              <a:lnSpc>
                <a:spcPct val="100000"/>
              </a:lnSpc>
              <a:buNone/>
            </a:pPr>
            <a:r>
              <a:rPr lang="en-US" sz="1050" dirty="0">
                <a:solidFill>
                  <a:srgbClr val="A8D8FF"/>
                </a:solidFill>
                <a:latin typeface="Consolas" pitchFamily="34" charset="0"/>
                <a:ea typeface="Consolas" pitchFamily="34" charset="-122"/>
                <a:cs typeface="Consolas" pitchFamily="34" charset="-120"/>
              </a:rPr>
              <a:t>    timerAlarmEnable(s_timer);                         // arm: interrupts start now</a:t>
            </a:r>
            <a:endParaRPr lang="en-US" sz="1050" dirty="0"/>
          </a:p>
          <a:p>
            <a:pPr indent="0" marL="0">
              <a:lnSpc>
                <a:spcPct val="100000"/>
              </a:lnSpc>
              <a:buNone/>
            </a:pPr>
            <a:r>
              <a:rPr lang="en-US" sz="1050" dirty="0">
                <a:solidFill>
                  <a:srgbClr val="A8D8FF"/>
                </a:solidFill>
                <a:latin typeface="Consolas" pitchFamily="34" charset="0"/>
                <a:ea typeface="Consolas" pitchFamily="34" charset="-122"/>
                <a:cs typeface="Consolas" pitchFamily="34" charset="-120"/>
              </a:rPr>
              <a:t>}</a:t>
            </a:r>
            <a:endParaRPr lang="en-US" sz="1050" dirty="0"/>
          </a:p>
        </p:txBody>
      </p:sp>
      <p:sp>
        <p:nvSpPr>
          <p:cNvPr id="8" name="Text 6"/>
          <p:cNvSpPr/>
          <p:nvPr/>
        </p:nvSpPr>
        <p:spPr>
          <a:xfrm>
            <a:off x="457200" y="4160520"/>
            <a:ext cx="8229600" cy="256032"/>
          </a:xfrm>
          <a:prstGeom prst="rect">
            <a:avLst/>
          </a:prstGeom>
          <a:noFill/>
          <a:ln/>
        </p:spPr>
        <p:txBody>
          <a:bodyPr wrap="square" rtlCol="0" anchor="ctr"/>
          <a:lstStyle/>
          <a:p>
            <a:pPr algn="ctr" indent="0" marL="0">
              <a:buNone/>
            </a:pPr>
            <a:r>
              <a:rPr lang="en-US" sz="1000" i="1" dirty="0">
                <a:solidFill>
                  <a:srgbClr val="8892B0"/>
                </a:solidFill>
                <a:latin typeface="Calibri" pitchFamily="34" charset="0"/>
                <a:ea typeface="Calibri" pitchFamily="34" charset="-122"/>
                <a:cs typeface="Calibri" pitchFamily="34" charset="-120"/>
              </a:rPr>
              <a:t>onTick is the interrupt service routine. What may go inside it is Part 3.</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Same idea, two APIs</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11  |  Hardware Timers and Interrupts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11</a:t>
            </a:r>
            <a:endParaRPr lang="en-US" sz="900" dirty="0"/>
          </a:p>
        </p:txBody>
      </p:sp>
      <p:pic>
        <p:nvPicPr>
          <p:cNvPr id="6" name="Image 0" descr="preencoded.png">    </p:cNvPr>
          <p:cNvPicPr>
            <a:picLocks noChangeAspect="1"/>
          </p:cNvPicPr>
          <p:nvPr/>
        </p:nvPicPr>
        <p:blipFill>
          <a:blip r:embed="rId1"/>
          <a:stretch>
            <a:fillRect/>
          </a:stretch>
        </p:blipFill>
        <p:spPr>
          <a:xfrm>
            <a:off x="457200" y="1097280"/>
            <a:ext cx="320040" cy="320040"/>
          </a:xfrm>
          <a:prstGeom prst="rect">
            <a:avLst/>
          </a:prstGeom>
        </p:spPr>
      </p:pic>
      <p:sp>
        <p:nvSpPr>
          <p:cNvPr id="7" name="Text 4"/>
          <p:cNvSpPr/>
          <p:nvPr/>
        </p:nvSpPr>
        <p:spPr>
          <a:xfrm>
            <a:off x="868680" y="1097280"/>
            <a:ext cx="3566160" cy="320040"/>
          </a:xfrm>
          <a:prstGeom prst="rect">
            <a:avLst/>
          </a:prstGeom>
          <a:noFill/>
          <a:ln/>
        </p:spPr>
        <p:txBody>
          <a:bodyPr wrap="square" lIns="0" tIns="0" rIns="0" bIns="0" rtlCol="0" anchor="ctr"/>
          <a:lstStyle/>
          <a:p>
            <a:pPr indent="0" marL="0">
              <a:buNone/>
            </a:pPr>
            <a:r>
              <a:rPr lang="en-US" sz="1500" b="1" dirty="0">
                <a:solidFill>
                  <a:srgbClr val="4CAF50"/>
                </a:solidFill>
                <a:latin typeface="Calibri" pitchFamily="34" charset="0"/>
                <a:ea typeface="Calibri" pitchFamily="34" charset="-122"/>
                <a:cs typeface="Calibri" pitchFamily="34" charset="-120"/>
              </a:rPr>
              <a:t>Core 2.x - what PlatformIO gives you</a:t>
            </a:r>
            <a:endParaRPr lang="en-US" sz="1500" dirty="0"/>
          </a:p>
        </p:txBody>
      </p:sp>
      <p:sp>
        <p:nvSpPr>
          <p:cNvPr id="8" name="Shape 5"/>
          <p:cNvSpPr/>
          <p:nvPr/>
        </p:nvSpPr>
        <p:spPr>
          <a:xfrm>
            <a:off x="457200" y="1554480"/>
            <a:ext cx="3977640" cy="1325880"/>
          </a:xfrm>
          <a:prstGeom prst="rect">
            <a:avLst/>
          </a:prstGeom>
          <a:solidFill>
            <a:srgbClr val="0D1117"/>
          </a:solidFill>
          <a:ln w="12700">
            <a:solidFill>
              <a:srgbClr val="3A4A8A"/>
            </a:solidFill>
            <a:prstDash val="solid"/>
          </a:ln>
        </p:spPr>
      </p:sp>
      <p:sp>
        <p:nvSpPr>
          <p:cNvPr id="9" name="Text 6"/>
          <p:cNvSpPr/>
          <p:nvPr/>
        </p:nvSpPr>
        <p:spPr>
          <a:xfrm>
            <a:off x="566928" y="1645920"/>
            <a:ext cx="3758184" cy="1143000"/>
          </a:xfrm>
          <a:prstGeom prst="rect">
            <a:avLst/>
          </a:prstGeom>
          <a:noFill/>
          <a:ln/>
        </p:spPr>
        <p:txBody>
          <a:bodyPr wrap="square" lIns="0" tIns="0" rIns="0" bIns="0" rtlCol="0" anchor="t"/>
          <a:lstStyle/>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t = timerBegin(0, 80, true);</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timerAttachInterrupt(t, &amp;onTick, false);</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timerAlarmWrite(t, 1000, true);</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timerAlarmEnable(t);</a:t>
            </a:r>
            <a:endParaRPr lang="en-US" sz="1100" dirty="0"/>
          </a:p>
        </p:txBody>
      </p:sp>
      <p:pic>
        <p:nvPicPr>
          <p:cNvPr id="10" name="Image 1" descr="preencoded.png">    </p:cNvPr>
          <p:cNvPicPr>
            <a:picLocks noChangeAspect="1"/>
          </p:cNvPicPr>
          <p:nvPr/>
        </p:nvPicPr>
        <p:blipFill>
          <a:blip r:embed="rId2"/>
          <a:stretch>
            <a:fillRect/>
          </a:stretch>
        </p:blipFill>
        <p:spPr>
          <a:xfrm>
            <a:off x="4709160" y="1097280"/>
            <a:ext cx="320040" cy="320040"/>
          </a:xfrm>
          <a:prstGeom prst="rect">
            <a:avLst/>
          </a:prstGeom>
        </p:spPr>
      </p:pic>
      <p:sp>
        <p:nvSpPr>
          <p:cNvPr id="11" name="Text 7"/>
          <p:cNvSpPr/>
          <p:nvPr/>
        </p:nvSpPr>
        <p:spPr>
          <a:xfrm>
            <a:off x="5120640" y="1097280"/>
            <a:ext cx="3566160" cy="320040"/>
          </a:xfrm>
          <a:prstGeom prst="rect">
            <a:avLst/>
          </a:prstGeom>
          <a:noFill/>
          <a:ln/>
        </p:spPr>
        <p:txBody>
          <a:bodyPr wrap="square" lIns="0" tIns="0" rIns="0" bIns="0" rtlCol="0" anchor="ctr"/>
          <a:lstStyle/>
          <a:p>
            <a:pPr indent="0" marL="0">
              <a:buNone/>
            </a:pPr>
            <a:r>
              <a:rPr lang="en-US" sz="1500" b="1" dirty="0">
                <a:solidFill>
                  <a:srgbClr val="FF5252"/>
                </a:solidFill>
                <a:latin typeface="Calibri" pitchFamily="34" charset="0"/>
                <a:ea typeface="Calibri" pitchFamily="34" charset="-122"/>
                <a:cs typeface="Calibri" pitchFamily="34" charset="-120"/>
              </a:rPr>
              <a:t>Core 3.x - what a web search gives you</a:t>
            </a:r>
            <a:endParaRPr lang="en-US" sz="1500" dirty="0"/>
          </a:p>
        </p:txBody>
      </p:sp>
      <p:sp>
        <p:nvSpPr>
          <p:cNvPr id="12" name="Shape 8"/>
          <p:cNvSpPr/>
          <p:nvPr/>
        </p:nvSpPr>
        <p:spPr>
          <a:xfrm>
            <a:off x="4709160" y="1554480"/>
            <a:ext cx="3977640" cy="1325880"/>
          </a:xfrm>
          <a:prstGeom prst="rect">
            <a:avLst/>
          </a:prstGeom>
          <a:solidFill>
            <a:srgbClr val="0D1117"/>
          </a:solidFill>
          <a:ln w="12700">
            <a:solidFill>
              <a:srgbClr val="3A4A8A"/>
            </a:solidFill>
            <a:prstDash val="solid"/>
          </a:ln>
        </p:spPr>
      </p:sp>
      <p:sp>
        <p:nvSpPr>
          <p:cNvPr id="13" name="Text 9"/>
          <p:cNvSpPr/>
          <p:nvPr/>
        </p:nvSpPr>
        <p:spPr>
          <a:xfrm>
            <a:off x="4818888" y="1645920"/>
            <a:ext cx="3758184" cy="1143000"/>
          </a:xfrm>
          <a:prstGeom prst="rect">
            <a:avLst/>
          </a:prstGeom>
          <a:noFill/>
          <a:ln/>
        </p:spPr>
        <p:txBody>
          <a:bodyPr wrap="square" lIns="0" tIns="0" rIns="0" bIns="0" rtlCol="0" anchor="t"/>
          <a:lstStyle/>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t = timerBegin(1000000);   // Hz</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timerAttachInterrupt(t, &amp;onTick);</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timerAlarm(t, 1000, true, 0);</a:t>
            </a:r>
            <a:endParaRPr lang="en-US" sz="1100" dirty="0"/>
          </a:p>
        </p:txBody>
      </p:sp>
      <p:sp>
        <p:nvSpPr>
          <p:cNvPr id="14" name="Shape 10"/>
          <p:cNvSpPr/>
          <p:nvPr/>
        </p:nvSpPr>
        <p:spPr>
          <a:xfrm>
            <a:off x="457200" y="3200400"/>
            <a:ext cx="8229600" cy="914400"/>
          </a:xfrm>
          <a:prstGeom prst="rect">
            <a:avLst/>
          </a:prstGeom>
          <a:solidFill>
            <a:srgbClr val="253270"/>
          </a:solidFill>
          <a:ln w="12700">
            <a:solidFill>
              <a:srgbClr val="FFB300"/>
            </a:solidFill>
            <a:prstDash val="solid"/>
          </a:ln>
        </p:spPr>
      </p:sp>
      <p:sp>
        <p:nvSpPr>
          <p:cNvPr id="15" name="Shape 11"/>
          <p:cNvSpPr/>
          <p:nvPr/>
        </p:nvSpPr>
        <p:spPr>
          <a:xfrm>
            <a:off x="457200" y="3200400"/>
            <a:ext cx="64008" cy="914400"/>
          </a:xfrm>
          <a:prstGeom prst="rect">
            <a:avLst/>
          </a:prstGeom>
          <a:solidFill>
            <a:srgbClr val="FFB300"/>
          </a:solidFill>
          <a:ln/>
        </p:spPr>
      </p:sp>
      <p:sp>
        <p:nvSpPr>
          <p:cNvPr id="16" name="Text 12"/>
          <p:cNvSpPr/>
          <p:nvPr/>
        </p:nvSpPr>
        <p:spPr>
          <a:xfrm>
            <a:off x="685800" y="3273552"/>
            <a:ext cx="7863840" cy="274320"/>
          </a:xfrm>
          <a:prstGeom prst="rect">
            <a:avLst/>
          </a:prstGeom>
          <a:noFill/>
          <a:ln/>
        </p:spPr>
        <p:txBody>
          <a:bodyPr wrap="square" lIns="0" tIns="0" rIns="0" bIns="0" rtlCol="0" anchor="ctr"/>
          <a:lstStyle/>
          <a:p>
            <a:pPr indent="0" marL="0">
              <a:buNone/>
            </a:pPr>
            <a:r>
              <a:rPr lang="en-US" sz="1300" b="1" dirty="0">
                <a:solidFill>
                  <a:srgbClr val="FFB300"/>
                </a:solidFill>
                <a:latin typeface="Trebuchet MS" pitchFamily="34" charset="0"/>
                <a:ea typeface="Trebuchet MS" pitchFamily="34" charset="-122"/>
                <a:cs typeface="Trebuchet MS" pitchFamily="34" charset="-120"/>
              </a:rPr>
              <a:t>How to tell them apart</a:t>
            </a:r>
            <a:endParaRPr lang="en-US" sz="1300" dirty="0"/>
          </a:p>
        </p:txBody>
      </p:sp>
      <p:sp>
        <p:nvSpPr>
          <p:cNvPr id="17" name="Text 13"/>
          <p:cNvSpPr/>
          <p:nvPr/>
        </p:nvSpPr>
        <p:spPr>
          <a:xfrm>
            <a:off x="685800" y="3547872"/>
            <a:ext cx="7863840" cy="50292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timerBegin with one argument, or any call to timerAlarm(): that example is core 3.x and will not compile here. Translate it, do not paste it. Same trap as ledcAttach.</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B3D"/>
        </a:solidFill>
      </p:bgPr>
    </p:bg>
    <p:spTree>
      <p:nvGrpSpPr>
        <p:cNvPr id="1" name=""/>
        <p:cNvGrpSpPr/>
        <p:nvPr/>
      </p:nvGrpSpPr>
      <p:grpSpPr>
        <a:xfrm>
          <a:off x="0" y="0"/>
          <a:ext cx="0" cy="0"/>
          <a:chOff x="0" y="0"/>
          <a:chExt cx="0" cy="0"/>
        </a:xfrm>
      </p:grpSpPr>
      <p:sp>
        <p:nvSpPr>
          <p:cNvPr id="2" name="Shape 0"/>
          <p:cNvSpPr/>
          <p:nvPr/>
        </p:nvSpPr>
        <p:spPr>
          <a:xfrm>
            <a:off x="0" y="2148840"/>
            <a:ext cx="822960" cy="54864"/>
          </a:xfrm>
          <a:prstGeom prst="rect">
            <a:avLst/>
          </a:prstGeom>
          <a:solidFill>
            <a:srgbClr val="FFB300"/>
          </a:solidFill>
          <a:ln/>
        </p:spPr>
      </p:sp>
      <p:sp>
        <p:nvSpPr>
          <p:cNvPr id="3" name="Text 1"/>
          <p:cNvSpPr/>
          <p:nvPr/>
        </p:nvSpPr>
        <p:spPr>
          <a:xfrm>
            <a:off x="1097280" y="1874520"/>
            <a:ext cx="7315200" cy="365760"/>
          </a:xfrm>
          <a:prstGeom prst="rect">
            <a:avLst/>
          </a:prstGeom>
          <a:noFill/>
          <a:ln/>
        </p:spPr>
        <p:txBody>
          <a:bodyPr wrap="square" lIns="0" tIns="0" rIns="0" bIns="0" rtlCol="0" anchor="ctr"/>
          <a:lstStyle/>
          <a:p>
            <a:pPr indent="0" marL="0">
              <a:buNone/>
            </a:pPr>
            <a:r>
              <a:rPr lang="en-US" sz="1300" b="1" spc="200" kern="0" dirty="0">
                <a:solidFill>
                  <a:srgbClr val="FFB300"/>
                </a:solidFill>
                <a:latin typeface="Calibri" pitchFamily="34" charset="0"/>
                <a:ea typeface="Calibri" pitchFamily="34" charset="-122"/>
                <a:cs typeface="Calibri" pitchFamily="34" charset="-120"/>
              </a:rPr>
              <a:t>PART 3</a:t>
            </a:r>
            <a:endParaRPr lang="en-US" sz="1300" dirty="0"/>
          </a:p>
        </p:txBody>
      </p:sp>
      <p:sp>
        <p:nvSpPr>
          <p:cNvPr id="4" name="Text 2"/>
          <p:cNvSpPr/>
          <p:nvPr/>
        </p:nvSpPr>
        <p:spPr>
          <a:xfrm>
            <a:off x="1097280" y="2240280"/>
            <a:ext cx="7315200" cy="822960"/>
          </a:xfrm>
          <a:prstGeom prst="rect">
            <a:avLst/>
          </a:prstGeom>
          <a:noFill/>
          <a:ln/>
        </p:spPr>
        <p:txBody>
          <a:bodyPr wrap="square" lIns="0" tIns="0" rIns="0" bIns="0"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ISR discipline</a:t>
            </a:r>
            <a:endParaRPr lang="en-US" sz="3400" dirty="0"/>
          </a:p>
        </p:txBody>
      </p:sp>
      <p:sp>
        <p:nvSpPr>
          <p:cNvPr id="5" name="Text 3"/>
          <p:cNvSpPr/>
          <p:nvPr/>
        </p:nvSpPr>
        <p:spPr>
          <a:xfrm>
            <a:off x="1097280" y="3063240"/>
            <a:ext cx="7315200" cy="457200"/>
          </a:xfrm>
          <a:prstGeom prst="rect">
            <a:avLst/>
          </a:prstGeom>
          <a:noFill/>
          <a:ln/>
        </p:spPr>
        <p:txBody>
          <a:bodyPr wrap="square" lIns="0" tIns="0" rIns="0" bIns="0" rtlCol="0" anchor="ctr"/>
          <a:lstStyle/>
          <a:p>
            <a:pPr indent="0" marL="0">
              <a:buNone/>
            </a:pPr>
            <a:r>
              <a:rPr lang="en-US" sz="1400" dirty="0">
                <a:solidFill>
                  <a:srgbClr val="8892B0"/>
                </a:solidFill>
                <a:latin typeface="Calibri" pitchFamily="34" charset="0"/>
                <a:ea typeface="Calibri" pitchFamily="34" charset="-122"/>
                <a:cs typeface="Calibri" pitchFamily="34" charset="-120"/>
              </a:rPr>
              <a:t>What may and may not run in an interrupt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Rules for an ISR</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11  |  Hardware Timers and Interrupts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457200" y="1097280"/>
            <a:ext cx="3977640" cy="2697480"/>
          </a:xfrm>
          <a:prstGeom prst="rect">
            <a:avLst/>
          </a:prstGeom>
          <a:solidFill>
            <a:srgbClr val="253270"/>
          </a:solidFill>
          <a:ln w="25400">
            <a:solidFill>
              <a:srgbClr val="4CAF50"/>
            </a:solidFill>
            <a:prstDash val="solid"/>
          </a:ln>
          <a:effectLst>
            <a:outerShdw sx="100000" sy="100000" kx="0" ky="0" algn="bl" rotWithShape="0" blurRad="50800" dist="25400" dir="8100000">
              <a:srgbClr val="000000">
                <a:alpha val="25000"/>
              </a:srgbClr>
            </a:outerShdw>
          </a:effectLst>
        </p:spPr>
      </p:sp>
      <p:pic>
        <p:nvPicPr>
          <p:cNvPr id="7" name="Image 0" descr="preencoded.png">    </p:cNvPr>
          <p:cNvPicPr>
            <a:picLocks noChangeAspect="1"/>
          </p:cNvPicPr>
          <p:nvPr/>
        </p:nvPicPr>
        <p:blipFill>
          <a:blip r:embed="rId1"/>
          <a:stretch>
            <a:fillRect/>
          </a:stretch>
        </p:blipFill>
        <p:spPr>
          <a:xfrm>
            <a:off x="685800" y="1280160"/>
            <a:ext cx="365760" cy="365760"/>
          </a:xfrm>
          <a:prstGeom prst="rect">
            <a:avLst/>
          </a:prstGeom>
        </p:spPr>
      </p:pic>
      <p:sp>
        <p:nvSpPr>
          <p:cNvPr id="8" name="Text 5"/>
          <p:cNvSpPr/>
          <p:nvPr/>
        </p:nvSpPr>
        <p:spPr>
          <a:xfrm>
            <a:off x="1188720" y="1280160"/>
            <a:ext cx="3063240" cy="365760"/>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Do</a:t>
            </a:r>
            <a:endParaRPr lang="en-US" sz="1800" dirty="0"/>
          </a:p>
        </p:txBody>
      </p:sp>
      <p:sp>
        <p:nvSpPr>
          <p:cNvPr id="9" name="Text 6"/>
          <p:cNvSpPr/>
          <p:nvPr/>
        </p:nvSpPr>
        <p:spPr>
          <a:xfrm>
            <a:off x="685800" y="1783080"/>
            <a:ext cx="3611880" cy="1920240"/>
          </a:xfrm>
          <a:prstGeom prst="rect">
            <a:avLst/>
          </a:prstGeom>
          <a:noFill/>
          <a:ln/>
        </p:spPr>
        <p:txBody>
          <a:bodyPr wrap="square" rtlCol="0" anchor="t"/>
          <a:lstStyle/>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Keep it to a few microseconds</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Mark it IRAM_ATTR</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Make shared variables volatile</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Record a value or set a flag</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Leave the real work to loop()</a:t>
            </a:r>
            <a:endParaRPr lang="en-US" sz="1500" dirty="0"/>
          </a:p>
        </p:txBody>
      </p:sp>
      <p:sp>
        <p:nvSpPr>
          <p:cNvPr id="10" name="Shape 7"/>
          <p:cNvSpPr/>
          <p:nvPr/>
        </p:nvSpPr>
        <p:spPr>
          <a:xfrm>
            <a:off x="4709160" y="1097280"/>
            <a:ext cx="3977640" cy="2697480"/>
          </a:xfrm>
          <a:prstGeom prst="rect">
            <a:avLst/>
          </a:prstGeom>
          <a:solidFill>
            <a:srgbClr val="253270"/>
          </a:solidFill>
          <a:ln w="25400">
            <a:solidFill>
              <a:srgbClr val="FF5252"/>
            </a:solidFill>
            <a:prstDash val="solid"/>
          </a:ln>
          <a:effectLst>
            <a:outerShdw sx="100000" sy="100000" kx="0" ky="0" algn="bl" rotWithShape="0" blurRad="50800" dist="25400" dir="8100000">
              <a:srgbClr val="000000">
                <a:alpha val="25000"/>
              </a:srgbClr>
            </a:outerShdw>
          </a:effectLst>
        </p:spPr>
      </p:sp>
      <p:pic>
        <p:nvPicPr>
          <p:cNvPr id="11" name="Image 1" descr="preencoded.png">    </p:cNvPr>
          <p:cNvPicPr>
            <a:picLocks noChangeAspect="1"/>
          </p:cNvPicPr>
          <p:nvPr/>
        </p:nvPicPr>
        <p:blipFill>
          <a:blip r:embed="rId2"/>
          <a:stretch>
            <a:fillRect/>
          </a:stretch>
        </p:blipFill>
        <p:spPr>
          <a:xfrm>
            <a:off x="4937760" y="1280160"/>
            <a:ext cx="365760" cy="365760"/>
          </a:xfrm>
          <a:prstGeom prst="rect">
            <a:avLst/>
          </a:prstGeom>
        </p:spPr>
      </p:pic>
      <p:sp>
        <p:nvSpPr>
          <p:cNvPr id="12" name="Text 8"/>
          <p:cNvSpPr/>
          <p:nvPr/>
        </p:nvSpPr>
        <p:spPr>
          <a:xfrm>
            <a:off x="5440680" y="1280160"/>
            <a:ext cx="3063240" cy="365760"/>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Do not</a:t>
            </a:r>
            <a:endParaRPr lang="en-US" sz="1800" dirty="0"/>
          </a:p>
        </p:txBody>
      </p:sp>
      <p:sp>
        <p:nvSpPr>
          <p:cNvPr id="13" name="Text 9"/>
          <p:cNvSpPr/>
          <p:nvPr/>
        </p:nvSpPr>
        <p:spPr>
          <a:xfrm>
            <a:off x="4937760" y="1783080"/>
            <a:ext cx="3611880" cy="1920240"/>
          </a:xfrm>
          <a:prstGeom prst="rect">
            <a:avLst/>
          </a:prstGeom>
          <a:noFill/>
          <a:ln/>
        </p:spPr>
        <p:txBody>
          <a:bodyPr wrap="square" rtlCol="0" anchor="t"/>
          <a:lstStyle/>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Serial.print or printf</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delay() or long loops</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new, malloc, String</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analogRead()</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Anything that waits for something else</a:t>
            </a:r>
            <a:endParaRPr lang="en-US" sz="1500" dirty="0"/>
          </a:p>
        </p:txBody>
      </p:sp>
      <p:sp>
        <p:nvSpPr>
          <p:cNvPr id="14" name="Text 10"/>
          <p:cNvSpPr/>
          <p:nvPr/>
        </p:nvSpPr>
        <p:spPr>
          <a:xfrm>
            <a:off x="457200" y="3977640"/>
            <a:ext cx="8229600" cy="548640"/>
          </a:xfrm>
          <a:prstGeom prst="rect">
            <a:avLst/>
          </a:prstGeom>
          <a:noFill/>
          <a:ln/>
        </p:spPr>
        <p:txBody>
          <a:bodyPr wrap="square" lIns="0" tIns="0" rIns="0" bIns="0" rtlCol="0" anchor="t"/>
          <a:lstStyle/>
          <a:p>
            <a:pPr indent="0" marL="0">
              <a:buNone/>
            </a:pPr>
            <a:r>
              <a:rPr lang="en-US" sz="1400" i="1" dirty="0">
                <a:solidFill>
                  <a:srgbClr val="CADCFC"/>
                </a:solidFill>
                <a:latin typeface="Calibri" pitchFamily="34" charset="0"/>
                <a:ea typeface="Calibri" pitchFamily="34" charset="-122"/>
                <a:cs typeface="Calibri" pitchFamily="34" charset="-120"/>
              </a:rPr>
              <a:t>An ISR stops everything else. Every microsecond inside it is a microsecond that loop() and every other interrupt wait.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Flag pattern: the ISR signals, loop() works</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11  |  Hardware Timers and Interrupts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457200" y="1051560"/>
            <a:ext cx="4480560" cy="3429000"/>
          </a:xfrm>
          <a:prstGeom prst="rect">
            <a:avLst/>
          </a:prstGeom>
          <a:solidFill>
            <a:srgbClr val="0D1117"/>
          </a:solidFill>
          <a:ln w="12700">
            <a:solidFill>
              <a:srgbClr val="3A4A8A"/>
            </a:solidFill>
            <a:prstDash val="solid"/>
          </a:ln>
        </p:spPr>
      </p:sp>
      <p:sp>
        <p:nvSpPr>
          <p:cNvPr id="7" name="Text 5"/>
          <p:cNvSpPr/>
          <p:nvPr/>
        </p:nvSpPr>
        <p:spPr>
          <a:xfrm>
            <a:off x="566928" y="1143000"/>
            <a:ext cx="4261104" cy="3246120"/>
          </a:xfrm>
          <a:prstGeom prst="rect">
            <a:avLst/>
          </a:prstGeom>
          <a:noFill/>
          <a:ln/>
        </p:spPr>
        <p:txBody>
          <a:bodyPr wrap="square" lIns="0" tIns="0" rIns="0" bIns="0" rtlCol="0" anchor="t"/>
          <a:lstStyle/>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volatile bool g_tickFlag = false;</a:t>
            </a:r>
            <a:endParaRPr lang="en-US" sz="1100" dirty="0"/>
          </a:p>
          <a:p>
            <a:pPr indent="0" marL="0">
              <a:lnSpc>
                <a:spcPct val="100000"/>
              </a:lnSpc>
              <a:buNone/>
            </a:pP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void IRAM_ATTR onTick() {</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    g_tickFlag = true;   // signal only</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a:t>
            </a:r>
            <a:endParaRPr lang="en-US" sz="1100" dirty="0"/>
          </a:p>
          <a:p>
            <a:pPr indent="0" marL="0">
              <a:lnSpc>
                <a:spcPct val="100000"/>
              </a:lnSpc>
              <a:buNone/>
            </a:pP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void loop() {</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    if (g_tickFlag) {</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        g_tickFlag = false;</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        doTheWork();     // Serial OK here</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    }</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a:t>
            </a:r>
            <a:endParaRPr lang="en-US" sz="1100" dirty="0"/>
          </a:p>
        </p:txBody>
      </p:sp>
      <p:sp>
        <p:nvSpPr>
          <p:cNvPr id="8" name="Text 6"/>
          <p:cNvSpPr/>
          <p:nvPr/>
        </p:nvSpPr>
        <p:spPr>
          <a:xfrm>
            <a:off x="5257800" y="1051560"/>
            <a:ext cx="3429000" cy="3291840"/>
          </a:xfrm>
          <a:prstGeom prst="rect">
            <a:avLst/>
          </a:prstGeom>
          <a:noFill/>
          <a:ln/>
        </p:spPr>
        <p:txBody>
          <a:bodyPr wrap="square" rtlCol="0" anchor="t"/>
          <a:lstStyle/>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The ISR only records that it happened</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loop() does the work at its own pace, with every function allowed</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If loop() is slower than the timer, several ticks fold into one flag. A counter instead of a bool tells you how many.</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B3D"/>
        </a:solidFill>
      </p:bgPr>
    </p:bg>
    <p:spTree>
      <p:nvGrpSpPr>
        <p:cNvPr id="1" name=""/>
        <p:cNvGrpSpPr/>
        <p:nvPr/>
      </p:nvGrpSpPr>
      <p:grpSpPr>
        <a:xfrm>
          <a:off x="0" y="0"/>
          <a:ext cx="0" cy="0"/>
          <a:chOff x="0" y="0"/>
          <a:chExt cx="0" cy="0"/>
        </a:xfrm>
      </p:grpSpPr>
      <p:sp>
        <p:nvSpPr>
          <p:cNvPr id="2" name="Shape 0"/>
          <p:cNvSpPr/>
          <p:nvPr/>
        </p:nvSpPr>
        <p:spPr>
          <a:xfrm>
            <a:off x="0" y="2148840"/>
            <a:ext cx="822960" cy="54864"/>
          </a:xfrm>
          <a:prstGeom prst="rect">
            <a:avLst/>
          </a:prstGeom>
          <a:solidFill>
            <a:srgbClr val="FFB300"/>
          </a:solidFill>
          <a:ln/>
        </p:spPr>
      </p:sp>
      <p:sp>
        <p:nvSpPr>
          <p:cNvPr id="3" name="Text 1"/>
          <p:cNvSpPr/>
          <p:nvPr/>
        </p:nvSpPr>
        <p:spPr>
          <a:xfrm>
            <a:off x="1097280" y="1874520"/>
            <a:ext cx="7315200" cy="365760"/>
          </a:xfrm>
          <a:prstGeom prst="rect">
            <a:avLst/>
          </a:prstGeom>
          <a:noFill/>
          <a:ln/>
        </p:spPr>
        <p:txBody>
          <a:bodyPr wrap="square" lIns="0" tIns="0" rIns="0" bIns="0" rtlCol="0" anchor="ctr"/>
          <a:lstStyle/>
          <a:p>
            <a:pPr indent="0" marL="0">
              <a:buNone/>
            </a:pPr>
            <a:r>
              <a:rPr lang="en-US" sz="1300" b="1" spc="200" kern="0" dirty="0">
                <a:solidFill>
                  <a:srgbClr val="FFB300"/>
                </a:solidFill>
                <a:latin typeface="Calibri" pitchFamily="34" charset="0"/>
                <a:ea typeface="Calibri" pitchFamily="34" charset="-122"/>
                <a:cs typeface="Calibri" pitchFamily="34" charset="-120"/>
              </a:rPr>
              <a:t>PART 4</a:t>
            </a:r>
            <a:endParaRPr lang="en-US" sz="1300" dirty="0"/>
          </a:p>
        </p:txBody>
      </p:sp>
      <p:sp>
        <p:nvSpPr>
          <p:cNvPr id="4" name="Text 2"/>
          <p:cNvSpPr/>
          <p:nvPr/>
        </p:nvSpPr>
        <p:spPr>
          <a:xfrm>
            <a:off x="1097280" y="2240280"/>
            <a:ext cx="7315200" cy="822960"/>
          </a:xfrm>
          <a:prstGeom prst="rect">
            <a:avLst/>
          </a:prstGeom>
          <a:noFill/>
          <a:ln/>
        </p:spPr>
        <p:txBody>
          <a:bodyPr wrap="square" lIns="0" tIns="0" rIns="0" bIns="0"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Measuring and sharing data</a:t>
            </a:r>
            <a:endParaRPr lang="en-US" sz="3400" dirty="0"/>
          </a:p>
        </p:txBody>
      </p:sp>
      <p:sp>
        <p:nvSpPr>
          <p:cNvPr id="5" name="Text 3"/>
          <p:cNvSpPr/>
          <p:nvPr/>
        </p:nvSpPr>
        <p:spPr>
          <a:xfrm>
            <a:off x="1097280" y="3063240"/>
            <a:ext cx="7315200" cy="457200"/>
          </a:xfrm>
          <a:prstGeom prst="rect">
            <a:avLst/>
          </a:prstGeom>
          <a:noFill/>
          <a:ln/>
        </p:spPr>
        <p:txBody>
          <a:bodyPr wrap="square" lIns="0" tIns="0" rIns="0" bIns="0" rtlCol="0" anchor="ctr"/>
          <a:lstStyle/>
          <a:p>
            <a:pPr indent="0" marL="0">
              <a:buNone/>
            </a:pPr>
            <a:r>
              <a:rPr lang="en-US" sz="1400" dirty="0">
                <a:solidFill>
                  <a:srgbClr val="8892B0"/>
                </a:solidFill>
                <a:latin typeface="Calibri" pitchFamily="34" charset="0"/>
                <a:ea typeface="Calibri" pitchFamily="34" charset="-122"/>
                <a:cs typeface="Calibri" pitchFamily="34" charset="-120"/>
              </a:rPr>
              <a:t>Jitter in numbers, and reading it safely</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Let the chip time itself</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11  |  Hardware Timers and Interrupts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457200" y="1051560"/>
            <a:ext cx="4480560" cy="3429000"/>
          </a:xfrm>
          <a:prstGeom prst="rect">
            <a:avLst/>
          </a:prstGeom>
          <a:solidFill>
            <a:srgbClr val="0D1117"/>
          </a:solidFill>
          <a:ln w="12700">
            <a:solidFill>
              <a:srgbClr val="3A4A8A"/>
            </a:solidFill>
            <a:prstDash val="solid"/>
          </a:ln>
        </p:spPr>
      </p:sp>
      <p:sp>
        <p:nvSpPr>
          <p:cNvPr id="7" name="Text 5"/>
          <p:cNvSpPr/>
          <p:nvPr/>
        </p:nvSpPr>
        <p:spPr>
          <a:xfrm>
            <a:off x="566928" y="1143000"/>
            <a:ext cx="4261104" cy="3246120"/>
          </a:xfrm>
          <a:prstGeom prst="rect">
            <a:avLst/>
          </a:prstGeom>
          <a:noFill/>
          <a:ln/>
        </p:spPr>
        <p:txBody>
          <a:bodyPr wrap="square" lIns="0" tIns="0" rIns="0" bIns="0" rtlCol="0" anchor="t"/>
          <a:lstStyle/>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volatile uint32_t g_lastUs = 0U;</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volatile uint32_t g_minUs  = UINT32_MAX;</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volatile uint32_t g_maxUs  = 0U;</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volatile uint32_t g_count  = 0U;</a:t>
            </a:r>
            <a:endParaRPr lang="en-US" sz="1000" dirty="0"/>
          </a:p>
          <a:p>
            <a:pPr indent="0" marL="0">
              <a:lnSpc>
                <a:spcPct val="100000"/>
              </a:lnSpc>
              <a:buNone/>
            </a:pP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void IRAM_ATTR onTick() {</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    const uint32_t now = micros();</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    const uint32_t dt  = now - g_lastUs;</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    g_lastUs = now;</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    if (dt &lt; g_minUs) { g_minUs = dt; }</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    if (dt &gt; g_maxUs) { g_maxUs = dt; }</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    g_count++;</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a:t>
            </a:r>
            <a:endParaRPr lang="en-US" sz="1000" dirty="0"/>
          </a:p>
        </p:txBody>
      </p:sp>
      <p:sp>
        <p:nvSpPr>
          <p:cNvPr id="8" name="Shape 6"/>
          <p:cNvSpPr/>
          <p:nvPr/>
        </p:nvSpPr>
        <p:spPr>
          <a:xfrm>
            <a:off x="5257800" y="1051560"/>
            <a:ext cx="3429000" cy="685800"/>
          </a:xfrm>
          <a:prstGeom prst="rect">
            <a:avLst/>
          </a:prstGeom>
          <a:solidFill>
            <a:srgbClr val="253270"/>
          </a:solidFill>
          <a:ln w="25400">
            <a:solidFill>
              <a:srgbClr val="CADCFC"/>
            </a:solidFill>
            <a:prstDash val="solid"/>
          </a:ln>
          <a:effectLst>
            <a:outerShdw sx="100000" sy="100000" kx="0" ky="0" algn="bl" rotWithShape="0" blurRad="50800" dist="25400" dir="8100000">
              <a:srgbClr val="000000">
                <a:alpha val="25000"/>
              </a:srgbClr>
            </a:outerShdw>
          </a:effectLst>
        </p:spPr>
      </p:sp>
      <p:sp>
        <p:nvSpPr>
          <p:cNvPr id="9" name="Text 7"/>
          <p:cNvSpPr/>
          <p:nvPr/>
        </p:nvSpPr>
        <p:spPr>
          <a:xfrm>
            <a:off x="5257800" y="1051560"/>
            <a:ext cx="3429000" cy="685800"/>
          </a:xfrm>
          <a:prstGeom prst="rect">
            <a:avLst/>
          </a:prstGeom>
          <a:noFill/>
          <a:ln/>
        </p:spPr>
        <p:txBody>
          <a:bodyPr wrap="square" lIns="0" tIns="0" rIns="0" bIns="0" rtlCol="0" anchor="ctr"/>
          <a:lstStyle/>
          <a:p>
            <a:pPr algn="ctr" indent="0" marL="0">
              <a:buNone/>
            </a:pPr>
            <a:r>
              <a:rPr lang="en-US" sz="2000" dirty="0">
                <a:solidFill>
                  <a:srgbClr val="FFFFFF"/>
                </a:solidFill>
                <a:latin typeface="Consolas" pitchFamily="34" charset="0"/>
                <a:ea typeface="Consolas" pitchFamily="34" charset="-122"/>
                <a:cs typeface="Consolas" pitchFamily="34" charset="-120"/>
              </a:rPr>
              <a:t>jitter = max - min</a:t>
            </a:r>
            <a:endParaRPr lang="en-US" sz="2000" dirty="0"/>
          </a:p>
        </p:txBody>
      </p:sp>
      <p:sp>
        <p:nvSpPr>
          <p:cNvPr id="10" name="Text 8"/>
          <p:cNvSpPr/>
          <p:nvPr/>
        </p:nvSpPr>
        <p:spPr>
          <a:xfrm>
            <a:off x="5257800" y="1874520"/>
            <a:ext cx="3429000" cy="1737360"/>
          </a:xfrm>
          <a:prstGeom prst="rect">
            <a:avLst/>
          </a:prstGeom>
          <a:noFill/>
          <a:ln/>
        </p:spPr>
        <p:txBody>
          <a:bodyPr wrap="square" rtlCol="0" anchor="t"/>
          <a:lstStyle/>
          <a:p>
            <a:pPr marL="342900" indent="-342900">
              <a:lnSpc>
                <a:spcPct val="135000"/>
              </a:lnSpc>
              <a:buSzPct val="100000"/>
              <a:buChar char="■"/>
            </a:pPr>
            <a:r>
              <a:rPr lang="en-US" sz="1400" dirty="0">
                <a:solidFill>
                  <a:srgbClr val="CADCFC"/>
                </a:solidFill>
                <a:latin typeface="Calibri" pitchFamily="34" charset="0"/>
                <a:ea typeface="Calibri" pitchFamily="34" charset="-122"/>
                <a:cs typeface="Calibri" pitchFamily="34" charset="-120"/>
              </a:rPr>
              <a:t>Target: 1000 us between ticks</a:t>
            </a:r>
            <a:endParaRPr lang="en-US" sz="1400" dirty="0"/>
          </a:p>
          <a:p>
            <a:pPr marL="342900" indent="-342900">
              <a:lnSpc>
                <a:spcPct val="135000"/>
              </a:lnSpc>
              <a:buSzPct val="100000"/>
              <a:buChar char="■"/>
            </a:pPr>
            <a:r>
              <a:rPr lang="en-US" sz="1400" dirty="0">
                <a:solidFill>
                  <a:srgbClr val="CADCFC"/>
                </a:solidFill>
                <a:latin typeface="Calibri" pitchFamily="34" charset="0"/>
                <a:ea typeface="Calibri" pitchFamily="34" charset="-122"/>
                <a:cs typeface="Calibri" pitchFamily="34" charset="-120"/>
              </a:rPr>
              <a:t>min and max: how far the real interval strays</a:t>
            </a:r>
            <a:endParaRPr lang="en-US" sz="1400" dirty="0"/>
          </a:p>
          <a:p>
            <a:pPr marL="342900" indent="-342900">
              <a:lnSpc>
                <a:spcPct val="135000"/>
              </a:lnSpc>
              <a:buSzPct val="100000"/>
              <a:buChar char="■"/>
            </a:pPr>
            <a:r>
              <a:rPr lang="en-US" sz="1400" dirty="0">
                <a:solidFill>
                  <a:srgbClr val="CADCFC"/>
                </a:solidFill>
                <a:latin typeface="Calibri" pitchFamily="34" charset="0"/>
                <a:ea typeface="Calibri" pitchFamily="34" charset="-122"/>
                <a:cs typeface="Calibri" pitchFamily="34" charset="-120"/>
              </a:rPr>
              <a:t>Unsigned subtraction survives the micros() wrap (about 71 min)</a:t>
            </a:r>
            <a:endParaRPr lang="en-US" sz="1400" dirty="0"/>
          </a:p>
        </p:txBody>
      </p:sp>
      <p:sp>
        <p:nvSpPr>
          <p:cNvPr id="11" name="Shape 9"/>
          <p:cNvSpPr/>
          <p:nvPr/>
        </p:nvSpPr>
        <p:spPr>
          <a:xfrm>
            <a:off x="5257800" y="3703320"/>
            <a:ext cx="3429000" cy="822960"/>
          </a:xfrm>
          <a:prstGeom prst="rect">
            <a:avLst/>
          </a:prstGeom>
          <a:solidFill>
            <a:srgbClr val="253270"/>
          </a:solidFill>
          <a:ln w="12700">
            <a:solidFill>
              <a:srgbClr val="FFB300"/>
            </a:solidFill>
            <a:prstDash val="solid"/>
          </a:ln>
        </p:spPr>
      </p:sp>
      <p:sp>
        <p:nvSpPr>
          <p:cNvPr id="12" name="Shape 10"/>
          <p:cNvSpPr/>
          <p:nvPr/>
        </p:nvSpPr>
        <p:spPr>
          <a:xfrm>
            <a:off x="5257800" y="3703320"/>
            <a:ext cx="64008" cy="822960"/>
          </a:xfrm>
          <a:prstGeom prst="rect">
            <a:avLst/>
          </a:prstGeom>
          <a:solidFill>
            <a:srgbClr val="FFB300"/>
          </a:solidFill>
          <a:ln/>
        </p:spPr>
      </p:sp>
      <p:sp>
        <p:nvSpPr>
          <p:cNvPr id="13" name="Text 11"/>
          <p:cNvSpPr/>
          <p:nvPr/>
        </p:nvSpPr>
        <p:spPr>
          <a:xfrm>
            <a:off x="5486400" y="3776472"/>
            <a:ext cx="3063240" cy="274320"/>
          </a:xfrm>
          <a:prstGeom prst="rect">
            <a:avLst/>
          </a:prstGeom>
          <a:noFill/>
          <a:ln/>
        </p:spPr>
        <p:txBody>
          <a:bodyPr wrap="square" lIns="0" tIns="0" rIns="0" bIns="0" rtlCol="0" anchor="ctr"/>
          <a:lstStyle/>
          <a:p>
            <a:pPr indent="0" marL="0">
              <a:buNone/>
            </a:pPr>
            <a:r>
              <a:rPr lang="en-US" sz="1300" b="1" dirty="0">
                <a:solidFill>
                  <a:srgbClr val="FFB300"/>
                </a:solidFill>
                <a:latin typeface="Trebuchet MS" pitchFamily="34" charset="0"/>
                <a:ea typeface="Trebuchet MS" pitchFamily="34" charset="-122"/>
                <a:cs typeface="Trebuchet MS" pitchFamily="34" charset="-120"/>
              </a:rPr>
              <a:t>Question</a:t>
            </a:r>
            <a:endParaRPr lang="en-US" sz="1300" dirty="0"/>
          </a:p>
        </p:txBody>
      </p:sp>
      <p:sp>
        <p:nvSpPr>
          <p:cNvPr id="14" name="Text 12"/>
          <p:cNvSpPr/>
          <p:nvPr/>
        </p:nvSpPr>
        <p:spPr>
          <a:xfrm>
            <a:off x="5486400" y="4050792"/>
            <a:ext cx="3063240" cy="41148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The first report after reset shows a huge max. Why?</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The snapshot problem</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11  |  Hardware Timers and Interrupts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17</a:t>
            </a:r>
            <a:endParaRPr lang="en-US" sz="900" dirty="0"/>
          </a:p>
        </p:txBody>
      </p:sp>
      <p:sp>
        <p:nvSpPr>
          <p:cNvPr id="6" name="Text 4"/>
          <p:cNvSpPr/>
          <p:nvPr/>
        </p:nvSpPr>
        <p:spPr>
          <a:xfrm>
            <a:off x="457200" y="1965960"/>
            <a:ext cx="3657600" cy="320040"/>
          </a:xfrm>
          <a:prstGeom prst="rect">
            <a:avLst/>
          </a:prstGeom>
          <a:noFill/>
          <a:ln/>
        </p:spPr>
        <p:txBody>
          <a:bodyPr wrap="square" lIns="0" tIns="0" rIns="0" bIns="0" rtlCol="0" anchor="t"/>
          <a:lstStyle/>
          <a:p>
            <a:pPr indent="0" marL="0">
              <a:buNone/>
            </a:pPr>
            <a:r>
              <a:rPr lang="en-US" sz="1300" i="1" dirty="0">
                <a:solidFill>
                  <a:srgbClr val="8892B0"/>
                </a:solidFill>
                <a:latin typeface="Calibri" pitchFamily="34" charset="0"/>
                <a:ea typeface="Calibri" pitchFamily="34" charset="-122"/>
                <a:cs typeface="Calibri" pitchFamily="34" charset="-120"/>
              </a:rPr>
              <a:t>loop(), once per second:</a:t>
            </a:r>
            <a:endParaRPr lang="en-US" sz="1300" dirty="0"/>
          </a:p>
        </p:txBody>
      </p:sp>
      <p:sp>
        <p:nvSpPr>
          <p:cNvPr id="7" name="Shape 5"/>
          <p:cNvSpPr/>
          <p:nvPr/>
        </p:nvSpPr>
        <p:spPr>
          <a:xfrm>
            <a:off x="457200" y="2331720"/>
            <a:ext cx="1645920" cy="640080"/>
          </a:xfrm>
          <a:prstGeom prst="rect">
            <a:avLst/>
          </a:prstGeom>
          <a:solidFill>
            <a:srgbClr val="0D1117"/>
          </a:solidFill>
          <a:ln w="12700">
            <a:solidFill>
              <a:srgbClr val="3A4A8A"/>
            </a:solidFill>
            <a:prstDash val="solid"/>
          </a:ln>
          <a:effectLst>
            <a:outerShdw sx="100000" sy="100000" kx="0" ky="0" algn="bl" rotWithShape="0" blurRad="50800" dist="25400" dir="8100000">
              <a:srgbClr val="000000">
                <a:alpha val="25000"/>
              </a:srgbClr>
            </a:outerShdw>
          </a:effectLst>
        </p:spPr>
      </p:sp>
      <p:sp>
        <p:nvSpPr>
          <p:cNvPr id="8" name="Text 6"/>
          <p:cNvSpPr/>
          <p:nvPr/>
        </p:nvSpPr>
        <p:spPr>
          <a:xfrm>
            <a:off x="457200" y="2331720"/>
            <a:ext cx="1645920" cy="640080"/>
          </a:xfrm>
          <a:prstGeom prst="rect">
            <a:avLst/>
          </a:prstGeom>
          <a:noFill/>
          <a:ln/>
        </p:spPr>
        <p:txBody>
          <a:bodyPr wrap="square" lIns="0" tIns="0" rIns="0" bIns="0" rtlCol="0" anchor="ctr"/>
          <a:lstStyle/>
          <a:p>
            <a:pPr algn="ctr" indent="0" marL="0">
              <a:buNone/>
            </a:pPr>
            <a:r>
              <a:rPr lang="en-US" sz="1300" dirty="0">
                <a:solidFill>
                  <a:srgbClr val="A8D8FF"/>
                </a:solidFill>
                <a:latin typeface="Consolas" pitchFamily="34" charset="0"/>
                <a:ea typeface="Consolas" pitchFamily="34" charset="-122"/>
                <a:cs typeface="Consolas" pitchFamily="34" charset="-120"/>
              </a:rPr>
              <a:t>n  = g_count</a:t>
            </a:r>
            <a:endParaRPr lang="en-US" sz="1300" dirty="0"/>
          </a:p>
        </p:txBody>
      </p:sp>
      <p:sp>
        <p:nvSpPr>
          <p:cNvPr id="9" name="Shape 7"/>
          <p:cNvSpPr/>
          <p:nvPr/>
        </p:nvSpPr>
        <p:spPr>
          <a:xfrm>
            <a:off x="2148840" y="2651760"/>
            <a:ext cx="457200" cy="0"/>
          </a:xfrm>
          <a:prstGeom prst="line">
            <a:avLst/>
          </a:prstGeom>
          <a:noFill/>
          <a:ln w="19050">
            <a:solidFill>
              <a:srgbClr val="8892B0"/>
            </a:solidFill>
            <a:prstDash val="solid"/>
            <a:tailEnd type="triangle"/>
          </a:ln>
        </p:spPr>
      </p:sp>
      <p:sp>
        <p:nvSpPr>
          <p:cNvPr id="10" name="Shape 8"/>
          <p:cNvSpPr/>
          <p:nvPr/>
        </p:nvSpPr>
        <p:spPr>
          <a:xfrm>
            <a:off x="2651760" y="2331720"/>
            <a:ext cx="1645920" cy="640080"/>
          </a:xfrm>
          <a:prstGeom prst="rect">
            <a:avLst/>
          </a:prstGeom>
          <a:solidFill>
            <a:srgbClr val="0D1117"/>
          </a:solidFill>
          <a:ln w="12700">
            <a:solidFill>
              <a:srgbClr val="3A4A8A"/>
            </a:solidFill>
            <a:prstDash val="solid"/>
          </a:ln>
          <a:effectLst>
            <a:outerShdw sx="100000" sy="100000" kx="0" ky="0" algn="bl" rotWithShape="0" blurRad="50800" dist="25400" dir="8100000">
              <a:srgbClr val="000000">
                <a:alpha val="25000"/>
              </a:srgbClr>
            </a:outerShdw>
          </a:effectLst>
        </p:spPr>
      </p:sp>
      <p:sp>
        <p:nvSpPr>
          <p:cNvPr id="11" name="Text 9"/>
          <p:cNvSpPr/>
          <p:nvPr/>
        </p:nvSpPr>
        <p:spPr>
          <a:xfrm>
            <a:off x="2651760" y="2331720"/>
            <a:ext cx="1645920" cy="640080"/>
          </a:xfrm>
          <a:prstGeom prst="rect">
            <a:avLst/>
          </a:prstGeom>
          <a:noFill/>
          <a:ln/>
        </p:spPr>
        <p:txBody>
          <a:bodyPr wrap="square" lIns="0" tIns="0" rIns="0" bIns="0" rtlCol="0" anchor="ctr"/>
          <a:lstStyle/>
          <a:p>
            <a:pPr algn="ctr" indent="0" marL="0">
              <a:buNone/>
            </a:pPr>
            <a:r>
              <a:rPr lang="en-US" sz="1300" dirty="0">
                <a:solidFill>
                  <a:srgbClr val="A8D8FF"/>
                </a:solidFill>
                <a:latin typeface="Consolas" pitchFamily="34" charset="0"/>
                <a:ea typeface="Consolas" pitchFamily="34" charset="-122"/>
                <a:cs typeface="Consolas" pitchFamily="34" charset="-120"/>
              </a:rPr>
              <a:t>lo = g_minUs</a:t>
            </a:r>
            <a:endParaRPr lang="en-US" sz="1300" dirty="0"/>
          </a:p>
        </p:txBody>
      </p:sp>
      <p:sp>
        <p:nvSpPr>
          <p:cNvPr id="12" name="Shape 10"/>
          <p:cNvSpPr/>
          <p:nvPr/>
        </p:nvSpPr>
        <p:spPr>
          <a:xfrm>
            <a:off x="4343400" y="2651760"/>
            <a:ext cx="457200" cy="0"/>
          </a:xfrm>
          <a:prstGeom prst="line">
            <a:avLst/>
          </a:prstGeom>
          <a:noFill/>
          <a:ln w="19050">
            <a:solidFill>
              <a:srgbClr val="8892B0"/>
            </a:solidFill>
            <a:prstDash val="solid"/>
            <a:tailEnd type="triangle"/>
          </a:ln>
        </p:spPr>
      </p:sp>
      <p:sp>
        <p:nvSpPr>
          <p:cNvPr id="13" name="Shape 11"/>
          <p:cNvSpPr/>
          <p:nvPr/>
        </p:nvSpPr>
        <p:spPr>
          <a:xfrm>
            <a:off x="4846320" y="2331720"/>
            <a:ext cx="1645920" cy="640080"/>
          </a:xfrm>
          <a:prstGeom prst="rect">
            <a:avLst/>
          </a:prstGeom>
          <a:solidFill>
            <a:srgbClr val="0D1117"/>
          </a:solidFill>
          <a:ln w="12700">
            <a:solidFill>
              <a:srgbClr val="3A4A8A"/>
            </a:solidFill>
            <a:prstDash val="solid"/>
          </a:ln>
          <a:effectLst>
            <a:outerShdw sx="100000" sy="100000" kx="0" ky="0" algn="bl" rotWithShape="0" blurRad="50800" dist="25400" dir="8100000">
              <a:srgbClr val="000000">
                <a:alpha val="25000"/>
              </a:srgbClr>
            </a:outerShdw>
          </a:effectLst>
        </p:spPr>
      </p:sp>
      <p:sp>
        <p:nvSpPr>
          <p:cNvPr id="14" name="Text 12"/>
          <p:cNvSpPr/>
          <p:nvPr/>
        </p:nvSpPr>
        <p:spPr>
          <a:xfrm>
            <a:off x="4846320" y="2331720"/>
            <a:ext cx="1645920" cy="640080"/>
          </a:xfrm>
          <a:prstGeom prst="rect">
            <a:avLst/>
          </a:prstGeom>
          <a:noFill/>
          <a:ln/>
        </p:spPr>
        <p:txBody>
          <a:bodyPr wrap="square" lIns="0" tIns="0" rIns="0" bIns="0" rtlCol="0" anchor="ctr"/>
          <a:lstStyle/>
          <a:p>
            <a:pPr algn="ctr" indent="0" marL="0">
              <a:buNone/>
            </a:pPr>
            <a:r>
              <a:rPr lang="en-US" sz="1300" dirty="0">
                <a:solidFill>
                  <a:srgbClr val="A8D8FF"/>
                </a:solidFill>
                <a:latin typeface="Consolas" pitchFamily="34" charset="0"/>
                <a:ea typeface="Consolas" pitchFamily="34" charset="-122"/>
                <a:cs typeface="Consolas" pitchFamily="34" charset="-120"/>
              </a:rPr>
              <a:t>hi = g_maxUs</a:t>
            </a:r>
            <a:endParaRPr lang="en-US" sz="1300" dirty="0"/>
          </a:p>
        </p:txBody>
      </p:sp>
      <p:sp>
        <p:nvSpPr>
          <p:cNvPr id="15" name="Shape 13"/>
          <p:cNvSpPr/>
          <p:nvPr/>
        </p:nvSpPr>
        <p:spPr>
          <a:xfrm>
            <a:off x="6537960" y="2651760"/>
            <a:ext cx="457200" cy="0"/>
          </a:xfrm>
          <a:prstGeom prst="line">
            <a:avLst/>
          </a:prstGeom>
          <a:noFill/>
          <a:ln w="19050">
            <a:solidFill>
              <a:srgbClr val="8892B0"/>
            </a:solidFill>
            <a:prstDash val="solid"/>
            <a:tailEnd type="triangle"/>
          </a:ln>
        </p:spPr>
      </p:sp>
      <p:sp>
        <p:nvSpPr>
          <p:cNvPr id="16" name="Shape 14"/>
          <p:cNvSpPr/>
          <p:nvPr/>
        </p:nvSpPr>
        <p:spPr>
          <a:xfrm>
            <a:off x="7040880" y="2331720"/>
            <a:ext cx="1645920" cy="640080"/>
          </a:xfrm>
          <a:prstGeom prst="rect">
            <a:avLst/>
          </a:prstGeom>
          <a:solidFill>
            <a:srgbClr val="0D1117"/>
          </a:solidFill>
          <a:ln w="12700">
            <a:solidFill>
              <a:srgbClr val="3A4A8A"/>
            </a:solidFill>
            <a:prstDash val="solid"/>
          </a:ln>
          <a:effectLst>
            <a:outerShdw sx="100000" sy="100000" kx="0" ky="0" algn="bl" rotWithShape="0" blurRad="50800" dist="25400" dir="8100000">
              <a:srgbClr val="000000">
                <a:alpha val="25000"/>
              </a:srgbClr>
            </a:outerShdw>
          </a:effectLst>
        </p:spPr>
      </p:sp>
      <p:sp>
        <p:nvSpPr>
          <p:cNvPr id="17" name="Text 15"/>
          <p:cNvSpPr/>
          <p:nvPr/>
        </p:nvSpPr>
        <p:spPr>
          <a:xfrm>
            <a:off x="7040880" y="2331720"/>
            <a:ext cx="1645920" cy="640080"/>
          </a:xfrm>
          <a:prstGeom prst="rect">
            <a:avLst/>
          </a:prstGeom>
          <a:noFill/>
          <a:ln/>
        </p:spPr>
        <p:txBody>
          <a:bodyPr wrap="square" lIns="0" tIns="0" rIns="0" bIns="0" rtlCol="0" anchor="ctr"/>
          <a:lstStyle/>
          <a:p>
            <a:pPr algn="ctr" indent="0" marL="0">
              <a:buNone/>
            </a:pPr>
            <a:r>
              <a:rPr lang="en-US" sz="1300" dirty="0">
                <a:solidFill>
                  <a:srgbClr val="A8D8FF"/>
                </a:solidFill>
                <a:latin typeface="Consolas" pitchFamily="34" charset="0"/>
                <a:ea typeface="Consolas" pitchFamily="34" charset="-122"/>
                <a:cs typeface="Consolas" pitchFamily="34" charset="-120"/>
              </a:rPr>
              <a:t>g_count = 0</a:t>
            </a:r>
            <a:endParaRPr lang="en-US" sz="1300" dirty="0"/>
          </a:p>
        </p:txBody>
      </p:sp>
      <p:sp>
        <p:nvSpPr>
          <p:cNvPr id="18" name="Shape 16"/>
          <p:cNvSpPr/>
          <p:nvPr/>
        </p:nvSpPr>
        <p:spPr>
          <a:xfrm>
            <a:off x="2651760" y="1097280"/>
            <a:ext cx="3840480" cy="640080"/>
          </a:xfrm>
          <a:prstGeom prst="rect">
            <a:avLst/>
          </a:prstGeom>
          <a:solidFill>
            <a:srgbClr val="253270"/>
          </a:solidFill>
          <a:ln w="25400">
            <a:solidFill>
              <a:srgbClr val="FFB300"/>
            </a:solidFill>
            <a:prstDash val="solid"/>
          </a:ln>
          <a:effectLst>
            <a:outerShdw sx="100000" sy="100000" kx="0" ky="0" algn="bl" rotWithShape="0" blurRad="50800" dist="25400" dir="8100000">
              <a:srgbClr val="000000">
                <a:alpha val="25000"/>
              </a:srgbClr>
            </a:outerShdw>
          </a:effectLst>
        </p:spPr>
      </p:sp>
      <p:pic>
        <p:nvPicPr>
          <p:cNvPr id="19" name="Image 0" descr="preencoded.png">    </p:cNvPr>
          <p:cNvPicPr>
            <a:picLocks noChangeAspect="1"/>
          </p:cNvPicPr>
          <p:nvPr/>
        </p:nvPicPr>
        <p:blipFill>
          <a:blip r:embed="rId1"/>
          <a:stretch>
            <a:fillRect/>
          </a:stretch>
        </p:blipFill>
        <p:spPr>
          <a:xfrm>
            <a:off x="2834640" y="1252728"/>
            <a:ext cx="329184" cy="329184"/>
          </a:xfrm>
          <a:prstGeom prst="rect">
            <a:avLst/>
          </a:prstGeom>
        </p:spPr>
      </p:pic>
      <p:sp>
        <p:nvSpPr>
          <p:cNvPr id="20" name="Text 17"/>
          <p:cNvSpPr/>
          <p:nvPr/>
        </p:nvSpPr>
        <p:spPr>
          <a:xfrm>
            <a:off x="3246120" y="1097280"/>
            <a:ext cx="3154680" cy="640080"/>
          </a:xfrm>
          <a:prstGeom prst="rect">
            <a:avLst/>
          </a:prstGeom>
          <a:noFill/>
          <a:ln/>
        </p:spPr>
        <p:txBody>
          <a:bodyPr wrap="square" lIns="0" tIns="0" rIns="0" bIns="0"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ISR: g_count++, new g_maxUs</a:t>
            </a:r>
            <a:endParaRPr lang="en-US" sz="1300" dirty="0"/>
          </a:p>
        </p:txBody>
      </p:sp>
      <p:sp>
        <p:nvSpPr>
          <p:cNvPr id="21" name="Shape 18"/>
          <p:cNvSpPr/>
          <p:nvPr/>
        </p:nvSpPr>
        <p:spPr>
          <a:xfrm>
            <a:off x="4572000" y="1737360"/>
            <a:ext cx="0" cy="548640"/>
          </a:xfrm>
          <a:prstGeom prst="line">
            <a:avLst/>
          </a:prstGeom>
          <a:noFill/>
          <a:ln w="25400">
            <a:solidFill>
              <a:srgbClr val="FFB300"/>
            </a:solidFill>
            <a:prstDash val="solid"/>
            <a:tailEnd type="triangle"/>
          </a:ln>
        </p:spPr>
      </p:sp>
      <p:sp>
        <p:nvSpPr>
          <p:cNvPr id="22" name="Shape 19"/>
          <p:cNvSpPr/>
          <p:nvPr/>
        </p:nvSpPr>
        <p:spPr>
          <a:xfrm>
            <a:off x="457200" y="3337560"/>
            <a:ext cx="8229600" cy="868680"/>
          </a:xfrm>
          <a:prstGeom prst="rect">
            <a:avLst/>
          </a:prstGeom>
          <a:solidFill>
            <a:srgbClr val="253270"/>
          </a:solidFill>
          <a:ln w="12700">
            <a:solidFill>
              <a:srgbClr val="FF5252"/>
            </a:solidFill>
            <a:prstDash val="solid"/>
          </a:ln>
        </p:spPr>
      </p:sp>
      <p:sp>
        <p:nvSpPr>
          <p:cNvPr id="23" name="Shape 20"/>
          <p:cNvSpPr/>
          <p:nvPr/>
        </p:nvSpPr>
        <p:spPr>
          <a:xfrm>
            <a:off x="457200" y="3337560"/>
            <a:ext cx="64008" cy="868680"/>
          </a:xfrm>
          <a:prstGeom prst="rect">
            <a:avLst/>
          </a:prstGeom>
          <a:solidFill>
            <a:srgbClr val="FF5252"/>
          </a:solidFill>
          <a:ln/>
        </p:spPr>
      </p:sp>
      <p:sp>
        <p:nvSpPr>
          <p:cNvPr id="24" name="Text 21"/>
          <p:cNvSpPr/>
          <p:nvPr/>
        </p:nvSpPr>
        <p:spPr>
          <a:xfrm>
            <a:off x="685800" y="3410712"/>
            <a:ext cx="7863840" cy="274320"/>
          </a:xfrm>
          <a:prstGeom prst="rect">
            <a:avLst/>
          </a:prstGeom>
          <a:noFill/>
          <a:ln/>
        </p:spPr>
        <p:txBody>
          <a:bodyPr wrap="square" lIns="0" tIns="0" rIns="0" bIns="0" rtlCol="0" anchor="ctr"/>
          <a:lstStyle/>
          <a:p>
            <a:pPr indent="0" marL="0">
              <a:buNone/>
            </a:pPr>
            <a:r>
              <a:rPr lang="en-US" sz="1300" b="1" dirty="0">
                <a:solidFill>
                  <a:srgbClr val="FF5252"/>
                </a:solidFill>
                <a:latin typeface="Trebuchet MS" pitchFamily="34" charset="0"/>
                <a:ea typeface="Trebuchet MS" pitchFamily="34" charset="-122"/>
                <a:cs typeface="Trebuchet MS" pitchFamily="34" charset="-120"/>
              </a:rPr>
              <a:t>Two bugs from one interrupt</a:t>
            </a:r>
            <a:endParaRPr lang="en-US" sz="1300" dirty="0"/>
          </a:p>
        </p:txBody>
      </p:sp>
      <p:sp>
        <p:nvSpPr>
          <p:cNvPr id="25" name="Text 22"/>
          <p:cNvSpPr/>
          <p:nvPr/>
        </p:nvSpPr>
        <p:spPr>
          <a:xfrm>
            <a:off x="685800" y="3685032"/>
            <a:ext cx="7863840" cy="45720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The new tick is in hi but not in n, so the numbers describe no real second. Then g_count = 0 wipes the tick out completely.</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Copy and reset inside a critical section</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11  |  Hardware Timers and Interrupts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18</a:t>
            </a:r>
            <a:endParaRPr lang="en-US" sz="900" dirty="0"/>
          </a:p>
        </p:txBody>
      </p:sp>
      <p:sp>
        <p:nvSpPr>
          <p:cNvPr id="6" name="Shape 4"/>
          <p:cNvSpPr/>
          <p:nvPr/>
        </p:nvSpPr>
        <p:spPr>
          <a:xfrm>
            <a:off x="457200" y="1051560"/>
            <a:ext cx="5120640" cy="3429000"/>
          </a:xfrm>
          <a:prstGeom prst="rect">
            <a:avLst/>
          </a:prstGeom>
          <a:solidFill>
            <a:srgbClr val="0D1117"/>
          </a:solidFill>
          <a:ln w="12700">
            <a:solidFill>
              <a:srgbClr val="3A4A8A"/>
            </a:solidFill>
            <a:prstDash val="solid"/>
          </a:ln>
        </p:spPr>
      </p:sp>
      <p:sp>
        <p:nvSpPr>
          <p:cNvPr id="7" name="Text 5"/>
          <p:cNvSpPr/>
          <p:nvPr/>
        </p:nvSpPr>
        <p:spPr>
          <a:xfrm>
            <a:off x="566928" y="1143000"/>
            <a:ext cx="4901184" cy="3246120"/>
          </a:xfrm>
          <a:prstGeom prst="rect">
            <a:avLst/>
          </a:prstGeom>
          <a:noFill/>
          <a:ln/>
        </p:spPr>
        <p:txBody>
          <a:bodyPr wrap="square" lIns="0" tIns="0" rIns="0" bIns="0" rtlCol="0" anchor="t"/>
          <a:lstStyle/>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portMUX_TYPE g_mux = portMUX_INITIALIZER_UNLOCKED;</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void reportOncePerSecond() {</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    portENTER_CRITICAL(&amp;g_mux);      // ISR has to wait</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    const uint32_t n  = g_count;</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    const uint32_t lo = g_minUs;</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    const uint32_t hi = g_maxUs;</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    g_count = 0U;</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    g_minUs = UINT32_MAX;</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    g_maxUs = 0U;</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    portEXIT_CRITICAL(&amp;g_mux);       // ISR may run again</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    Serial.printf("n=%lu jitter=%lu us\n",</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        (unsigned long)n, (unsigned long)(hi - lo));</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a:t>
            </a:r>
            <a:endParaRPr lang="en-US" sz="1000" dirty="0"/>
          </a:p>
        </p:txBody>
      </p:sp>
      <p:sp>
        <p:nvSpPr>
          <p:cNvPr id="8" name="Text 6"/>
          <p:cNvSpPr/>
          <p:nvPr/>
        </p:nvSpPr>
        <p:spPr>
          <a:xfrm>
            <a:off x="5852160" y="1051560"/>
            <a:ext cx="2834640" cy="3429000"/>
          </a:xfrm>
          <a:prstGeom prst="rect">
            <a:avLst/>
          </a:prstGeom>
          <a:noFill/>
          <a:ln/>
        </p:spPr>
        <p:txBody>
          <a:bodyPr wrap="square" rtlCol="0" anchor="t"/>
          <a:lstStyle/>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Between ENTER and EXIT interrupts are held off</a:t>
            </a:r>
            <a:endParaRPr lang="en-US" sz="1300" dirty="0"/>
          </a:p>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Copy and reset only: keep it as short as an ISR</a:t>
            </a:r>
            <a:endParaRPr lang="en-US" sz="1300" dirty="0"/>
          </a:p>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Print outside, from the copies</a:t>
            </a:r>
            <a:endParaRPr lang="en-US" sz="1300" dirty="0"/>
          </a:p>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In the ISR the pair is portENTER_CRITICAL_ISR / portEXIT_CRITICAL_ISR. Required on dual-core chips, cheap here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B3D"/>
        </a:solidFill>
      </p:bgPr>
    </p:bg>
    <p:spTree>
      <p:nvGrpSpPr>
        <p:cNvPr id="1" name=""/>
        <p:cNvGrpSpPr/>
        <p:nvPr/>
      </p:nvGrpSpPr>
      <p:grpSpPr>
        <a:xfrm>
          <a:off x="0" y="0"/>
          <a:ext cx="0" cy="0"/>
          <a:chOff x="0" y="0"/>
          <a:chExt cx="0" cy="0"/>
        </a:xfrm>
      </p:grpSpPr>
      <p:sp>
        <p:nvSpPr>
          <p:cNvPr id="2" name="Shape 0"/>
          <p:cNvSpPr/>
          <p:nvPr/>
        </p:nvSpPr>
        <p:spPr>
          <a:xfrm>
            <a:off x="0" y="2148840"/>
            <a:ext cx="822960" cy="54864"/>
          </a:xfrm>
          <a:prstGeom prst="rect">
            <a:avLst/>
          </a:prstGeom>
          <a:solidFill>
            <a:srgbClr val="FFB300"/>
          </a:solidFill>
          <a:ln/>
        </p:spPr>
      </p:sp>
      <p:sp>
        <p:nvSpPr>
          <p:cNvPr id="3" name="Text 1"/>
          <p:cNvSpPr/>
          <p:nvPr/>
        </p:nvSpPr>
        <p:spPr>
          <a:xfrm>
            <a:off x="1097280" y="1874520"/>
            <a:ext cx="7315200" cy="365760"/>
          </a:xfrm>
          <a:prstGeom prst="rect">
            <a:avLst/>
          </a:prstGeom>
          <a:noFill/>
          <a:ln/>
        </p:spPr>
        <p:txBody>
          <a:bodyPr wrap="square" lIns="0" tIns="0" rIns="0" bIns="0" rtlCol="0" anchor="ctr"/>
          <a:lstStyle/>
          <a:p>
            <a:pPr indent="0" marL="0">
              <a:buNone/>
            </a:pPr>
            <a:r>
              <a:rPr lang="en-US" sz="1300" b="1" spc="200" kern="0" dirty="0">
                <a:solidFill>
                  <a:srgbClr val="FFB300"/>
                </a:solidFill>
                <a:latin typeface="Calibri" pitchFamily="34" charset="0"/>
                <a:ea typeface="Calibri" pitchFamily="34" charset="-122"/>
                <a:cs typeface="Calibri" pitchFamily="34" charset="-120"/>
              </a:rPr>
              <a:t>PART 5</a:t>
            </a:r>
            <a:endParaRPr lang="en-US" sz="1300" dirty="0"/>
          </a:p>
        </p:txBody>
      </p:sp>
      <p:sp>
        <p:nvSpPr>
          <p:cNvPr id="4" name="Text 2"/>
          <p:cNvSpPr/>
          <p:nvPr/>
        </p:nvSpPr>
        <p:spPr>
          <a:xfrm>
            <a:off x="1097280" y="2240280"/>
            <a:ext cx="7315200" cy="822960"/>
          </a:xfrm>
          <a:prstGeom prst="rect">
            <a:avLst/>
          </a:prstGeom>
          <a:noFill/>
          <a:ln/>
        </p:spPr>
        <p:txBody>
          <a:bodyPr wrap="square" lIns="0" tIns="0" rIns="0" bIns="0"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Lab</a:t>
            </a:r>
            <a:endParaRPr lang="en-US" sz="3400" dirty="0"/>
          </a:p>
        </p:txBody>
      </p:sp>
      <p:sp>
        <p:nvSpPr>
          <p:cNvPr id="5" name="Text 3"/>
          <p:cNvSpPr/>
          <p:nvPr/>
        </p:nvSpPr>
        <p:spPr>
          <a:xfrm>
            <a:off x="1097280" y="3063240"/>
            <a:ext cx="7315200" cy="457200"/>
          </a:xfrm>
          <a:prstGeom prst="rect">
            <a:avLst/>
          </a:prstGeom>
          <a:noFill/>
          <a:ln/>
        </p:spPr>
        <p:txBody>
          <a:bodyPr wrap="square" lIns="0" tIns="0" rIns="0" bIns="0" rtlCol="0" anchor="ctr"/>
          <a:lstStyle/>
          <a:p>
            <a:pPr indent="0" marL="0">
              <a:buNone/>
            </a:pPr>
            <a:r>
              <a:rPr lang="en-US" sz="1400" dirty="0">
                <a:solidFill>
                  <a:srgbClr val="8892B0"/>
                </a:solidFill>
                <a:latin typeface="Calibri" pitchFamily="34" charset="0"/>
                <a:ea typeface="Calibri" pitchFamily="34" charset="-122"/>
                <a:cs typeface="Calibri" pitchFamily="34" charset="-120"/>
              </a:rPr>
              <a:t>Polling vs timer under load</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Lab: polling vs timer under load</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11  |  Hardware Timers and Interrupts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20</a:t>
            </a:r>
            <a:endParaRPr lang="en-US" sz="900" dirty="0"/>
          </a:p>
        </p:txBody>
      </p:sp>
      <p:sp>
        <p:nvSpPr>
          <p:cNvPr id="6" name="Shape 4"/>
          <p:cNvSpPr/>
          <p:nvPr/>
        </p:nvSpPr>
        <p:spPr>
          <a:xfrm>
            <a:off x="457200" y="1097280"/>
            <a:ext cx="384048" cy="384048"/>
          </a:xfrm>
          <a:prstGeom prst="ellipse">
            <a:avLst/>
          </a:prstGeom>
          <a:solidFill>
            <a:srgbClr val="253270"/>
          </a:solidFill>
          <a:ln w="19050">
            <a:solidFill>
              <a:srgbClr val="CADCFC"/>
            </a:solidFill>
            <a:prstDash val="solid"/>
          </a:ln>
        </p:spPr>
      </p:sp>
      <p:sp>
        <p:nvSpPr>
          <p:cNvPr id="7" name="Text 5"/>
          <p:cNvSpPr/>
          <p:nvPr/>
        </p:nvSpPr>
        <p:spPr>
          <a:xfrm>
            <a:off x="457200" y="1097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005840" y="1078992"/>
            <a:ext cx="3657600" cy="612648"/>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Polled tick: micros() check in loop(), 1000 us, its own n / min / max</a:t>
            </a:r>
            <a:endParaRPr lang="en-US" sz="1400" dirty="0"/>
          </a:p>
        </p:txBody>
      </p:sp>
      <p:sp>
        <p:nvSpPr>
          <p:cNvPr id="9" name="Shape 7"/>
          <p:cNvSpPr/>
          <p:nvPr/>
        </p:nvSpPr>
        <p:spPr>
          <a:xfrm>
            <a:off x="457200" y="1755648"/>
            <a:ext cx="384048" cy="384048"/>
          </a:xfrm>
          <a:prstGeom prst="ellipse">
            <a:avLst/>
          </a:prstGeom>
          <a:solidFill>
            <a:srgbClr val="253270"/>
          </a:solidFill>
          <a:ln w="19050">
            <a:solidFill>
              <a:srgbClr val="CADCFC"/>
            </a:solidFill>
            <a:prstDash val="solid"/>
          </a:ln>
        </p:spPr>
      </p:sp>
      <p:sp>
        <p:nvSpPr>
          <p:cNvPr id="10" name="Text 8"/>
          <p:cNvSpPr/>
          <p:nvPr/>
        </p:nvSpPr>
        <p:spPr>
          <a:xfrm>
            <a:off x="457200" y="1755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005840" y="1737360"/>
            <a:ext cx="3657600" cy="612648"/>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Timer tick: the ISR from tonight, same statistics</a:t>
            </a:r>
            <a:endParaRPr lang="en-US" sz="1400" dirty="0"/>
          </a:p>
        </p:txBody>
      </p:sp>
      <p:sp>
        <p:nvSpPr>
          <p:cNvPr id="12" name="Shape 10"/>
          <p:cNvSpPr/>
          <p:nvPr/>
        </p:nvSpPr>
        <p:spPr>
          <a:xfrm>
            <a:off x="457200" y="2414016"/>
            <a:ext cx="384048" cy="384048"/>
          </a:xfrm>
          <a:prstGeom prst="ellipse">
            <a:avLst/>
          </a:prstGeom>
          <a:solidFill>
            <a:srgbClr val="253270"/>
          </a:solidFill>
          <a:ln w="19050">
            <a:solidFill>
              <a:srgbClr val="CADCFC"/>
            </a:solidFill>
            <a:prstDash val="solid"/>
          </a:ln>
        </p:spPr>
      </p:sp>
      <p:sp>
        <p:nvSpPr>
          <p:cNvPr id="13" name="Text 11"/>
          <p:cNvSpPr/>
          <p:nvPr/>
        </p:nvSpPr>
        <p:spPr>
          <a:xfrm>
            <a:off x="457200" y="24140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005840" y="2395728"/>
            <a:ext cx="3657600" cy="612648"/>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Print both lines once per second</a:t>
            </a:r>
            <a:endParaRPr lang="en-US" sz="1400" dirty="0"/>
          </a:p>
        </p:txBody>
      </p:sp>
      <p:sp>
        <p:nvSpPr>
          <p:cNvPr id="15" name="Shape 13"/>
          <p:cNvSpPr/>
          <p:nvPr/>
        </p:nvSpPr>
        <p:spPr>
          <a:xfrm>
            <a:off x="457200" y="3072384"/>
            <a:ext cx="384048" cy="384048"/>
          </a:xfrm>
          <a:prstGeom prst="ellipse">
            <a:avLst/>
          </a:prstGeom>
          <a:solidFill>
            <a:srgbClr val="253270"/>
          </a:solidFill>
          <a:ln w="19050">
            <a:solidFill>
              <a:srgbClr val="CADCFC"/>
            </a:solidFill>
            <a:prstDash val="solid"/>
          </a:ln>
        </p:spPr>
      </p:sp>
      <p:sp>
        <p:nvSpPr>
          <p:cNvPr id="16" name="Text 14"/>
          <p:cNvSpPr/>
          <p:nvPr/>
        </p:nvSpPr>
        <p:spPr>
          <a:xfrm>
            <a:off x="457200" y="30723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005840" y="3054096"/>
            <a:ext cx="3657600" cy="612648"/>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Add load: the potentiometer sets how long each loop() pass takes</a:t>
            </a:r>
            <a:endParaRPr lang="en-US" sz="1400" dirty="0"/>
          </a:p>
        </p:txBody>
      </p:sp>
      <p:sp>
        <p:nvSpPr>
          <p:cNvPr id="18" name="Shape 16"/>
          <p:cNvSpPr/>
          <p:nvPr/>
        </p:nvSpPr>
        <p:spPr>
          <a:xfrm>
            <a:off x="457200" y="3730752"/>
            <a:ext cx="384048" cy="384048"/>
          </a:xfrm>
          <a:prstGeom prst="ellipse">
            <a:avLst/>
          </a:prstGeom>
          <a:solidFill>
            <a:srgbClr val="253270"/>
          </a:solidFill>
          <a:ln w="19050">
            <a:solidFill>
              <a:srgbClr val="CADCFC"/>
            </a:solidFill>
            <a:prstDash val="solid"/>
          </a:ln>
        </p:spPr>
      </p:sp>
      <p:sp>
        <p:nvSpPr>
          <p:cNvPr id="19" name="Text 17"/>
          <p:cNvSpPr/>
          <p:nvPr/>
        </p:nvSpPr>
        <p:spPr>
          <a:xfrm>
            <a:off x="457200" y="37307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005840" y="3712464"/>
            <a:ext cx="3657600" cy="612648"/>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Turn the pot and watch both lines</a:t>
            </a:r>
            <a:endParaRPr lang="en-US" sz="1400" dirty="0"/>
          </a:p>
        </p:txBody>
      </p:sp>
      <p:sp>
        <p:nvSpPr>
          <p:cNvPr id="21" name="Shape 19"/>
          <p:cNvSpPr/>
          <p:nvPr/>
        </p:nvSpPr>
        <p:spPr>
          <a:xfrm>
            <a:off x="4892040" y="1051560"/>
            <a:ext cx="3794760" cy="2148840"/>
          </a:xfrm>
          <a:prstGeom prst="rect">
            <a:avLst/>
          </a:prstGeom>
          <a:solidFill>
            <a:srgbClr val="0D1117"/>
          </a:solidFill>
          <a:ln w="12700">
            <a:solidFill>
              <a:srgbClr val="3A4A8A"/>
            </a:solidFill>
            <a:prstDash val="solid"/>
          </a:ln>
        </p:spPr>
      </p:sp>
      <p:sp>
        <p:nvSpPr>
          <p:cNvPr id="22" name="Text 20"/>
          <p:cNvSpPr/>
          <p:nvPr/>
        </p:nvSpPr>
        <p:spPr>
          <a:xfrm>
            <a:off x="5001768" y="1143000"/>
            <a:ext cx="3575304" cy="1965960"/>
          </a:xfrm>
          <a:prstGeom prst="rect">
            <a:avLst/>
          </a:prstGeom>
          <a:noFill/>
          <a:ln/>
        </p:spPr>
        <p:txBody>
          <a:bodyPr wrap="square" lIns="0" tIns="0" rIns="0" bIns="0" rtlCol="0" anchor="t"/>
          <a:lstStyle/>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void loop() {</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    pollTick();</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    const uint32_t loadUs =</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        (uint32_t)analogRead(POT_PIN);</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    delayMicroseconds(loadUs);</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    reportOncePerSecond();</a:t>
            </a:r>
            <a:endParaRPr lang="en-US" sz="1100" dirty="0"/>
          </a:p>
          <a:p>
            <a:pPr indent="0" marL="0">
              <a:lnSpc>
                <a:spcPct val="100000"/>
              </a:lnSpc>
              <a:buNone/>
            </a:pPr>
            <a:r>
              <a:rPr lang="en-US" sz="1100" dirty="0">
                <a:solidFill>
                  <a:srgbClr val="A8D8FF"/>
                </a:solidFill>
                <a:latin typeface="Consolas" pitchFamily="34" charset="0"/>
                <a:ea typeface="Consolas" pitchFamily="34" charset="-122"/>
                <a:cs typeface="Consolas" pitchFamily="34" charset="-120"/>
              </a:rPr>
              <a:t>}</a:t>
            </a:r>
            <a:endParaRPr lang="en-US" sz="1100" dirty="0"/>
          </a:p>
        </p:txBody>
      </p:sp>
      <p:sp>
        <p:nvSpPr>
          <p:cNvPr id="23" name="Text 21"/>
          <p:cNvSpPr/>
          <p:nvPr/>
        </p:nvSpPr>
        <p:spPr>
          <a:xfrm>
            <a:off x="4892040" y="3246120"/>
            <a:ext cx="3794760" cy="256032"/>
          </a:xfrm>
          <a:prstGeom prst="rect">
            <a:avLst/>
          </a:prstGeom>
          <a:noFill/>
          <a:ln/>
        </p:spPr>
        <p:txBody>
          <a:bodyPr wrap="square" rtlCol="0" anchor="ctr"/>
          <a:lstStyle/>
          <a:p>
            <a:pPr algn="ctr" indent="0" marL="0">
              <a:buNone/>
            </a:pPr>
            <a:r>
              <a:rPr lang="en-US" sz="1000" i="1" dirty="0">
                <a:solidFill>
                  <a:srgbClr val="8892B0"/>
                </a:solidFill>
                <a:latin typeface="Calibri" pitchFamily="34" charset="0"/>
                <a:ea typeface="Calibri" pitchFamily="34" charset="-122"/>
                <a:cs typeface="Calibri" pitchFamily="34" charset="-120"/>
              </a:rPr>
              <a:t>Pot on GPIO 4: 0 .. about 3850 us of fake work per pass</a:t>
            </a:r>
            <a:endParaRPr lang="en-US" sz="1000" dirty="0"/>
          </a:p>
        </p:txBody>
      </p:sp>
      <p:sp>
        <p:nvSpPr>
          <p:cNvPr id="24" name="Shape 22"/>
          <p:cNvSpPr/>
          <p:nvPr/>
        </p:nvSpPr>
        <p:spPr>
          <a:xfrm>
            <a:off x="4892040" y="3584448"/>
            <a:ext cx="3794760" cy="1005840"/>
          </a:xfrm>
          <a:prstGeom prst="rect">
            <a:avLst/>
          </a:prstGeom>
          <a:solidFill>
            <a:srgbClr val="0D1117"/>
          </a:solidFill>
          <a:ln w="12700">
            <a:solidFill>
              <a:srgbClr val="3A4A8A"/>
            </a:solidFill>
            <a:prstDash val="solid"/>
          </a:ln>
        </p:spPr>
      </p:sp>
      <p:sp>
        <p:nvSpPr>
          <p:cNvPr id="25" name="Text 23"/>
          <p:cNvSpPr/>
          <p:nvPr/>
        </p:nvSpPr>
        <p:spPr>
          <a:xfrm>
            <a:off x="5001768" y="3675888"/>
            <a:ext cx="3575304" cy="822960"/>
          </a:xfrm>
          <a:prstGeom prst="rect">
            <a:avLst/>
          </a:prstGeom>
          <a:noFill/>
          <a:ln/>
        </p:spPr>
        <p:txBody>
          <a:bodyPr wrap="square" lIns="0" tIns="0" rIns="0" bIns="0" rtlCol="0" anchor="t"/>
          <a:lstStyle/>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 Serial output, once per second</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poll:  n=.... min=.... max=.... jitter=....</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timer: n=.... min=.... max=.... jitter=....</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Predict, then measure</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11  |  Hardware Timers and Interrupts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377440"/>
                <a:gridCol w="1463040"/>
                <a:gridCol w="1463040"/>
                <a:gridCol w="1463040"/>
                <a:gridCol w="1463040"/>
              </a:tblGrid>
              <a:tr h="32004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Pot position</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Poll n</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Poll max, us</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Timer n</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Timer max, us</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r>
              <a:tr h="320040">
                <a:tc>
                  <a:txBody>
                    <a:bodyPr/>
                    <a:lstStyle/>
                    <a:p>
                      <a:pPr algn="l" indent="0" marL="0">
                        <a:buNone/>
                      </a:pPr>
                      <a:r>
                        <a:rPr lang="en-US" sz="1400" dirty="0">
                          <a:solidFill>
                            <a:srgbClr val="FFFFFF"/>
                          </a:solidFill>
                          <a:latin typeface="Calibri" pitchFamily="34" charset="0"/>
                          <a:ea typeface="Calibri" pitchFamily="34" charset="-122"/>
                          <a:cs typeface="Calibri" pitchFamily="34" charset="-120"/>
                        </a:rPr>
                        <a:t>Left - no load</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400" dirty="0">
                          <a:solidFill>
                            <a:srgbClr val="FFFFFF"/>
                          </a:solidFill>
                          <a:latin typeface="Calibri" pitchFamily="34" charset="0"/>
                          <a:ea typeface="Calibri" pitchFamily="34" charset="-122"/>
                          <a:cs typeface="Calibri" pitchFamily="34" charset="-120"/>
                        </a:rPr>
                        <a:t>Middle</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400" dirty="0">
                          <a:solidFill>
                            <a:srgbClr val="FFFFFF"/>
                          </a:solidFill>
                          <a:latin typeface="Calibri" pitchFamily="34" charset="0"/>
                          <a:ea typeface="Calibri" pitchFamily="34" charset="-122"/>
                          <a:cs typeface="Calibri" pitchFamily="34" charset="-120"/>
                        </a:rPr>
                        <a:t>Right - full load</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bl>
          </a:graphicData>
        </a:graphic>
      </p:graphicFrame>
      <p:sp>
        <p:nvSpPr>
          <p:cNvPr id="7" name="Text 4"/>
          <p:cNvSpPr/>
          <p:nvPr/>
        </p:nvSpPr>
        <p:spPr>
          <a:xfrm>
            <a:off x="457200" y="2606040"/>
            <a:ext cx="8229600" cy="320040"/>
          </a:xfrm>
          <a:prstGeom prst="rect">
            <a:avLst/>
          </a:prstGeom>
          <a:noFill/>
          <a:ln/>
        </p:spPr>
        <p:txBody>
          <a:bodyPr wrap="square" lIns="0" tIns="0" rIns="0" bIns="0" rtlCol="0" anchor="t"/>
          <a:lstStyle/>
          <a:p>
            <a:pPr indent="0" marL="0">
              <a:buNone/>
            </a:pPr>
            <a:r>
              <a:rPr lang="en-US" sz="1300" i="1" dirty="0">
                <a:solidFill>
                  <a:srgbClr val="8892B0"/>
                </a:solidFill>
                <a:latin typeface="Calibri" pitchFamily="34" charset="0"/>
                <a:ea typeface="Calibri" pitchFamily="34" charset="-122"/>
                <a:cs typeface="Calibri" pitchFamily="34" charset="-120"/>
              </a:rPr>
              <a:t>Write your prediction first, then the measured value next to it.</a:t>
            </a:r>
            <a:endParaRPr lang="en-US" sz="1300" dirty="0"/>
          </a:p>
        </p:txBody>
      </p:sp>
      <p:sp>
        <p:nvSpPr>
          <p:cNvPr id="8" name="Shape 5"/>
          <p:cNvSpPr/>
          <p:nvPr/>
        </p:nvSpPr>
        <p:spPr>
          <a:xfrm>
            <a:off x="457200" y="3063240"/>
            <a:ext cx="8229600" cy="1188720"/>
          </a:xfrm>
          <a:prstGeom prst="rect">
            <a:avLst/>
          </a:prstGeom>
          <a:solidFill>
            <a:srgbClr val="253270"/>
          </a:solidFill>
          <a:ln w="12700">
            <a:solidFill>
              <a:srgbClr val="CADCFC"/>
            </a:solidFill>
            <a:prstDash val="solid"/>
          </a:ln>
        </p:spPr>
      </p:sp>
      <p:sp>
        <p:nvSpPr>
          <p:cNvPr id="9" name="Shape 6"/>
          <p:cNvSpPr/>
          <p:nvPr/>
        </p:nvSpPr>
        <p:spPr>
          <a:xfrm>
            <a:off x="457200" y="3063240"/>
            <a:ext cx="64008" cy="1188720"/>
          </a:xfrm>
          <a:prstGeom prst="rect">
            <a:avLst/>
          </a:prstGeom>
          <a:solidFill>
            <a:srgbClr val="CADCFC"/>
          </a:solidFill>
          <a:ln/>
        </p:spPr>
      </p:sp>
      <p:sp>
        <p:nvSpPr>
          <p:cNvPr id="10" name="Text 7"/>
          <p:cNvSpPr/>
          <p:nvPr/>
        </p:nvSpPr>
        <p:spPr>
          <a:xfrm>
            <a:off x="685800" y="3136392"/>
            <a:ext cx="7863840" cy="274320"/>
          </a:xfrm>
          <a:prstGeom prst="rect">
            <a:avLst/>
          </a:prstGeom>
          <a:noFill/>
          <a:ln/>
        </p:spPr>
        <p:txBody>
          <a:bodyPr wrap="square" lIns="0" tIns="0" rIns="0" bIns="0" rtlCol="0" anchor="ctr"/>
          <a:lstStyle/>
          <a:p>
            <a:pPr indent="0" marL="0">
              <a:buNone/>
            </a:pPr>
            <a:r>
              <a:rPr lang="en-US" sz="1300" b="1" dirty="0">
                <a:solidFill>
                  <a:srgbClr val="CADCFC"/>
                </a:solidFill>
                <a:latin typeface="Trebuchet MS" pitchFamily="34" charset="0"/>
                <a:ea typeface="Trebuchet MS" pitchFamily="34" charset="-122"/>
                <a:cs typeface="Trebuchet MS" pitchFamily="34" charset="-120"/>
              </a:rPr>
              <a:t>Then explain</a:t>
            </a:r>
            <a:endParaRPr lang="en-US" sz="1300" dirty="0"/>
          </a:p>
        </p:txBody>
      </p:sp>
      <p:sp>
        <p:nvSpPr>
          <p:cNvPr id="11" name="Text 8"/>
          <p:cNvSpPr/>
          <p:nvPr/>
        </p:nvSpPr>
        <p:spPr>
          <a:xfrm>
            <a:off x="685800" y="3410712"/>
            <a:ext cx="7863840" cy="77724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1. Why does the poll count drop below 1000 per second?</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2. The timer max is not exactly 1000 us either. What else runs on this chip?</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3. The poll statistics need no critical section. Why not?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Summary</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11  |  Hardware Timers and Interrupts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22</a:t>
            </a:r>
            <a:endParaRPr lang="en-US" sz="900" dirty="0"/>
          </a:p>
        </p:txBody>
      </p:sp>
      <p:sp>
        <p:nvSpPr>
          <p:cNvPr id="6" name="Text 4"/>
          <p:cNvSpPr/>
          <p:nvPr/>
        </p:nvSpPr>
        <p:spPr>
          <a:xfrm>
            <a:off x="457200" y="1051560"/>
            <a:ext cx="8229600" cy="2560320"/>
          </a:xfrm>
          <a:prstGeom prst="rect">
            <a:avLst/>
          </a:prstGeom>
          <a:noFill/>
          <a:ln/>
        </p:spPr>
        <p:txBody>
          <a:bodyPr wrap="square" rtlCol="0" anchor="t"/>
          <a:lstStyle/>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A hardware timer counts on its own: APB 80 MHz -&gt; prescaler -&gt; 54-bit counter -&gt; alarm -&gt; interrupt</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period = divider x alarm / 80 MHz; divider 80 gives a 1 us tick</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Core 2.x: timerBegin, timerAttachInterrupt, timerAlarmWrite, timerAlarmEnable</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ISR: short, IRAM_ATTR, volatile. Record or flag; loop() does the work</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Several shared values: copy and reset in a critical section, print outside</a:t>
            </a:r>
            <a:endParaRPr lang="en-US" sz="1500" dirty="0"/>
          </a:p>
        </p:txBody>
      </p:sp>
      <p:sp>
        <p:nvSpPr>
          <p:cNvPr id="7" name="Shape 5"/>
          <p:cNvSpPr/>
          <p:nvPr/>
        </p:nvSpPr>
        <p:spPr>
          <a:xfrm>
            <a:off x="457200" y="3794760"/>
            <a:ext cx="8229600" cy="822960"/>
          </a:xfrm>
          <a:prstGeom prst="rect">
            <a:avLst/>
          </a:prstGeom>
          <a:solidFill>
            <a:srgbClr val="253270"/>
          </a:solidFill>
          <a:ln w="12700">
            <a:solidFill>
              <a:srgbClr val="FFB300"/>
            </a:solidFill>
            <a:prstDash val="solid"/>
          </a:ln>
        </p:spPr>
      </p:sp>
      <p:sp>
        <p:nvSpPr>
          <p:cNvPr id="8" name="Shape 6"/>
          <p:cNvSpPr/>
          <p:nvPr/>
        </p:nvSpPr>
        <p:spPr>
          <a:xfrm>
            <a:off x="457200" y="3794760"/>
            <a:ext cx="64008" cy="822960"/>
          </a:xfrm>
          <a:prstGeom prst="rect">
            <a:avLst/>
          </a:prstGeom>
          <a:solidFill>
            <a:srgbClr val="FFB300"/>
          </a:solidFill>
          <a:ln/>
        </p:spPr>
      </p:sp>
      <p:sp>
        <p:nvSpPr>
          <p:cNvPr id="9" name="Text 7"/>
          <p:cNvSpPr/>
          <p:nvPr/>
        </p:nvSpPr>
        <p:spPr>
          <a:xfrm>
            <a:off x="685800" y="3867912"/>
            <a:ext cx="7863840" cy="274320"/>
          </a:xfrm>
          <a:prstGeom prst="rect">
            <a:avLst/>
          </a:prstGeom>
          <a:noFill/>
          <a:ln/>
        </p:spPr>
        <p:txBody>
          <a:bodyPr wrap="square" lIns="0" tIns="0" rIns="0" bIns="0" rtlCol="0" anchor="ctr"/>
          <a:lstStyle/>
          <a:p>
            <a:pPr indent="0" marL="0">
              <a:buNone/>
            </a:pPr>
            <a:r>
              <a:rPr lang="en-US" sz="1300" b="1" dirty="0">
                <a:solidFill>
                  <a:srgbClr val="FFB300"/>
                </a:solidFill>
                <a:latin typeface="Trebuchet MS" pitchFamily="34" charset="0"/>
                <a:ea typeface="Trebuchet MS" pitchFamily="34" charset="-122"/>
                <a:cs typeface="Trebuchet MS" pitchFamily="34" charset="-120"/>
              </a:rPr>
              <a:t>Homework</a:t>
            </a:r>
            <a:endParaRPr lang="en-US" sz="1300" dirty="0"/>
          </a:p>
        </p:txBody>
      </p:sp>
      <p:sp>
        <p:nvSpPr>
          <p:cNvPr id="10" name="Text 8"/>
          <p:cNvSpPr/>
          <p:nvPr/>
        </p:nvSpPr>
        <p:spPr>
          <a:xfrm>
            <a:off x="685800" y="4142232"/>
            <a:ext cx="7863840" cy="41148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Install the Raspberry Pi Pico platform in PlatformIO before next session - steps in homework/README.md. Next session we move to the Pico. The task is in homework/README.md.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11 - Hardware Timers and Interrupts</dc:title>
  <dc:subject>PptxGenJS Presentation</dc:subject>
  <dc:creator>Embedded Software Development in C/C++</dc:creator>
  <cp:lastModifiedBy>Embedded Software Development in C/C++</cp:lastModifiedBy>
  <cp:revision>1</cp:revision>
  <dcterms:created xsi:type="dcterms:W3CDTF">2026-10-05T13:13:11Z</dcterms:created>
  <dcterms:modified xsi:type="dcterms:W3CDTF">2026-10-05T13:13:11Z</dcterms:modified>
</cp:coreProperties>
</file>