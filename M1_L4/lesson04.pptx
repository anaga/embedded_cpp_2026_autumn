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image" Target="../media/image-1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B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ADCF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CADCFC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0" y="640080"/>
            <a:ext cx="914400" cy="9144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16916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200" kern="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04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457200" y="201168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Soldering</a:t>
            </a:r>
            <a:endParaRPr lang="en-US" sz="4000" dirty="0"/>
          </a:p>
        </p:txBody>
      </p:sp>
      <p:sp>
        <p:nvSpPr>
          <p:cNvPr id="7" name="Shape 4"/>
          <p:cNvSpPr/>
          <p:nvPr/>
        </p:nvSpPr>
        <p:spPr>
          <a:xfrm>
            <a:off x="3200400" y="2926080"/>
            <a:ext cx="2743200" cy="27432"/>
          </a:xfrm>
          <a:prstGeom prst="rect">
            <a:avLst/>
          </a:prstGeom>
          <a:solidFill>
            <a:srgbClr val="3A4A8A"/>
          </a:solidFill>
          <a:ln/>
        </p:spPr>
      </p:sp>
      <p:sp>
        <p:nvSpPr>
          <p:cNvPr id="8" name="Text 5"/>
          <p:cNvSpPr/>
          <p:nvPr/>
        </p:nvSpPr>
        <p:spPr>
          <a:xfrm>
            <a:off x="457200" y="31089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CADC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Make the joint, then find the answer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457200" y="36118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Embedded Software Development in C/C++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457200" y="40233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A4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 K2  |  Session 4 of 25  |  4 academic hours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Goals for Today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41248"/>
            <a:ext cx="1005840" cy="32004"/>
          </a:xfrm>
          <a:prstGeom prst="rect">
            <a:avLst/>
          </a:prstGeom>
          <a:solidFill>
            <a:srgbClr val="CADCFC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4709160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04  |  Soldering and Documentation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8229600" y="4709160"/>
            <a:ext cx="731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" y="1051560"/>
            <a:ext cx="82296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35000"/>
              </a:lnSpc>
              <a:buSzPct val="100000"/>
              <a:buChar char="■"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Solder header pins to a board and get joints that hold</a:t>
            </a:r>
            <a:endParaRPr lang="en-US" sz="1500" dirty="0"/>
          </a:p>
          <a:p>
            <a:pPr marL="342900" indent="-342900">
              <a:lnSpc>
                <a:spcPct val="135000"/>
              </a:lnSpc>
              <a:buSzPct val="100000"/>
              <a:buChar char="■"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Tell a good joint from a cold joint and a bridge</a:t>
            </a:r>
            <a:endParaRPr lang="en-US" sz="1500" dirty="0"/>
          </a:p>
          <a:p>
            <a:pPr marL="342900" indent="-342900">
              <a:lnSpc>
                <a:spcPct val="135000"/>
              </a:lnSpc>
              <a:buSzPct val="100000"/>
              <a:buChar char="■"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your own work with a multimeter</a:t>
            </a:r>
            <a:endParaRPr lang="en-US" sz="1500" dirty="0"/>
          </a:p>
          <a:p>
            <a:pPr marL="342900" indent="-342900">
              <a:lnSpc>
                <a:spcPct val="135000"/>
              </a:lnSpc>
              <a:buSzPct val="100000"/>
              <a:buChar char="■"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 which document answers which kind of question</a:t>
            </a:r>
            <a:endParaRPr lang="en-US" sz="1500" dirty="0"/>
          </a:p>
          <a:p>
            <a:pPr marL="342900" indent="-342900">
              <a:lnSpc>
                <a:spcPct val="135000"/>
              </a:lnSpc>
              <a:buSzPct val="100000"/>
              <a:buChar char="■"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one specific number in an 800-page datasheet</a:t>
            </a:r>
            <a:endParaRPr lang="en-US" sz="1500" dirty="0"/>
          </a:p>
          <a:p>
            <a:pPr marL="342900" indent="-342900">
              <a:lnSpc>
                <a:spcPct val="135000"/>
              </a:lnSpc>
              <a:buSzPct val="100000"/>
              <a:buChar char="■"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AI as a search aid without trusting its numbers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457200" y="3840480"/>
            <a:ext cx="8229600" cy="731520"/>
          </a:xfrm>
          <a:prstGeom prst="rect">
            <a:avLst/>
          </a:prstGeom>
          <a:solidFill>
            <a:srgbClr val="253270"/>
          </a:solidFill>
          <a:ln w="12700">
            <a:solidFill>
              <a:srgbClr val="4CAF5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3840480"/>
            <a:ext cx="64008" cy="731520"/>
          </a:xfrm>
          <a:prstGeom prst="rect">
            <a:avLst/>
          </a:prstGeom>
          <a:solidFill>
            <a:srgbClr val="4CAF50"/>
          </a:solidFill>
          <a:ln/>
        </p:spPr>
      </p:sp>
      <p:sp>
        <p:nvSpPr>
          <p:cNvPr id="9" name="Text 7"/>
          <p:cNvSpPr/>
          <p:nvPr/>
        </p:nvSpPr>
        <p:spPr>
          <a:xfrm>
            <a:off x="685800" y="3913632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CAF5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This closes block K2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85800" y="4187952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today we start programming the ESP32-C3 in C.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Homework Review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41248"/>
            <a:ext cx="1005840" cy="32004"/>
          </a:xfrm>
          <a:prstGeom prst="rect">
            <a:avLst/>
          </a:prstGeom>
          <a:solidFill>
            <a:srgbClr val="CADCFC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4709160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04  |  Soldering and Documentation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8229600" y="4709160"/>
            <a:ext cx="731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51560"/>
          <a:ext cx="5852160" cy="914400"/>
        </p:xfrm>
        <a:graphic>
          <a:graphicData uri="http://schemas.openxmlformats.org/drawingml/2006/table">
            <a:tbl>
              <a:tblPr/>
              <a:tblGrid>
                <a:gridCol w="3291840"/>
                <a:gridCol w="2560320"/>
              </a:tblGrid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Problem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4A8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Answer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4A8A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1 - resistor for red LED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327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CADC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130 ohm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3270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2 - resistor for blue LED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327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CADC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 ohm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3270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3 - power in the resistor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327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CADC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0.013 W (13 mW)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3270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4 - resistance from measurement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327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CADC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1031 ohm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3270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5 - minimum pull-up value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327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CADC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6600 ohm (6.6 kohm)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3270"/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457200" y="3794760"/>
            <a:ext cx="8229600" cy="777240"/>
          </a:xfrm>
          <a:prstGeom prst="rect">
            <a:avLst/>
          </a:prstGeom>
          <a:solidFill>
            <a:srgbClr val="253270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457200" y="3794760"/>
            <a:ext cx="64008" cy="777240"/>
          </a:xfrm>
          <a:prstGeom prst="rect">
            <a:avLst/>
          </a:prstGeom>
          <a:solidFill>
            <a:srgbClr val="CADCFC"/>
          </a:solidFill>
          <a:ln/>
        </p:spPr>
      </p:sp>
      <p:sp>
        <p:nvSpPr>
          <p:cNvPr id="9" name="Text 6"/>
          <p:cNvSpPr/>
          <p:nvPr/>
        </p:nvSpPr>
        <p:spPr>
          <a:xfrm>
            <a:off x="685800" y="3867912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ADC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Hold on to problem 5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685800" y="4142232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calculated a minimum pull-up of 6.6 kohm. Later today the datasheet tells us what the chip actually uses.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41B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148840"/>
            <a:ext cx="822960" cy="54864"/>
          </a:xfrm>
          <a:prstGeom prst="rect">
            <a:avLst/>
          </a:prstGeom>
          <a:solidFill>
            <a:srgbClr val="FFB300"/>
          </a:solidFill>
          <a:ln/>
        </p:spPr>
      </p:sp>
      <p:sp>
        <p:nvSpPr>
          <p:cNvPr id="3" name="Text 1"/>
          <p:cNvSpPr/>
          <p:nvPr/>
        </p:nvSpPr>
        <p:spPr>
          <a:xfrm>
            <a:off x="1097280" y="18745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B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097280" y="2240280"/>
            <a:ext cx="7315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Soldering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1097280" y="30632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Monday you watched. Today you solder.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We Are Working With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41248"/>
            <a:ext cx="1005840" cy="32004"/>
          </a:xfrm>
          <a:prstGeom prst="rect">
            <a:avLst/>
          </a:prstGeom>
          <a:solidFill>
            <a:srgbClr val="CADCFC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4709160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04  |  Soldering and Documentation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8229600" y="4709160"/>
            <a:ext cx="731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51560"/>
          <a:ext cx="6035040" cy="914400"/>
        </p:xfrm>
        <a:graphic>
          <a:graphicData uri="http://schemas.openxmlformats.org/drawingml/2006/table">
            <a:tbl>
              <a:tblPr/>
              <a:tblGrid>
                <a:gridCol w="2560320"/>
                <a:gridCol w="3474720"/>
              </a:tblGrid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Property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4A8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Value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4A8A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Solder alloy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327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CADC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Sn99 Cu0.7 Ag0.3, lead free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3270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Wire diameter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327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CADC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 mm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3270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Flux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327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CADC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Rosin core, 3 percent, inside the wire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3270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Melting point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327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CADC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about 227 C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3270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Iron temperature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327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CADC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350 C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3270"/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457200" y="3794760"/>
            <a:ext cx="8229600" cy="777240"/>
          </a:xfrm>
          <a:prstGeom prst="rect">
            <a:avLst/>
          </a:prstGeom>
          <a:solidFill>
            <a:srgbClr val="253270"/>
          </a:solidFill>
          <a:ln w="12700">
            <a:solidFill>
              <a:srgbClr val="4CAF50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457200" y="3794760"/>
            <a:ext cx="64008" cy="777240"/>
          </a:xfrm>
          <a:prstGeom prst="rect">
            <a:avLst/>
          </a:prstGeom>
          <a:solidFill>
            <a:srgbClr val="4CAF50"/>
          </a:solidFill>
          <a:ln/>
        </p:spPr>
      </p:sp>
      <p:sp>
        <p:nvSpPr>
          <p:cNvPr id="9" name="Text 6"/>
          <p:cNvSpPr/>
          <p:nvPr/>
        </p:nvSpPr>
        <p:spPr>
          <a:xfrm>
            <a:off x="685800" y="3867912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CAF5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No extra flux needed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685800" y="4142232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flux is already inside the solder wire. For header pins on a clean board that is enough.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Lead-Free Behaves Differently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41248"/>
            <a:ext cx="1005840" cy="32004"/>
          </a:xfrm>
          <a:prstGeom prst="rect">
            <a:avLst/>
          </a:prstGeom>
          <a:solidFill>
            <a:srgbClr val="CADCFC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4709160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04  |  Soldering and Documentation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8229600" y="4709160"/>
            <a:ext cx="731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" y="1051560"/>
            <a:ext cx="822960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35000"/>
              </a:lnSpc>
              <a:buSzPct val="100000"/>
              <a:buChar char="■"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Lead-free melts at about 227 C. The old tin-lead alloy melted at 183 C</a:t>
            </a:r>
            <a:endParaRPr lang="en-US" sz="1500" dirty="0"/>
          </a:p>
          <a:p>
            <a:pPr marL="342900" indent="-342900">
              <a:lnSpc>
                <a:spcPct val="135000"/>
              </a:lnSpc>
              <a:buSzPct val="100000"/>
              <a:buChar char="■"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 is why the iron sits at 350 C and not lower</a:t>
            </a:r>
            <a:endParaRPr lang="en-US" sz="1500" dirty="0"/>
          </a:p>
          <a:p>
            <a:pPr marL="342900" indent="-342900">
              <a:lnSpc>
                <a:spcPct val="135000"/>
              </a:lnSpc>
              <a:buSzPct val="100000"/>
              <a:buChar char="■"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flows less eagerly and gives you a smaller window to work in</a:t>
            </a:r>
            <a:endParaRPr lang="en-US" sz="1500" dirty="0"/>
          </a:p>
          <a:p>
            <a:pPr marL="342900" indent="-342900">
              <a:lnSpc>
                <a:spcPct val="135000"/>
              </a:lnSpc>
              <a:buSzPct val="100000"/>
              <a:buChar char="■"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finished joint looks matte and slightly grainy, not mirror shiny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457200" y="3291840"/>
            <a:ext cx="8229600" cy="1005840"/>
          </a:xfrm>
          <a:prstGeom prst="rect">
            <a:avLst/>
          </a:prstGeom>
          <a:solidFill>
            <a:srgbClr val="253270"/>
          </a:solidFill>
          <a:ln w="12700">
            <a:solidFill>
              <a:srgbClr val="FFB30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3291840"/>
            <a:ext cx="64008" cy="1005840"/>
          </a:xfrm>
          <a:prstGeom prst="rect">
            <a:avLst/>
          </a:prstGeom>
          <a:solidFill>
            <a:srgbClr val="FFB300"/>
          </a:solidFill>
          <a:ln/>
        </p:spPr>
      </p:sp>
      <p:sp>
        <p:nvSpPr>
          <p:cNvPr id="9" name="Text 7"/>
          <p:cNvSpPr/>
          <p:nvPr/>
        </p:nvSpPr>
        <p:spPr>
          <a:xfrm>
            <a:off x="685800" y="3364992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B3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Matte is normal, not a cold joint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85800" y="3639312"/>
            <a:ext cx="7863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soldering photos online show tin-lead solder, which is shiny. Do not re-melt a good lead-free joint just because it looks dull.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Making One Joint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41248"/>
            <a:ext cx="1005840" cy="32004"/>
          </a:xfrm>
          <a:prstGeom prst="rect">
            <a:avLst/>
          </a:prstGeom>
          <a:solidFill>
            <a:srgbClr val="CADCFC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4709160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04  |  Soldering and Documentation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8229600" y="4709160"/>
            <a:ext cx="731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" y="1051560"/>
            <a:ext cx="822960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35000"/>
              </a:lnSpc>
              <a:buSzPct val="100000"/>
              <a:buChar char="■"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Wipe the tip and tin it. A dry oxidised tip transfers almost no heat</a:t>
            </a:r>
            <a:endParaRPr lang="en-US" sz="1500" dirty="0"/>
          </a:p>
          <a:p>
            <a:pPr marL="342900" indent="-342900">
              <a:lnSpc>
                <a:spcPct val="135000"/>
              </a:lnSpc>
              <a:buSzPct val="100000"/>
              <a:buChar char="■"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Touch the tip to the pin and the pad at the same time</a:t>
            </a:r>
            <a:endParaRPr lang="en-US" sz="1500" dirty="0"/>
          </a:p>
          <a:p>
            <a:pPr marL="342900" indent="-342900">
              <a:lnSpc>
                <a:spcPct val="135000"/>
              </a:lnSpc>
              <a:buSzPct val="100000"/>
              <a:buChar char="■"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Wait about one second, then feed solder into the joint, not onto the tip</a:t>
            </a:r>
            <a:endParaRPr lang="en-US" sz="1500" dirty="0"/>
          </a:p>
          <a:p>
            <a:pPr marL="342900" indent="-342900">
              <a:lnSpc>
                <a:spcPct val="135000"/>
              </a:lnSpc>
              <a:buSzPct val="100000"/>
              <a:buChar char="■"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Let it flow around the pin, then remove the solder, then the iron</a:t>
            </a:r>
            <a:endParaRPr lang="en-US" sz="1500" dirty="0"/>
          </a:p>
          <a:p>
            <a:pPr marL="342900" indent="-342900">
              <a:lnSpc>
                <a:spcPct val="135000"/>
              </a:lnSpc>
              <a:buSzPct val="100000"/>
              <a:buChar char="■"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Total contact time 2 to 3 seconds per pin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457200" y="3703320"/>
            <a:ext cx="8229600" cy="868680"/>
          </a:xfrm>
          <a:prstGeom prst="rect">
            <a:avLst/>
          </a:prstGeom>
          <a:solidFill>
            <a:srgbClr val="253270"/>
          </a:solidFill>
          <a:ln w="12700">
            <a:solidFill>
              <a:srgbClr val="FF525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3703320"/>
            <a:ext cx="64008" cy="868680"/>
          </a:xfrm>
          <a:prstGeom prst="rect">
            <a:avLst/>
          </a:prstGeom>
          <a:solidFill>
            <a:srgbClr val="FF5252"/>
          </a:solidFill>
          <a:ln/>
        </p:spPr>
      </p:sp>
      <p:sp>
        <p:nvSpPr>
          <p:cNvPr id="9" name="Text 7"/>
          <p:cNvSpPr/>
          <p:nvPr/>
        </p:nvSpPr>
        <p:spPr>
          <a:xfrm>
            <a:off x="685800" y="3776472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525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If it is not flowing, do not wait longer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85800" y="4050792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Raise the temperature toward 370 C instead. Holding a cool iron on a pad for ten seconds lifts the pad off the board.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Three Outcomes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41248"/>
            <a:ext cx="1005840" cy="32004"/>
          </a:xfrm>
          <a:prstGeom prst="rect">
            <a:avLst/>
          </a:prstGeom>
          <a:solidFill>
            <a:srgbClr val="CADCFC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4709160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04  |  Soldering and Documentation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8229600" y="4709160"/>
            <a:ext cx="731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1280160"/>
            <a:ext cx="2590800" cy="2468880"/>
          </a:xfrm>
          <a:prstGeom prst="rect">
            <a:avLst/>
          </a:prstGeom>
          <a:solidFill>
            <a:srgbClr val="253270"/>
          </a:solidFill>
          <a:ln w="25400">
            <a:solidFill>
              <a:srgbClr val="4CAF5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25000"/>
              </a:srgbClr>
            </a:outerShdw>
          </a:effectLst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78280" y="1508760"/>
            <a:ext cx="548640" cy="54864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457200" y="2240280"/>
            <a:ext cx="259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Good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594360" y="2743200"/>
            <a:ext cx="2316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Solder has wetted both the pin and the pad. Smooth cone shape. Matte surface. Nothing moves when you push the pin.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3276600" y="1280160"/>
            <a:ext cx="2590800" cy="2468880"/>
          </a:xfrm>
          <a:prstGeom prst="rect">
            <a:avLst/>
          </a:prstGeom>
          <a:solidFill>
            <a:srgbClr val="253270"/>
          </a:solidFill>
          <a:ln w="25400">
            <a:solidFill>
              <a:srgbClr val="FFB30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25000"/>
              </a:srgbClr>
            </a:outerShdw>
          </a:effectLst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97680" y="1508760"/>
            <a:ext cx="548640" cy="54864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276600" y="2240280"/>
            <a:ext cx="259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Cold</a:t>
            </a:r>
            <a:endParaRPr lang="en-US" sz="1700" dirty="0"/>
          </a:p>
        </p:txBody>
      </p:sp>
      <p:sp>
        <p:nvSpPr>
          <p:cNvPr id="13" name="Text 9"/>
          <p:cNvSpPr/>
          <p:nvPr/>
        </p:nvSpPr>
        <p:spPr>
          <a:xfrm>
            <a:off x="3413760" y="2743200"/>
            <a:ext cx="2316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blob sitting on the pad without wetting it. Often cracked or lumpy. Works today, fails in a month when the board is moved.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6096000" y="1280160"/>
            <a:ext cx="2590800" cy="2468880"/>
          </a:xfrm>
          <a:prstGeom prst="rect">
            <a:avLst/>
          </a:prstGeom>
          <a:solidFill>
            <a:srgbClr val="253270"/>
          </a:solidFill>
          <a:ln w="25400">
            <a:solidFill>
              <a:srgbClr val="FF5252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25000"/>
              </a:srgbClr>
            </a:outerShdw>
          </a:effectLst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17080" y="1508760"/>
            <a:ext cx="548640" cy="54864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6096000" y="2240280"/>
            <a:ext cx="259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Bridge</a:t>
            </a:r>
            <a:endParaRPr lang="en-US" sz="1700" dirty="0"/>
          </a:p>
        </p:txBody>
      </p:sp>
      <p:sp>
        <p:nvSpPr>
          <p:cNvPr id="17" name="Text 12"/>
          <p:cNvSpPr/>
          <p:nvPr/>
        </p:nvSpPr>
        <p:spPr>
          <a:xfrm>
            <a:off x="6233160" y="2743200"/>
            <a:ext cx="2316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Solder connecting two neighbouring pins. The most common beginner fault and the easiest to find with a multimeter.</a:t>
            </a:r>
            <a:endParaRPr lang="en-US" sz="1200" dirty="0"/>
          </a:p>
        </p:txBody>
      </p:sp>
      <p:sp>
        <p:nvSpPr>
          <p:cNvPr id="18" name="Shape 13"/>
          <p:cNvSpPr/>
          <p:nvPr/>
        </p:nvSpPr>
        <p:spPr>
          <a:xfrm>
            <a:off x="457200" y="3931920"/>
            <a:ext cx="8229600" cy="640080"/>
          </a:xfrm>
          <a:prstGeom prst="rect">
            <a:avLst/>
          </a:prstGeom>
          <a:solidFill>
            <a:srgbClr val="253270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9" name="Shape 14"/>
          <p:cNvSpPr/>
          <p:nvPr/>
        </p:nvSpPr>
        <p:spPr>
          <a:xfrm>
            <a:off x="457200" y="3931920"/>
            <a:ext cx="64008" cy="640080"/>
          </a:xfrm>
          <a:prstGeom prst="rect">
            <a:avLst/>
          </a:prstGeom>
          <a:solidFill>
            <a:srgbClr val="CADCFC"/>
          </a:solidFill>
          <a:ln/>
        </p:spPr>
      </p:sp>
      <p:sp>
        <p:nvSpPr>
          <p:cNvPr id="20" name="Text 15"/>
          <p:cNvSpPr/>
          <p:nvPr/>
        </p:nvSpPr>
        <p:spPr>
          <a:xfrm>
            <a:off x="685800" y="4005072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ADC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 cold joint is worse than an obvious failure</a:t>
            </a:r>
            <a:endParaRPr lang="en-US" sz="1300" dirty="0"/>
          </a:p>
        </p:txBody>
      </p:sp>
      <p:sp>
        <p:nvSpPr>
          <p:cNvPr id="21" name="Text 16"/>
          <p:cNvSpPr/>
          <p:nvPr/>
        </p:nvSpPr>
        <p:spPr>
          <a:xfrm>
            <a:off x="685800" y="4279392"/>
            <a:ext cx="7863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passes the first test and fails later, somewhere else, for no visible reason.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Safety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41248"/>
            <a:ext cx="1005840" cy="32004"/>
          </a:xfrm>
          <a:prstGeom prst="rect">
            <a:avLst/>
          </a:prstGeom>
          <a:solidFill>
            <a:srgbClr val="CADCFC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4709160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04  |  Soldering and Documentation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8229600" y="4709160"/>
            <a:ext cx="731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" y="1051560"/>
            <a:ext cx="822960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35000"/>
              </a:lnSpc>
              <a:buSzPct val="100000"/>
              <a:buChar char="■"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tip is at 350 C. It burns on contact and stays hot long after switch off</a:t>
            </a:r>
            <a:endParaRPr lang="en-US" sz="1500" dirty="0"/>
          </a:p>
          <a:p>
            <a:pPr marL="342900" indent="-342900">
              <a:lnSpc>
                <a:spcPct val="135000"/>
              </a:lnSpc>
              <a:buSzPct val="100000"/>
              <a:buChar char="■"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iron lives in its holder. Never on the bench, never hanging over an edge</a:t>
            </a:r>
            <a:endParaRPr lang="en-US" sz="1500" dirty="0"/>
          </a:p>
          <a:p>
            <a:pPr marL="342900" indent="-342900">
              <a:lnSpc>
                <a:spcPct val="135000"/>
              </a:lnSpc>
              <a:buSzPct val="100000"/>
              <a:buChar char="■"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smoke is flux, not solder. Do not lean over the joint while it melts</a:t>
            </a:r>
            <a:endParaRPr lang="en-US" sz="1500" dirty="0"/>
          </a:p>
          <a:p>
            <a:pPr marL="342900" indent="-342900">
              <a:lnSpc>
                <a:spcPct val="135000"/>
              </a:lnSpc>
              <a:buSzPct val="100000"/>
              <a:buChar char="■"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Wash your hands before eating, even with lead-free solder</a:t>
            </a:r>
            <a:endParaRPr lang="en-US" sz="1500" dirty="0"/>
          </a:p>
          <a:p>
            <a:pPr marL="342900" indent="-342900">
              <a:lnSpc>
                <a:spcPct val="135000"/>
              </a:lnSpc>
              <a:buSzPct val="100000"/>
              <a:buChar char="■"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Solder splashes: no leaning over, and keep your eyes out of the plane of work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457200" y="3840480"/>
            <a:ext cx="8229600" cy="731520"/>
          </a:xfrm>
          <a:prstGeom prst="rect">
            <a:avLst/>
          </a:prstGeom>
          <a:solidFill>
            <a:srgbClr val="253270"/>
          </a:solidFill>
          <a:ln w="12700">
            <a:solidFill>
              <a:srgbClr val="FF525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3840480"/>
            <a:ext cx="64008" cy="731520"/>
          </a:xfrm>
          <a:prstGeom prst="rect">
            <a:avLst/>
          </a:prstGeom>
          <a:solidFill>
            <a:srgbClr val="FF5252"/>
          </a:solidFill>
          <a:ln/>
        </p:spPr>
      </p:sp>
      <p:sp>
        <p:nvSpPr>
          <p:cNvPr id="9" name="Text 7"/>
          <p:cNvSpPr/>
          <p:nvPr/>
        </p:nvSpPr>
        <p:spPr>
          <a:xfrm>
            <a:off x="685800" y="3913632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525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If something goes wrong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85800" y="4187952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Burn: cold running water, tell the instructor. Dropped iron: let it fall, do not catch it.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Your Task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41248"/>
            <a:ext cx="1005840" cy="32004"/>
          </a:xfrm>
          <a:prstGeom prst="rect">
            <a:avLst/>
          </a:prstGeom>
          <a:solidFill>
            <a:srgbClr val="CADCFC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4709160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04  |  Soldering and Documentation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8229600" y="4709160"/>
            <a:ext cx="731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" y="1051560"/>
            <a:ext cx="822960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35000"/>
              </a:lnSpc>
              <a:buSzPct val="100000"/>
              <a:buChar char="■"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spare ESP32-C3 Super Mini and a set of header pins, one per person</a:t>
            </a:r>
            <a:endParaRPr lang="en-US" sz="1500" dirty="0"/>
          </a:p>
          <a:p>
            <a:pPr marL="342900" indent="-342900">
              <a:lnSpc>
                <a:spcPct val="135000"/>
              </a:lnSpc>
              <a:buSzPct val="100000"/>
              <a:buChar char="■"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Seat the header in the holes, board flat on the bench</a:t>
            </a:r>
            <a:endParaRPr lang="en-US" sz="1500" dirty="0"/>
          </a:p>
          <a:p>
            <a:pPr marL="342900" indent="-342900">
              <a:lnSpc>
                <a:spcPct val="135000"/>
              </a:lnSpc>
              <a:buSzPct val="100000"/>
              <a:buChar char="■"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Solder one corner pin first, check the header sits straight, then do the rest</a:t>
            </a:r>
            <a:endParaRPr lang="en-US" sz="1500" dirty="0"/>
          </a:p>
          <a:p>
            <a:pPr marL="342900" indent="-342900">
              <a:lnSpc>
                <a:spcPct val="135000"/>
              </a:lnSpc>
              <a:buSzPct val="100000"/>
              <a:buChar char="■"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the header is crooked, reheat that single corner pin and adjust</a:t>
            </a:r>
            <a:endParaRPr lang="en-US" sz="1500" dirty="0"/>
          </a:p>
          <a:p>
            <a:pPr marL="342900" indent="-342900">
              <a:lnSpc>
                <a:spcPct val="135000"/>
              </a:lnSpc>
              <a:buSzPct val="100000"/>
              <a:buChar char="■"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 through the row pin by pin. Speed is not the goal today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457200" y="3749040"/>
            <a:ext cx="8229600" cy="777240"/>
          </a:xfrm>
          <a:prstGeom prst="rect">
            <a:avLst/>
          </a:prstGeom>
          <a:solidFill>
            <a:srgbClr val="253270"/>
          </a:solidFill>
          <a:ln w="12700">
            <a:solidFill>
              <a:srgbClr val="FFB30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3749040"/>
            <a:ext cx="64008" cy="777240"/>
          </a:xfrm>
          <a:prstGeom prst="rect">
            <a:avLst/>
          </a:prstGeom>
          <a:solidFill>
            <a:srgbClr val="FFB300"/>
          </a:solidFill>
          <a:ln/>
        </p:spPr>
      </p:sp>
      <p:sp>
        <p:nvSpPr>
          <p:cNvPr id="9" name="Text 7"/>
          <p:cNvSpPr/>
          <p:nvPr/>
        </p:nvSpPr>
        <p:spPr>
          <a:xfrm>
            <a:off x="685800" y="3822192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B3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One corner pin first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85800" y="4096512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Solder the whole row before checking alignment and you get to desolder the whole row.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Check Your Own Work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41248"/>
            <a:ext cx="1005840" cy="32004"/>
          </a:xfrm>
          <a:prstGeom prst="rect">
            <a:avLst/>
          </a:prstGeom>
          <a:solidFill>
            <a:srgbClr val="CADCFC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4709160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04  |  Soldering and Documentation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8229600" y="4709160"/>
            <a:ext cx="731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" y="1051560"/>
            <a:ext cx="822960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35000"/>
              </a:lnSpc>
              <a:buSzPct val="100000"/>
              <a:buChar char="■"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Multimeter in continuity mode - the same tool you used on Monday</a:t>
            </a:r>
            <a:endParaRPr lang="en-US" sz="1500" dirty="0"/>
          </a:p>
          <a:p>
            <a:pPr marL="342900" indent="-342900">
              <a:lnSpc>
                <a:spcPct val="135000"/>
              </a:lnSpc>
              <a:buSzPct val="100000"/>
              <a:buChar char="■"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Between each pin and its pad: must beep. No beep means a cold joint</a:t>
            </a:r>
            <a:endParaRPr lang="en-US" sz="1500" dirty="0"/>
          </a:p>
          <a:p>
            <a:pPr marL="342900" indent="-342900">
              <a:lnSpc>
                <a:spcPct val="135000"/>
              </a:lnSpc>
              <a:buSzPct val="100000"/>
              <a:buChar char="■"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Between neighbouring pins: must stay silent. A beep means a bridge</a:t>
            </a:r>
            <a:endParaRPr lang="en-US" sz="1500" dirty="0"/>
          </a:p>
          <a:p>
            <a:pPr marL="342900" indent="-342900">
              <a:lnSpc>
                <a:spcPct val="135000"/>
              </a:lnSpc>
              <a:buSzPct val="100000"/>
              <a:buChar char="■"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Then look at every joint against the three outcomes we just covered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457200" y="3291840"/>
            <a:ext cx="8229600" cy="960120"/>
          </a:xfrm>
          <a:prstGeom prst="rect">
            <a:avLst/>
          </a:prstGeom>
          <a:solidFill>
            <a:srgbClr val="253270"/>
          </a:solidFill>
          <a:ln w="12700">
            <a:solidFill>
              <a:srgbClr val="4CAF5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3291840"/>
            <a:ext cx="64008" cy="960120"/>
          </a:xfrm>
          <a:prstGeom prst="rect">
            <a:avLst/>
          </a:prstGeom>
          <a:solidFill>
            <a:srgbClr val="4CAF50"/>
          </a:solidFill>
          <a:ln/>
        </p:spPr>
      </p:sp>
      <p:sp>
        <p:nvSpPr>
          <p:cNvPr id="9" name="Text 7"/>
          <p:cNvSpPr/>
          <p:nvPr/>
        </p:nvSpPr>
        <p:spPr>
          <a:xfrm>
            <a:off x="685800" y="3364992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CAF5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This is the debugging habit, not an extra step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85800" y="3639312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now have a tool that finds the fault before the board is ever powered. Measuring beats assuming - the same rule as Monday.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41B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148840"/>
            <a:ext cx="822960" cy="54864"/>
          </a:xfrm>
          <a:prstGeom prst="rect">
            <a:avLst/>
          </a:prstGeom>
          <a:solidFill>
            <a:srgbClr val="FFB300"/>
          </a:solidFill>
          <a:ln/>
        </p:spPr>
      </p:sp>
      <p:sp>
        <p:nvSpPr>
          <p:cNvPr id="3" name="Text 1"/>
          <p:cNvSpPr/>
          <p:nvPr/>
        </p:nvSpPr>
        <p:spPr>
          <a:xfrm>
            <a:off x="1097280" y="18745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B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2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097280" y="2240280"/>
            <a:ext cx="7315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Reading Documentation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1097280" y="30632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the rules we have been using actually come from</a:t>
            </a:r>
            <a:endParaRPr lang="en-US" sz="14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Three Documents, Three Jobs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41248"/>
            <a:ext cx="1005840" cy="32004"/>
          </a:xfrm>
          <a:prstGeom prst="rect">
            <a:avLst/>
          </a:prstGeom>
          <a:solidFill>
            <a:srgbClr val="CADCFC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4709160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04  |  Soldering and Documentation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8229600" y="4709160"/>
            <a:ext cx="731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1280160"/>
            <a:ext cx="2590800" cy="2377440"/>
          </a:xfrm>
          <a:prstGeom prst="rect">
            <a:avLst/>
          </a:prstGeom>
          <a:solidFill>
            <a:srgbClr val="253270"/>
          </a:solidFill>
          <a:ln w="12700">
            <a:solidFill>
              <a:srgbClr val="3A4A8A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25000"/>
              </a:srgbClr>
            </a:outerShdw>
          </a:effectLst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78280" y="1508760"/>
            <a:ext cx="548640" cy="54864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457200" y="2240280"/>
            <a:ext cx="259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Datasheet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594360" y="2743200"/>
            <a:ext cx="2316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chip IS. Pins, voltages, currents, limits, packaging. Go here for a number.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3276600" y="1280160"/>
            <a:ext cx="2590800" cy="2377440"/>
          </a:xfrm>
          <a:prstGeom prst="rect">
            <a:avLst/>
          </a:prstGeom>
          <a:solidFill>
            <a:srgbClr val="253270"/>
          </a:solidFill>
          <a:ln w="12700">
            <a:solidFill>
              <a:srgbClr val="3A4A8A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25000"/>
              </a:srgbClr>
            </a:outerShdw>
          </a:effectLst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97680" y="1508760"/>
            <a:ext cx="548640" cy="54864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276600" y="2240280"/>
            <a:ext cx="259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Reference Manual</a:t>
            </a:r>
            <a:endParaRPr lang="en-US" sz="1700" dirty="0"/>
          </a:p>
        </p:txBody>
      </p:sp>
      <p:sp>
        <p:nvSpPr>
          <p:cNvPr id="13" name="Text 9"/>
          <p:cNvSpPr/>
          <p:nvPr/>
        </p:nvSpPr>
        <p:spPr>
          <a:xfrm>
            <a:off x="3413760" y="2743200"/>
            <a:ext cx="2316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the chip WORKS. Registers, peripherals, bit fields. Go here to program something.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6096000" y="1280160"/>
            <a:ext cx="2590800" cy="2377440"/>
          </a:xfrm>
          <a:prstGeom prst="rect">
            <a:avLst/>
          </a:prstGeom>
          <a:solidFill>
            <a:srgbClr val="253270"/>
          </a:solidFill>
          <a:ln w="12700">
            <a:solidFill>
              <a:srgbClr val="3A4A8A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25000"/>
              </a:srgbClr>
            </a:outerShdw>
          </a:effectLst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17080" y="1508760"/>
            <a:ext cx="548640" cy="54864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6096000" y="2240280"/>
            <a:ext cx="259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Application Note</a:t>
            </a:r>
            <a:endParaRPr lang="en-US" sz="1700" dirty="0"/>
          </a:p>
        </p:txBody>
      </p:sp>
      <p:sp>
        <p:nvSpPr>
          <p:cNvPr id="17" name="Text 12"/>
          <p:cNvSpPr/>
          <p:nvPr/>
        </p:nvSpPr>
        <p:spPr>
          <a:xfrm>
            <a:off x="6233160" y="2743200"/>
            <a:ext cx="2316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to USE it for one task. Worked examples and recommended circuits.</a:t>
            </a:r>
            <a:endParaRPr lang="en-US" sz="1200" dirty="0"/>
          </a:p>
        </p:txBody>
      </p:sp>
      <p:sp>
        <p:nvSpPr>
          <p:cNvPr id="18" name="Shape 13"/>
          <p:cNvSpPr/>
          <p:nvPr/>
        </p:nvSpPr>
        <p:spPr>
          <a:xfrm>
            <a:off x="457200" y="3840480"/>
            <a:ext cx="8229600" cy="731520"/>
          </a:xfrm>
          <a:prstGeom prst="rect">
            <a:avLst/>
          </a:prstGeom>
          <a:solidFill>
            <a:srgbClr val="253270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9" name="Shape 14"/>
          <p:cNvSpPr/>
          <p:nvPr/>
        </p:nvSpPr>
        <p:spPr>
          <a:xfrm>
            <a:off x="457200" y="3840480"/>
            <a:ext cx="64008" cy="731520"/>
          </a:xfrm>
          <a:prstGeom prst="rect">
            <a:avLst/>
          </a:prstGeom>
          <a:solidFill>
            <a:srgbClr val="CADCFC"/>
          </a:solidFill>
          <a:ln/>
        </p:spPr>
      </p:sp>
      <p:sp>
        <p:nvSpPr>
          <p:cNvPr id="20" name="Text 15"/>
          <p:cNvSpPr/>
          <p:nvPr/>
        </p:nvSpPr>
        <p:spPr>
          <a:xfrm>
            <a:off x="685800" y="3913632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ADC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For the ESP32-C3</a:t>
            </a:r>
            <a:endParaRPr lang="en-US" sz="1300" dirty="0"/>
          </a:p>
        </p:txBody>
      </p:sp>
      <p:sp>
        <p:nvSpPr>
          <p:cNvPr id="21" name="Text 16"/>
          <p:cNvSpPr/>
          <p:nvPr/>
        </p:nvSpPr>
        <p:spPr>
          <a:xfrm>
            <a:off x="685800" y="4187952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Datasheet is about 75 pages. The Technical Reference Manual is over 1000. Picking the right one first saves most of the search.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Finding One Answer in 800 Pages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41248"/>
            <a:ext cx="1005840" cy="32004"/>
          </a:xfrm>
          <a:prstGeom prst="rect">
            <a:avLst/>
          </a:prstGeom>
          <a:solidFill>
            <a:srgbClr val="CADCFC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4709160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04  |  Soldering and Documentation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8229600" y="4709160"/>
            <a:ext cx="731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" y="1051560"/>
            <a:ext cx="822960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35000"/>
              </a:lnSpc>
              <a:buSzPct val="100000"/>
              <a:buChar char="■"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read forward from page one. You are looking something up, not reading a book</a:t>
            </a:r>
            <a:endParaRPr lang="en-US" sz="1500" dirty="0"/>
          </a:p>
          <a:p>
            <a:pPr marL="342900" indent="-342900">
              <a:lnSpc>
                <a:spcPct val="135000"/>
              </a:lnSpc>
              <a:buSzPct val="100000"/>
              <a:buChar char="■"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with the table of contents, then the list of tables - numbers live in tables</a:t>
            </a:r>
            <a:endParaRPr lang="en-US" sz="1500" dirty="0"/>
          </a:p>
          <a:p>
            <a:pPr marL="342900" indent="-342900">
              <a:lnSpc>
                <a:spcPct val="135000"/>
              </a:lnSpc>
              <a:buSzPct val="100000"/>
              <a:buChar char="■"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for the unit, not the concept: mA, kohm, V, not 'how much current'</a:t>
            </a:r>
            <a:endParaRPr lang="en-US" sz="1500" dirty="0"/>
          </a:p>
          <a:p>
            <a:pPr marL="342900" indent="-342900">
              <a:lnSpc>
                <a:spcPct val="135000"/>
              </a:lnSpc>
              <a:buSzPct val="100000"/>
              <a:buChar char="■"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 the standard symbols: VIH, VIL, IOH, IOL, RPU. They are the same across vendors</a:t>
            </a:r>
            <a:endParaRPr lang="en-US" sz="1500" dirty="0"/>
          </a:p>
          <a:p>
            <a:pPr marL="342900" indent="-342900">
              <a:lnSpc>
                <a:spcPct val="135000"/>
              </a:lnSpc>
              <a:buSzPct val="100000"/>
              <a:buChar char="■"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 the document version. Values and page numbers move between revisions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457200" y="3840480"/>
            <a:ext cx="8229600" cy="731520"/>
          </a:xfrm>
          <a:prstGeom prst="rect">
            <a:avLst/>
          </a:prstGeom>
          <a:solidFill>
            <a:srgbClr val="253270"/>
          </a:solidFill>
          <a:ln w="12700">
            <a:solidFill>
              <a:srgbClr val="4CAF5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3840480"/>
            <a:ext cx="64008" cy="731520"/>
          </a:xfrm>
          <a:prstGeom prst="rect">
            <a:avLst/>
          </a:prstGeom>
          <a:solidFill>
            <a:srgbClr val="4CAF50"/>
          </a:solidFill>
          <a:ln/>
        </p:spPr>
      </p:sp>
      <p:sp>
        <p:nvSpPr>
          <p:cNvPr id="9" name="Text 7"/>
          <p:cNvSpPr/>
          <p:nvPr/>
        </p:nvSpPr>
        <p:spPr>
          <a:xfrm>
            <a:off x="685800" y="3913632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CAF5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Our document today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85800" y="4187952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ESP32-C3 Series Datasheet v2.4. Electrical Characteristics is Section 5.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Worked Example: Pin Drive Current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41248"/>
            <a:ext cx="1005840" cy="32004"/>
          </a:xfrm>
          <a:prstGeom prst="rect">
            <a:avLst/>
          </a:prstGeom>
          <a:solidFill>
            <a:srgbClr val="CADCFC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4709160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04  |  Soldering and Documentation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8229600" y="4709160"/>
            <a:ext cx="731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" y="1051560"/>
            <a:ext cx="822960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35000"/>
              </a:lnSpc>
              <a:buSzPct val="100000"/>
              <a:buChar char="■"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from Monday: we said 'tens of milliamps'. Where is the real number?</a:t>
            </a:r>
            <a:endParaRPr lang="en-US" sz="1500" dirty="0"/>
          </a:p>
          <a:p>
            <a:pPr marL="342900" indent="-342900">
              <a:lnSpc>
                <a:spcPct val="135000"/>
              </a:lnSpc>
              <a:buSzPct val="100000"/>
              <a:buChar char="■"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Contents -&gt; Section 5 Electrical Characteristics -&gt; 5.4 DC Characteristics</a:t>
            </a:r>
            <a:endParaRPr lang="en-US" sz="1500" dirty="0"/>
          </a:p>
          <a:p>
            <a:pPr marL="342900" indent="-342900">
              <a:lnSpc>
                <a:spcPct val="135000"/>
              </a:lnSpc>
              <a:buSzPct val="100000"/>
              <a:buChar char="■"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 5-4 lists IOH, high-level source current: 40 mA typical</a:t>
            </a:r>
            <a:endParaRPr lang="en-US" sz="1500" dirty="0"/>
          </a:p>
          <a:p>
            <a:pPr marL="342900" indent="-342900">
              <a:lnSpc>
                <a:spcPct val="135000"/>
              </a:lnSpc>
              <a:buSzPct val="100000"/>
              <a:buChar char="■"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But Table 2-1 note 4 gives the DEFAULT drive strength: 20 mA for GPIO 8</a:t>
            </a:r>
            <a:endParaRPr lang="en-US" sz="1500" dirty="0"/>
          </a:p>
          <a:p>
            <a:pPr marL="342900" indent="-342900">
              <a:lnSpc>
                <a:spcPct val="135000"/>
              </a:lnSpc>
              <a:buSzPct val="100000"/>
              <a:buChar char="■"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numbers, both correct. One is the ceiling, one is what you get unconfigured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457200" y="3840480"/>
            <a:ext cx="8229600" cy="777240"/>
          </a:xfrm>
          <a:prstGeom prst="rect">
            <a:avLst/>
          </a:prstGeom>
          <a:solidFill>
            <a:srgbClr val="253270"/>
          </a:solidFill>
          <a:ln w="12700">
            <a:solidFill>
              <a:srgbClr val="FFB30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3840480"/>
            <a:ext cx="64008" cy="777240"/>
          </a:xfrm>
          <a:prstGeom prst="rect">
            <a:avLst/>
          </a:prstGeom>
          <a:solidFill>
            <a:srgbClr val="FFB300"/>
          </a:solidFill>
          <a:ln/>
        </p:spPr>
      </p:sp>
      <p:sp>
        <p:nvSpPr>
          <p:cNvPr id="9" name="Text 7"/>
          <p:cNvSpPr/>
          <p:nvPr/>
        </p:nvSpPr>
        <p:spPr>
          <a:xfrm>
            <a:off x="685800" y="3913632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B3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This is why you read the whole row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85800" y="4187952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conditions column matters. 40 mA is quoted at PAD_DRIVER = 3, not at the default setting.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Monday's Rules, Now With Sources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41248"/>
            <a:ext cx="1005840" cy="32004"/>
          </a:xfrm>
          <a:prstGeom prst="rect">
            <a:avLst/>
          </a:prstGeom>
          <a:solidFill>
            <a:srgbClr val="CADCFC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4709160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04  |  Soldering and Documentation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8229600" y="4709160"/>
            <a:ext cx="731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0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51560"/>
          <a:ext cx="822960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3291840"/>
                <a:gridCol w="2194560"/>
              </a:tblGrid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 said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4A8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Datasheet says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4A8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Where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4A8A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Logic is 3.3 V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327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CADC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VIH min 0.75 x VDD = 2.48 V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327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CADC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Table 5-4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3270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LOW is near 0 V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327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CADC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VIL max 0.25 x VDD = 0.83 V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327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CADC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Table 5-4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3270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Tens of milliamps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327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CADC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 mA default, 40 mA max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327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CADC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Table 2-1, 5-4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3270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GPIO 9 has a pull-up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327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CADC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RPU = 45 kohm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327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CADC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Table 5-4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3270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GPIO 8 and 9 are strapping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327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CADC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Boot mode control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327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CADC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Table 3-3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3270"/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457200" y="3794760"/>
            <a:ext cx="8229600" cy="777240"/>
          </a:xfrm>
          <a:prstGeom prst="rect">
            <a:avLst/>
          </a:prstGeom>
          <a:solidFill>
            <a:srgbClr val="253270"/>
          </a:solidFill>
          <a:ln w="12700">
            <a:solidFill>
              <a:srgbClr val="4CAF50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457200" y="3794760"/>
            <a:ext cx="64008" cy="777240"/>
          </a:xfrm>
          <a:prstGeom prst="rect">
            <a:avLst/>
          </a:prstGeom>
          <a:solidFill>
            <a:srgbClr val="4CAF50"/>
          </a:solidFill>
          <a:ln/>
        </p:spPr>
      </p:sp>
      <p:sp>
        <p:nvSpPr>
          <p:cNvPr id="9" name="Text 6"/>
          <p:cNvSpPr/>
          <p:nvPr/>
        </p:nvSpPr>
        <p:spPr>
          <a:xfrm>
            <a:off x="685800" y="3867912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CAF5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Your homework answer, checked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685800" y="4142232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calculated a 6.6 kohm minimum pull-up. The chip uses 45 kohm - well above your floor, and chosen to waste less current.</a:t>
            </a:r>
            <a:endParaRPr lang="en-US" sz="1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41B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148840"/>
            <a:ext cx="822960" cy="54864"/>
          </a:xfrm>
          <a:prstGeom prst="rect">
            <a:avLst/>
          </a:prstGeom>
          <a:solidFill>
            <a:srgbClr val="FFB300"/>
          </a:solidFill>
          <a:ln/>
        </p:spPr>
      </p:sp>
      <p:sp>
        <p:nvSpPr>
          <p:cNvPr id="3" name="Text 1"/>
          <p:cNvSpPr/>
          <p:nvPr/>
        </p:nvSpPr>
        <p:spPr>
          <a:xfrm>
            <a:off x="1097280" y="18745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B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3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097280" y="2240280"/>
            <a:ext cx="7315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AI as a Documentation Tool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1097280" y="30632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Useful for finding, unreliable for knowing</a:t>
            </a:r>
            <a:endParaRPr lang="en-US" sz="14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Where It Helps, Where It Lies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41248"/>
            <a:ext cx="1005840" cy="32004"/>
          </a:xfrm>
          <a:prstGeom prst="rect">
            <a:avLst/>
          </a:prstGeom>
          <a:solidFill>
            <a:srgbClr val="CADCFC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4709160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04  |  Soldering and Documentation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8229600" y="4709160"/>
            <a:ext cx="731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1280160"/>
            <a:ext cx="4000500" cy="2468880"/>
          </a:xfrm>
          <a:prstGeom prst="rect">
            <a:avLst/>
          </a:prstGeom>
          <a:solidFill>
            <a:srgbClr val="253270"/>
          </a:solidFill>
          <a:ln w="25400">
            <a:solidFill>
              <a:srgbClr val="4CAF5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25000"/>
              </a:srgbClr>
            </a:outerShdw>
          </a:effectLst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83130" y="1508760"/>
            <a:ext cx="548640" cy="54864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457200" y="2240280"/>
            <a:ext cx="40005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Good At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594360" y="2743200"/>
            <a:ext cx="37261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Explaining an unfamiliar term. Telling you which document and which section to open. Summarising a concept you have no vocabulary for yet.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4686300" y="1280160"/>
            <a:ext cx="4000500" cy="2468880"/>
          </a:xfrm>
          <a:prstGeom prst="rect">
            <a:avLst/>
          </a:prstGeom>
          <a:solidFill>
            <a:srgbClr val="253270"/>
          </a:solidFill>
          <a:ln w="25400">
            <a:solidFill>
              <a:srgbClr val="FF5252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25000"/>
              </a:srgbClr>
            </a:outerShdw>
          </a:effectLst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12230" y="1508760"/>
            <a:ext cx="548640" cy="54864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686300" y="2240280"/>
            <a:ext cx="40005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Bad At</a:t>
            </a:r>
            <a:endParaRPr lang="en-US" sz="1700" dirty="0"/>
          </a:p>
        </p:txBody>
      </p:sp>
      <p:sp>
        <p:nvSpPr>
          <p:cNvPr id="13" name="Text 9"/>
          <p:cNvSpPr/>
          <p:nvPr/>
        </p:nvSpPr>
        <p:spPr>
          <a:xfrm>
            <a:off x="4823460" y="2743200"/>
            <a:ext cx="37261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Exact numbers. Pin assignments. Chip variants. It will confidently answer for ESP32 when you asked about ESP32-C3, and they are different chips.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457200" y="3931920"/>
            <a:ext cx="8229600" cy="640080"/>
          </a:xfrm>
          <a:prstGeom prst="rect">
            <a:avLst/>
          </a:prstGeom>
          <a:solidFill>
            <a:srgbClr val="253270"/>
          </a:solidFill>
          <a:ln w="12700">
            <a:solidFill>
              <a:srgbClr val="FF5252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457200" y="3931920"/>
            <a:ext cx="64008" cy="640080"/>
          </a:xfrm>
          <a:prstGeom prst="rect">
            <a:avLst/>
          </a:prstGeom>
          <a:solidFill>
            <a:srgbClr val="FF5252"/>
          </a:solidFill>
          <a:ln/>
        </p:spPr>
      </p:sp>
      <p:sp>
        <p:nvSpPr>
          <p:cNvPr id="16" name="Text 12"/>
          <p:cNvSpPr/>
          <p:nvPr/>
        </p:nvSpPr>
        <p:spPr>
          <a:xfrm>
            <a:off x="685800" y="4005072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525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failure mode is confidence</a:t>
            </a:r>
            <a:endParaRPr lang="en-US" sz="1300" dirty="0"/>
          </a:p>
        </p:txBody>
      </p:sp>
      <p:sp>
        <p:nvSpPr>
          <p:cNvPr id="17" name="Text 13"/>
          <p:cNvSpPr/>
          <p:nvPr/>
        </p:nvSpPr>
        <p:spPr>
          <a:xfrm>
            <a:off x="685800" y="4279392"/>
            <a:ext cx="7863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wrong answer arrives in the same tone as a right one. There is no uncertainty marker to notice.</a:t>
            </a:r>
            <a:endParaRPr lang="en-US" sz="12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Working Rule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41248"/>
            <a:ext cx="1005840" cy="32004"/>
          </a:xfrm>
          <a:prstGeom prst="rect">
            <a:avLst/>
          </a:prstGeom>
          <a:solidFill>
            <a:srgbClr val="CADCFC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4709160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04  |  Soldering and Documentation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8229600" y="4709160"/>
            <a:ext cx="731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1143000"/>
            <a:ext cx="8229600" cy="1188720"/>
          </a:xfrm>
          <a:prstGeom prst="rect">
            <a:avLst/>
          </a:prstGeom>
          <a:solidFill>
            <a:srgbClr val="0D1117"/>
          </a:solidFill>
          <a:ln w="12700">
            <a:solidFill>
              <a:srgbClr val="3A4A8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66928" y="1234440"/>
            <a:ext cx="801014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A8D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AI  -&gt; where to look</a:t>
            </a:r>
            <a:endParaRPr lang="en-US" sz="1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A8D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Datasheet -&gt; what the answer is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457200" y="2423160"/>
            <a:ext cx="822960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35000"/>
              </a:lnSpc>
              <a:buSzPct val="100000"/>
              <a:buChar char="■"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answer without a section or table number is not an answer yet</a:t>
            </a:r>
            <a:endParaRPr lang="en-US" sz="1400" dirty="0"/>
          </a:p>
          <a:p>
            <a:pPr marL="342900" indent="-342900">
              <a:lnSpc>
                <a:spcPct val="135000"/>
              </a:lnSpc>
              <a:buSzPct val="100000"/>
              <a:buChar char="■"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the AI names a table, open that table and read it yourself</a:t>
            </a:r>
            <a:endParaRPr lang="en-US" sz="1400" dirty="0"/>
          </a:p>
          <a:p>
            <a:pPr marL="342900" indent="-342900">
              <a:lnSpc>
                <a:spcPct val="135000"/>
              </a:lnSpc>
              <a:buSzPct val="100000"/>
              <a:buChar char="■"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it cannot name one, treat the number as a guess</a:t>
            </a:r>
            <a:endParaRPr lang="en-US" sz="1400" dirty="0"/>
          </a:p>
          <a:p>
            <a:pPr marL="342900" indent="-342900">
              <a:lnSpc>
                <a:spcPct val="135000"/>
              </a:lnSpc>
              <a:buSzPct val="100000"/>
              <a:buChar char="■"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the same standard you would apply to a colleague's memory</a:t>
            </a:r>
            <a:endParaRPr lang="en-US" sz="14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Summary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41248"/>
            <a:ext cx="1005840" cy="32004"/>
          </a:xfrm>
          <a:prstGeom prst="rect">
            <a:avLst/>
          </a:prstGeom>
          <a:solidFill>
            <a:srgbClr val="CADCFC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4709160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04  |  Soldering and Documentation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8229600" y="4709160"/>
            <a:ext cx="731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" y="1051560"/>
            <a:ext cx="822960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35000"/>
              </a:lnSpc>
              <a:buSzPct val="100000"/>
              <a:buChar char="■"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Lead-free solder at 350 C, flux already in the wire, matte joints are fine</a:t>
            </a:r>
            <a:endParaRPr lang="en-US" sz="1500" dirty="0"/>
          </a:p>
          <a:p>
            <a:pPr marL="342900" indent="-342900">
              <a:lnSpc>
                <a:spcPct val="135000"/>
              </a:lnSpc>
              <a:buSzPct val="100000"/>
              <a:buChar char="■"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 joint, cold joint, bridge - and how to tell them apart</a:t>
            </a:r>
            <a:endParaRPr lang="en-US" sz="1500" dirty="0"/>
          </a:p>
          <a:p>
            <a:pPr marL="342900" indent="-342900">
              <a:lnSpc>
                <a:spcPct val="135000"/>
              </a:lnSpc>
              <a:buSzPct val="100000"/>
              <a:buChar char="■"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Continuity check finds your own faults before power is applied</a:t>
            </a:r>
            <a:endParaRPr lang="en-US" sz="1500" dirty="0"/>
          </a:p>
          <a:p>
            <a:pPr marL="342900" indent="-342900">
              <a:lnSpc>
                <a:spcPct val="135000"/>
              </a:lnSpc>
              <a:buSzPct val="100000"/>
              <a:buChar char="■"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Datasheet for numbers, reference manual for registers</a:t>
            </a:r>
            <a:endParaRPr lang="en-US" sz="1500" dirty="0"/>
          </a:p>
          <a:p>
            <a:pPr marL="342900" indent="-342900">
              <a:lnSpc>
                <a:spcPct val="135000"/>
              </a:lnSpc>
              <a:buSzPct val="100000"/>
              <a:buChar char="■"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points at the section, the datasheet gives the value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457200" y="3794760"/>
            <a:ext cx="8229600" cy="822960"/>
          </a:xfrm>
          <a:prstGeom prst="rect">
            <a:avLst/>
          </a:prstGeom>
          <a:solidFill>
            <a:srgbClr val="253270"/>
          </a:solidFill>
          <a:ln w="12700">
            <a:solidFill>
              <a:srgbClr val="FFB30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3794760"/>
            <a:ext cx="64008" cy="822960"/>
          </a:xfrm>
          <a:prstGeom prst="rect">
            <a:avLst/>
          </a:prstGeom>
          <a:solidFill>
            <a:srgbClr val="FFB300"/>
          </a:solidFill>
          <a:ln/>
        </p:spPr>
      </p:sp>
      <p:sp>
        <p:nvSpPr>
          <p:cNvPr id="9" name="Text 7"/>
          <p:cNvSpPr/>
          <p:nvPr/>
        </p:nvSpPr>
        <p:spPr>
          <a:xfrm>
            <a:off x="685800" y="3867912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B3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Homework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85800" y="4142232"/>
            <a:ext cx="7863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Datasheet lookup: six numbers, each with the table it came from. See homework/README.md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Lesson 04 - Soldering and Documentation</dc:title>
  <dc:subject>PptxGenJS Presentation</dc:subject>
  <dc:creator>Embedded Software Development in C/C++</dc:creator>
  <cp:lastModifiedBy>Embedded Software Development in C/C++</cp:lastModifiedBy>
  <cp:revision>1</cp:revision>
  <dcterms:created xsi:type="dcterms:W3CDTF">2026-09-11T11:07:36Z</dcterms:created>
  <dcterms:modified xsi:type="dcterms:W3CDTF">2026-09-11T11:07:36Z</dcterms:modified>
</cp:coreProperties>
</file>