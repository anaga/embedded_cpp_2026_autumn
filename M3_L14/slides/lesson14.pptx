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14 of 25, K4. Last bus of the three: UART (12), I2C (13), SPI today.
Everyone needs: Pico, AHT10 from last time, Nokia 5110, breadboard, wires.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Point out the last line: no sharing hardware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0:00 - 15 min. Answer to the question: nowhere. loop() starts the measurement, returns, and checks millis() on later passes - the IDLE / WAITING pattern from session 12.
If someone blocks for 75 ms: it works, but nothing else in loop() runs meanwhile.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0:15 - 20 min for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every row with last session. Push-pull is why SPI is fast: nobody waits for a pull-up resistor to drag the line high.
The last row is the price: no addresses, so every device costs a GPIO.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attention to CS: active low, one wire per device. A device with CS high must leave MISO alone (it goes high-impedance).
The 5110 has no MISO at all: the Pico can talk to it but never hear back. GP16 stays free.
D/C and RST are 5110-specific extras, not part of SPI - they come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bits left to right. The master changes MOSI while SCK is low and the display reads it on the rising edge - that is mode 0.
8 clocks = 1 byte. At 4 MHz one byte takes 2 us; the whole 504-byte screen about 1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Wrong mode does not fail loudly: the device reads every bit half a clock off and you get garbage, or nothing. Session 15 breaks a bus on purpose with a wrong mode.
Question: what if we run 8 MHz? Above the rated 4 MHz - may work on one module, fail on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motivation for next session. Today, a blank screen means a checklist: power, RST, CE, DC, then contrast. That checklist is on the lab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0:35 - 20 min for part 2. Have the PCD8544 datasheet open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picture of the session. Pixels are not stored row by row: one byte is a vertical strip of 8 pixels.
Ask: how many bytes to clear the screen? 504. How to light the single pixel x = 10, y = 9? Bank 1 (9 / 8), bit 1 (9 % 8), byte 0x02 - but you overwrite the other 7 pixels of that strip. That problem is why libraries keep a framebuffer (part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these come from: the instruction table in the PCD8544 datasheet.
Data bytes (D/C = 1) go straight into display RAM at the current X /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reset pulse: digitalWrite(RST, LOW), delayMicroseconds(10U), HIGH. delayMicroseconds in setup() is fine - the no-delay rule is about loop().
Vop 0x31 = 49 is a starting point; clones range roughly 0x28 .. 0x48. Bias 0x13 is the datasheet value for a 1:48 display; 0x14 is what most hobby code uses. If a module looks wrong at every Vop, try the other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pin map since session 12: SPI0 on the Arduino-Pico default pins, so SPI.begin() needs no pin setup. AHT10 stays on GP4 / GP5 - both fit at once.
Backlight: tell them what you found when checking the modules (to GND or to 3.3 V, resistor or not).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1:05 - 15 min. This was deferred from K3 on purpose: here it solves a real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before showing the right side: what goes wrong on the left? Then: how many exits does a real driver function have after a year of changes?
The guard ties CS to a scope. Leaving the scope - by return, by falling off the end - releases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order matters: CS high first, then end the transaction, so another library on the same bus never sees our chip selected.
Discussion: what does the guard NOT protect against? Forgetting to create it. Holding it across a long wait - other devices on the bus are locked out meanwhile.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1:20. Three stages, all individual. Break between stage 1 and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1:20 - 25 min. Goal: a checkerboard on every desk before the break.
Why does 0xAA, 0x55 make a checkerboard? 0xAA = 10101010: alternate pixels in the strip; the next column is shifted by one.
Common bugs: forgot pinMode on CS, so it floats; DC never set HIGH for data; Vop far too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1:55 - 30 min. The font is supplied: it is data, not the point of the lab. Students copy lab/font5x7.h into their own src folder.
gotoXY: Set X = col * 6, Set Y = line. If text comes out mirrored or upside down, they are reading the table rows instead of the columns, or bit 7 is treated as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2:25 - 20 min. snprintf is bounded: it never writes past the 15 bytes. Negative temperatures with the fixed-point tip: watch the sign of the tenths part (-0.5 C). A good homework question.
Redraw only changed lines: compare with the previous text, keep the old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2:45 - 10 min. Run the demo. The framebuffer solves the problem from the memory map slide: setPixel can change one bit and keep the other seven.
begin() first shows the Adafruit splash image that lives in the buffer at start-up; the demo clears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2:55 - 5 min. Next session: the logic analyzer. Your UART, I2C and SPI code from sessions 12-14 is what we capture, so keep it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and the Nokia 5110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wires, no ACK, and a display you drive byte by byte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(RP2040)  |  PCD8544  |  RAII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how SPI differs from I2C: push-pull, chip select, full duplex, no ACK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clock mode off a timing diagram: the PCD8544 is mode 0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display memory: 6 banks of 84 bytes, one byte = 8 pixels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display up from reset with commands and data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chip select in a RAII class: the K3 idea on real hardware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AHT10 reading on your own display, without delay()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lab stage is individual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their own Pico, AHT10 and Nokia 5110. Work next to a partner, help each other, build your own.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Check: the Aht10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running: a new reading every 2 s on Serial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the sensor: "sensor missing" once, then quiet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it back in: readings come back by themselves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loop() wait for the 75 ms conversion?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66160"/>
            <a:ext cx="64008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class open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136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Aht10 class goes onto the display in lab 3. Today's driver gets the same non-blocking treatment.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on Paper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wires and a clock that the master owns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Next to I2C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(session 13)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SDA, 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SCK, MOSI, MISO, 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open-drain + pull-ups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push-pull, no pull-ups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listens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7-bit address in the first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device whose CS is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400 kHz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MHz (PCD8544: up to 4 MHz)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way at a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ways on every clock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 / NACK after every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two wires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CS wire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rename the wires: SCLK, SDI / SDO, SS, CE, SCE. Same signals.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Wires, One CS per Device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645920" cy="3017520"/>
          </a:xfrm>
          <a:prstGeom prst="rect">
            <a:avLst/>
          </a:prstGeom>
          <a:solidFill>
            <a:srgbClr val="2532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(master)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2377440" cy="1371600"/>
          </a:xfrm>
          <a:prstGeom prst="rect">
            <a:avLst/>
          </a:prstGeom>
          <a:solidFill>
            <a:srgbClr val="25327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Nokia 5110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377440" cy="13716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Another SPI device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 card, flash, ...)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463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463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463040"/>
            <a:ext cx="0" cy="1645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1089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417320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216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SCK -&gt;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1737360"/>
            <a:ext cx="23774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73736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0" cy="1645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38328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1691640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1490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MOSI -&gt;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201168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011680"/>
            <a:ext cx="1280160" cy="0"/>
          </a:xfrm>
          <a:prstGeom prst="line">
            <a:avLst/>
          </a:prstGeom>
          <a:noFill/>
          <a:ln w="15875">
            <a:solidFill>
              <a:srgbClr val="FF525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37760" y="2011680"/>
            <a:ext cx="0" cy="1645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657600"/>
            <a:ext cx="1280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965960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1764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MISO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20482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MISO pin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94560" y="2286000"/>
            <a:ext cx="402336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39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CS1 -&gt; (GP17)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3931920"/>
            <a:ext cx="40233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CS2 -&gt;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SCK, MOSI and MISO are shared. CS is per device: LOW = "you, listen". All other devices ignore the clock.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Command Byte on the Wire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D/C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234440"/>
            <a:ext cx="32004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234440"/>
            <a:ext cx="0" cy="292608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527048"/>
            <a:ext cx="662940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34440"/>
            <a:ext cx="0" cy="292608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234440"/>
            <a:ext cx="27432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2121408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038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4038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762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762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486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486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210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210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934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934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2658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658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2121408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0382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03820" y="1828800"/>
            <a:ext cx="3886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1828800"/>
            <a:ext cx="0" cy="29260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2440" y="2121408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2715768"/>
            <a:ext cx="50292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5176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429000" y="2423160"/>
            <a:ext cx="0" cy="292608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29000" y="2423160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206240" y="2423160"/>
            <a:ext cx="0" cy="292608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8348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76072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537960" y="2715768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315200" y="2423160"/>
            <a:ext cx="0" cy="292608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2423160"/>
            <a:ext cx="77724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092440" y="2423160"/>
            <a:ext cx="0" cy="292608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92440" y="2715768"/>
            <a:ext cx="502920" cy="0"/>
          </a:xfrm>
          <a:prstGeom prst="line">
            <a:avLst/>
          </a:prstGeom>
          <a:noFill/>
          <a:ln w="25400">
            <a:solidFill>
              <a:srgbClr val="A8D8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3310128"/>
            <a:ext cx="72237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0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command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26314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04038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81762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459486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537210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614934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692658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7703820" y="1737360"/>
            <a:ext cx="0" cy="978408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1783080" y="3429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7 (MSB)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315200" y="3429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374904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5" name="Text 83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0x21 = 0010 0001: function set, extended instructions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85800" y="4096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PCD8544 samples MOSI on every rising SCK edge (dashed lines). D/C is read on the 8th edge.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Modes: CPOL and CPHA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85800"/>
                <a:gridCol w="685800"/>
                <a:gridCol w="91440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 idle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10515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CPOL: the level SCK rests at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CPHA: first or second edge samples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decides. The datasheet timing diagram says which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PCD8544: mode 0, MSB first, max 4 MHz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063240"/>
            <a:ext cx="8010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SPISettings LCD_SPI(4000000U, MSBFIRST, SPI_MODE0);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SPI.beginTransaction(LCD_SPI);   // speed, order, mode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SPI.transfer(byte);              // 8 clocks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SPI.endTransaction();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ACK, No Scanner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37744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gets an ACK or a NACK. A missing device is a NACK on the address. The scanner from session 13 lists who answers.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2377440"/>
          </a:xfrm>
          <a:prstGeom prst="rect">
            <a:avLst/>
          </a:prstGeom>
          <a:solidFill>
            <a:srgbClr val="253270"/>
          </a:solidFill>
          <a:ln w="25400">
            <a:solidFill>
              <a:srgbClr val="FF525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196596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clocks bytes out whether anyone listens or not. A loose wire, a dead display, the wrong mode: no error at 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234440"/>
            <a:ext cx="2590800" cy="237744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4630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what?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196596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screen stays blank, the firmware cannot tell you why. You check wiring, reset, contrast - or you look at the wires.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analyzer shows what actually travels on SCK, MOSI, CS and D/C. Install PulseView at home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PCD8544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inside the Nokia 5110, read from its datasheet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 x 48 Pixels in 504 Bytes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4224528" cy="2414016"/>
          </a:xfrm>
          <a:prstGeom prst="rect">
            <a:avLst/>
          </a:prstGeom>
          <a:solidFill>
            <a:srgbClr val="253270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819656"/>
            <a:ext cx="4224528" cy="0"/>
          </a:xfrm>
          <a:prstGeom prst="line">
            <a:avLst/>
          </a:prstGeom>
          <a:noFill/>
          <a:ln w="9525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92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221992"/>
            <a:ext cx="4224528" cy="0"/>
          </a:xfrm>
          <a:prstGeom prst="line">
            <a:avLst/>
          </a:prstGeom>
          <a:noFill/>
          <a:ln w="9525">
            <a:solidFill>
              <a:srgbClr val="3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95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2624328"/>
            <a:ext cx="4224528" cy="0"/>
          </a:xfrm>
          <a:prstGeom prst="line">
            <a:avLst/>
          </a:prstGeom>
          <a:noFill/>
          <a:ln w="9525">
            <a:solidFill>
              <a:srgbClr val="3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3026664"/>
            <a:ext cx="4224528" cy="0"/>
          </a:xfrm>
          <a:prstGeom prst="line">
            <a:avLst/>
          </a:prstGeom>
          <a:noFill/>
          <a:ln w="9525">
            <a:solidFill>
              <a:srgbClr val="3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3429000"/>
            <a:ext cx="4224528" cy="0"/>
          </a:xfrm>
          <a:prstGeom prst="line">
            <a:avLst/>
          </a:prstGeom>
          <a:noFill/>
          <a:ln w="9525">
            <a:solidFill>
              <a:srgbClr val="3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83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1819656"/>
            <a:ext cx="100584" cy="40233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1911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byte: x = 10, bank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byte 0x1F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463040"/>
            <a:ext cx="32918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0  =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792224"/>
            <a:ext cx="32918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1819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1  =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121408"/>
            <a:ext cx="32918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2  =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450592"/>
            <a:ext cx="32918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3  = 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779776"/>
            <a:ext cx="32918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4  =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108960"/>
            <a:ext cx="329184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5  = 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438144"/>
            <a:ext cx="329184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3465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6  = 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767328"/>
            <a:ext cx="329184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7  = 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83664" y="1819656"/>
            <a:ext cx="4288536" cy="-356616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883664" y="2221992"/>
            <a:ext cx="4288536" cy="1874520"/>
          </a:xfrm>
          <a:prstGeom prst="line">
            <a:avLst/>
          </a:prstGeom>
          <a:noFill/>
          <a:ln w="9525">
            <a:solidFill>
              <a:srgbClr val="FFB30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5720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banks x 84 columns = 504 bytes. Bit 0 is the top pixel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data byte X moves right; after x = 83 it wraps to the next bank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Commands You Need (D/C = 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09728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 / 0x21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0 basic / H = 1 extended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0x08 0x0C 0x09 0x0D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blank, normal, all on, inverse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Y (bank)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 | 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0..5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X (column)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0x80 |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0..83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0x04 .. 0x07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0..3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 .. 0x17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0..7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Vop (contrast)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0x80 | vop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vop 0..127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byte, two meanings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0x80 | n is Set X in the basic set and Set Vop in the extended set. Always know which set you are in.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Bringing It 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0" cy="3602736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435254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CMD_FUNC_EXT  = 0x21U; // H 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CMD_SET_VOP   = 0x80U; // | vop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CMD_TEMP_0    = 0x04U;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CMD_BIAS_4    = 0x14U;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CMD_FUNC_BAS  = 0x20U; // H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CMD_DISP_NORM = 0x0CU;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uint8_t VOP_START     = 0x31U; // tune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writeCommand(CMD_FUNC_EXT);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writeCommand(CMD_SET_VOP | VOP_START);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writeCommand(CMD_TEMP_0);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writeCommand(CMD_BIAS_4);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writeCommand(CMD_FUNC_BAS);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writeCommand(CMD_DISP_NORM);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57800" y="1051560"/>
            <a:ext cx="3429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 reset pulse: RST low for a few us, then high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the chip state after power-up is undefined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 is the contrast. Every module wants a different value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at every Vop: check RST and CE. Dark blocks: lower Vop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5110 to the Pico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GPIO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reset, active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(SCE, CS)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select, active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= command, HIGH =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 / 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whiteboard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any, e.g. 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50792"/>
            <a:ext cx="8229600" cy="566928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050792"/>
            <a:ext cx="64008" cy="566928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123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3V3 OUT, never VBUS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398264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with USB unplugged. Module labels and pin order differ between boards: go by the label, not the position.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RAII: ChipSelect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takes the bus, the destructor gives it back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Early-Return Trap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writeData(const uint8_t* b, size_t n)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digitalWrite(PIN_CS, LOW);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 == nullptr)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          // CS stays LOW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digitalWrite(PIN_DC, HIGH);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(size_t i = 0U; i &lt; n; i++)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SPI.transfer(b[i]);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digitalWrite(PIN_CS, HIGH);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hand: every exit must remember 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97280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writeData(const uint8_t* b, size_t n)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ChipSelect cs(PIN_CS);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 == nullptr)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          // CS released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digitalWrite(PIN_DC, HIGH);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(size_t i = 0U; i &lt; n; i++)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SPI.transfer(b[i]);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// CS released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3977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guard: the destructor runs on every exit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69080"/>
            <a:ext cx="64008" cy="5486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42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 stuck LOW gives no error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41655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transaction starts in the middle of a byte. The screen shows garbage much later, far from the bug.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ChipSelect Guard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754880" cy="3602736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453542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ChipSelect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uint8_t pin_;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explicit ChipSelect(uint8_t pin) : pin_(pin)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SPI.beginTransaction(LCD_SPI);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digitalWrite(pin_, LOW);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~ChipSelect()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digitalWrite(pin_, HIGH);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SPI.endTransaction();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ChipSelect(const ChipSelect&amp;) = delete;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ChipSelect&amp; operator=(const ChipSelect&amp;) = delete;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40680" y="105156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Constructor: take the bus, select the chip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Destructor: release in reverse order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deleted: two guards for one CS would release it twice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after inlining: the same two digitalWrite calls. No heap, no virtual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Your Own Driver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Checkerboard, then text, then the AHT10 on screen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1: Reset, Init, Checkerboard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unplugged: wire the display as on the wiring slide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pinMode for CS, DC, RST; CS starts HIGH; SPI.begin()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writeCommand(uint8_t) and writeData(uint8_t), each with a ChipSelect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pulse, then the init sequence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screen: 504 data bytes of 0x00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it with 0xAA, 0x55, 0xAA, ... and sweep Vop until it is crisp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143000"/>
            <a:ext cx="2596896" cy="1792224"/>
          </a:xfrm>
          <a:prstGeom prst="rect">
            <a:avLst/>
          </a:prstGeom>
          <a:solidFill>
            <a:srgbClr val="B8C4A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4536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5704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76872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2712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5048" y="123444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77456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5632" y="133502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4536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75704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6872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0376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81544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2712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85048" y="143560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72784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73952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77456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78624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79792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0960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82128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83296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84464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85632" y="153619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73368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4536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75704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76872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78040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81544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82712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83880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85048" y="163677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72784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73952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75120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6288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77456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78624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79792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80960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82128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83296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84464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85632" y="173736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72200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73368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74536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75704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76872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79208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580376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81544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82712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83880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85048" y="183794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72784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73952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75120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76288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77456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78624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79792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680960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882128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83296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84464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485632" y="193852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72200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73368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74536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75704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76872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78040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79208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81544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82712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83880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385048" y="203911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72784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73952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675120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76288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77456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78624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79792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680960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882128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83296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84464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85632" y="213969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72200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373368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574536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775704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976872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178040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79208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580376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81544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82712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183880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85048" y="224028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272784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73952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75120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876288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77456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78624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479792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80960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82128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083296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284464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485632" y="2340864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72200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73368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574536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775704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976872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78040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379208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580376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81544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82712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183880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385048" y="2441448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272784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73952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675120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76288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077456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78624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479792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680960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882128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083296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84464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485632" y="2542032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72200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73368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574536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775704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976872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178040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379208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580376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81544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982712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183880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385048" y="2642616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272784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473952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75120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76288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077456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78624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479792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80960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82128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083296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284464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485632" y="2743200"/>
            <a:ext cx="100584" cy="100584"/>
          </a:xfrm>
          <a:prstGeom prst="rect">
            <a:avLst/>
          </a:prstGeom>
          <a:solidFill>
            <a:srgbClr val="1F2A1A"/>
          </a:solidFill>
          <a:ln w="12700">
            <a:solidFill>
              <a:srgbClr val="1F2A1A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85216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before the break</a:t>
            </a:r>
            <a:endParaRPr lang="en-US" sz="1200" dirty="0"/>
          </a:p>
        </p:txBody>
      </p:sp>
      <p:sp>
        <p:nvSpPr>
          <p:cNvPr id="201" name="Shape 19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57200" y="4023360"/>
            <a:ext cx="64008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3" name="Text 201"/>
          <p:cNvSpPr/>
          <p:nvPr/>
        </p:nvSpPr>
        <p:spPr>
          <a:xfrm>
            <a:off x="685800" y="4096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Blank screen checklist</a:t>
            </a:r>
            <a:endParaRPr lang="en-US" sz="1300" dirty="0"/>
          </a:p>
        </p:txBody>
      </p:sp>
      <p:sp>
        <p:nvSpPr>
          <p:cNvPr id="204" name="Text 202"/>
          <p:cNvSpPr/>
          <p:nvPr/>
        </p:nvSpPr>
        <p:spPr>
          <a:xfrm>
            <a:off x="685800" y="43708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and GND -&gt; RST pulse in setup() -&gt; CE on GP17 -&gt; DC on GP20 -&gt; sweep Vop. Write your Vop value down.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2: Text from a Font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in lab/font5x7.h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55064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84248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13432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42616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71800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97864" y="1325880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165506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198424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97864" y="2313432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7864" y="2642616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97864" y="297180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7864" y="330098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7864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7864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27048" y="1325880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27048" y="165506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27048" y="198424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27048" y="2313432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27048" y="2642616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27048" y="297180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27048" y="330098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27048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7048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56232" y="1325880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56232" y="165506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56232" y="198424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56232" y="2313432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56232" y="2642616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56232" y="297180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56232" y="330098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56232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56232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85416" y="132588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85416" y="1655064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85416" y="1984248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85416" y="2313432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85416" y="2642616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85416" y="2971800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85416" y="3300984"/>
            <a:ext cx="329184" cy="329184"/>
          </a:xfrm>
          <a:prstGeom prst="rect">
            <a:avLst/>
          </a:prstGeom>
          <a:solidFill>
            <a:srgbClr val="CADCFC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85416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3A4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85416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14600" y="132588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14600" y="165506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14600" y="198424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14600" y="2313432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4600" y="2642616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14600" y="2971800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3300984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3630168"/>
            <a:ext cx="329184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400507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1344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36484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80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bytes, hex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246120" y="1051560"/>
            <a:ext cx="5440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0x20 .. 0x7E, 5 bytes each: row n is character 0x20 + 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 as the display RAM: one byte per column, bit 0 on top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+ 1 blank = 6 pixels: 14 characters x 6 lines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gotoXY(col, line), drawChar(char), drawString(const char*)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0x20 .. 0x7E: draw '?', never read past the table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inverse text by sending ~byte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3: The AHT10 on Your Display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sketch: your Aht10 class and your display code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reading every 2 s: millis(), no delay()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each line into char line[15]: 14 characters and the terminator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a line only when its text changed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 on the sensor and watch both numbers move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50992" y="1078992"/>
            <a:ext cx="3145536" cy="2414016"/>
          </a:xfrm>
          <a:prstGeom prst="rect">
            <a:avLst/>
          </a:prstGeom>
          <a:solidFill>
            <a:srgbClr val="2B2F36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188720"/>
            <a:ext cx="2926080" cy="2194560"/>
          </a:xfrm>
          <a:prstGeom prst="rect">
            <a:avLst/>
          </a:prstGeom>
          <a:solidFill>
            <a:srgbClr val="B8C4A0"/>
          </a:solidFill>
          <a:ln w="12700">
            <a:solidFill>
              <a:srgbClr val="B8C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298448"/>
            <a:ext cx="26517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AHT10 -&gt; 5110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   23.4 C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    41.7 %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up 12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x 6 characters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64008" cy="685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Tip: fixed 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tenths in an int32_t (234 = 23.4 C) and print the two parts with %ld. No float formatting needed.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Screen through a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48056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4261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Adafruit_PCD8544 lcd(PIN_DC, PIN_CS, PIN_RST);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lcd.begin();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lcd.setContrast(LCD_CONTRAST);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lcd.clearDisplay();      // RAM buffer only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lcd.setCursor(0, 16);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lcd.print("T  ");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lcd.print(temp.temperature, 1);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lcd.display();           // now it is sent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demo/src/main.cpp, shortened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66360" y="1051560"/>
            <a:ext cx="3520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504-byte framebuffer in RAM: draw into it, then display()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sends the changed rectangle; after clearDisplay() that is all 504 bytes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CS, D/C and SPI settings handled inside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sequence behind begin(): bias, Vop, no temperature coefficient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libraries: PCD8544, GFX, BusIO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658368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6400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504 bytes of RAM a problem?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27939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RP2040 (264 KB). On an ATmega328 (2 KB) it was a quarter of all RAM.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 |  SPI and the Nokia 5110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SPI: push-pull, one CS per device, full duplex, no ACK - and so no errors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picks the clock mode; the PCD8544 is mode 0, up to 4 MHz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PCD8544 RAM: 6 banks x 84 bytes, one byte = 8 vertical pixels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ChipSelect: CS follows the scope, on every exit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buys a framebuffer and fonts for 504 bytes of RAM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your own driver: T, RH, min / max, SENSOR MISSING and recovery. Install PulseView and check your analyzer. Details: homework/README.md.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14 - SPI and the Nokia 5110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2026-10-16T11:18:08Z</dcterms:created>
  <dcterms:modified xsi:type="dcterms:W3CDTF">2026-10-16T11:18:08Z</dcterms:modified>
</cp:coreProperties>
</file>