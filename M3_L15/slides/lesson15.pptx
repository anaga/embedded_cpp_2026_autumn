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Timing (4 x 45 min, about 180 min):
  0:00  Homework check, PulseView status            20 min
  0:20  Part 1 - why SPI0 sits on GP16-19           15 min
  0:35  Part 2 - the analyzer, wiring the harness   15 min
  0:50  UART capture                                20 min
  1:10  I2C capture                                 25 min
  1:35  SPI capture and the library on the wire     30 min
  2:05  Diagnosis lab, mystery firmware             45 min
  2:50  Summary and homework                        10 min
Two analyzers: two stations, students in pairs for every capture.
Flash the demo on both station boards before the session.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analyzer closes the gap from session 14: SPI has no ACK, so a wrong
wire gives no error. Today the wire itself becomes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min. Each student shows both screens and the button.
Screen 1 question leads into slide 19: drawing only what changed keeps
the library's dirty rectangle small. Today we will see that on the wire.
Collect who has PulseView working. Mac: Rosetta 2 and Open Anyway.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 question after session 14: why exactly 16-19?
Point out: the RP2040 datasheet calls them RX / TX, not MISO / MOSI,
because the block can be master or slave.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reasoning as the whole pin map from session 12: defaults first,
then avoid collisions, then keep wiring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PL022 with SPH = 0 (mode 0) toggles CSn between frames in continuous
transfers. Software CS avoids that and allows several devices.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tool handed over before the need is felt is a tool nobody uses.
The need: session 14, SPI wiring errors produce no error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Tested on the instructor Mac: PulseView 0.4.2 dmg from sigrok.org,
Privacy &amp; Security -&gt; Open Anyway, driver fx2lafw, Scan. Runs under
Rosetta 2 on Apple Silicon. USB-C-only Macs need an adapter.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FX2 sends one byte per sample for channels D0-D7, so disabling
channels does not lower the USB load. Lower the signal rate instead.
Check the maximum stable rate on both station laptops before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 on the projector with the instructor station before the
pairs start. Save a capture as .sr and reopen it to show that files
can be shared and decoded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Wire the harness once per station and leave it on for the whole session.
Same pins as the Pico pin map settled in session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frame from the session 12 slide, now measured.
Serial on USB cannot be captured - that is why the demo also prints
the same line on Serial1 (GP0).
Ask: why is the first falling edge a good trigger? (idle is high)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capture from the instructor bench: AHT10 through Adafruit AHTX0,
1 MHz sample rate, D0/D1 = SDA/SCL here.
getEvent(): write AC 33 00, then read one status byte in a loop with
delay(10) while bit 7 (busy) is set, then read 6 bytes.
Conversion took about 50 ms here, faster than the 75 ms in the datasheet.
Ask: what happens if the sensor is unplugged during the loop?
(getStatus() returns 0xFF on error, busy bit set, the loop never ends.)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for the instructor: Arduino-Pico Wire.begin() also turns on the
RP2040 internal pull-ups (tens of kilo-ohms) on SDA and SCL, in addition
to any pull-ups on the module.
Students decode the 6 bytes by hand once: status, 20-bit RH, 20-bit T,
same shifts and masks as the session 13 lab.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taken from the library source: setBias(), setContrast(), function
set, display control, then display() pushes the splash image.
Same commands as the course init sequence, different order.
Reset the board with the capture armed to catch begin().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after session 14 ran short on library time.
Answer to Try it: the rectangle spans both banks and the union of the
columns, even if the two values are short - it is one rectangle.
Every drawPixel() grows the rectangle, even when the pixel does not
change. That is why the demo compares before it redraws.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method as the multimeter checks in session 3, one level up.
Everyone saves the known-good captures from part 3 as .sr files.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fill this in from their own known-good captures before the
lab, then check the values against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min. Answer key is in embedded-cpp-materials, solution/ only.
Flash: hold BOOTSEL, plug in, copy the .uf2 onto RPI-RP2.
After the lab, flash the demo again: pio run -t upload in demo/.
Debrief: each pair presents one file with the screenshot as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homework closes K4: three buses plus the RGB LED back on the Pico.
RGB on GP10 / 11 / 12, common anode to 3V3 OUT, as in the pin map.
Next: optional blocks from session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Analyzer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UART, I2C and SPI on the wire - and finding what is broken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Software Development in C/C++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Pico  |  PulseView + fx2lafw  |  Session 15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SPI0 sits on GP16-19, and what happens to the hardware CS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 capture: channels, sample rate, duration, trigger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UART, I2C and SPI traffic from your own board, with and without a decoder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a library does on the bus that its API hides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broken bus by evidence, not by guessing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68580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6858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Rule for 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did not capture it, you do not know 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Check: Session 14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2590800" cy="173736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Button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1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GP14, INPUT_PULLUP. Which debounce did you pick, and why?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188720"/>
            <a:ext cx="2590800" cy="173736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6600" y="141732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 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13760" y="1920240"/>
            <a:ext cx="231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two values redrawn each second. How did you avoid a full redraw?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188720"/>
            <a:ext cx="2590800" cy="173736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96000" y="141732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Screen 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33160" y="1920240"/>
            <a:ext cx="2316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= average of 5 readings, last 14, auto scale. Does the history keep filling on screen 1?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200400"/>
            <a:ext cx="64008" cy="77724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2735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PulseView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5478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Installed, device found? If not, we fix it at the break - not during the capture labs.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SPI0 Sits on GP16-19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from session 14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SPI0: Four Positions per Signal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SPI0 signal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RX (MISO)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TX (MOSI)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8803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signal can sit on any of its four GPIOs, and you may mix them: SCK on GP18 with TX on GP3 is legal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pinout looks like five groups only because GND pins split GP0-7 on the header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RP2040 datasheet, GPIO function table (F1 = SPI)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We Chose GP16-19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885950" cy="192024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Defaults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6116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Arduino-Pico puts SPI on GP16-19. No setRX() / setSCK() calls needed.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71750" y="1188720"/>
            <a:ext cx="1885950" cy="192024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71750" y="141732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collisions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708910" y="1920240"/>
            <a:ext cx="16116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GP0-1 carry UART0 and GP4-5 carry I2C0. The GP0-7 positions are taken.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86300" y="1188720"/>
            <a:ext cx="1885950" cy="192024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86300" y="141732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 the header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823460" y="1920240"/>
            <a:ext cx="16116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GP23 is not on the Pico header, so the GP20-23 set is incomplete.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00850" y="1188720"/>
            <a:ext cx="1885950" cy="192024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00850" y="1417320"/>
            <a:ext cx="18859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edge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938010" y="1920240"/>
            <a:ext cx="161163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GP16-21 sit together on one edge: SPI plus D/C and RST, short wires to the 5110.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Hardware CSn vs a GPIO as 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9377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 block (ARM PL022) has one CSn output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 0 it pulses CSn high between bytes - many devices do not accept that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drivers use any GPIO as CS: low for the whole transfer, one GPIO per device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CS is GP17, the CSn position, but the library drives it as a plain GPIO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143000"/>
          <a:ext cx="29260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Clip onto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9476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79476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 for it on the capture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41422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CS pulses: the library opens and closes CS for every command byte and for every data block.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Logic Analyzer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instrument for the bus that stays silent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Instruments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Oscilloscope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analyzer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value: V, ohm, beep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 over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/ 1 over 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2 - 4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(ours)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supply, pull-ups, shorts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edges, noise, levels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protocols, many lines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Blind 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anything fast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 sequences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voltages, slow edges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29184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3291840"/>
            <a:ext cx="64008" cy="7772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33649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debugging thread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6393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 Serial output  -&gt;  session 3 multimeter  -&gt;  session 11 timing in firmware  -&gt;  today the logic analyzer.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Analyzer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Cypress FX2LP clone: 8 channels, up to 24 MHz sample rate, USB 2.0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PulseView names it "Saleae Logic": the clone reuses Saleae's USB ID. We do not use Saleae software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connect PulseView loads the open fx2lafw firmware into the chip, which then re-enumerates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are for 3.3 V logic. A sample is only 0 or 1: you see levels, not voltages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GND first, then the signal clips. Without a shared ground the data is random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794760"/>
            <a:ext cx="64008" cy="7315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8679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Clip with USB unplugged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142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pins are 2.54 mm apart. One slipped clip can short 3V3 to a GPIO.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Rate and Duration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280160"/>
                <a:gridCol w="2286000"/>
                <a:gridCol w="1371600"/>
                <a:gridCol w="15544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 per bit at 1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24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 115200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8.68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 100 kHz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 4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0.25 - useless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MHz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514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at least 4 times faster than the fastest signal; 10 times is comfortable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= rate x time. 1 M samples is 1 s at 1 MHz but only 42 ms at 24 MHz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566160"/>
            <a:ext cx="8229600" cy="96012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566160"/>
            <a:ext cx="64008" cy="9601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6393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 MHz is the edge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391363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FX2 streams every sample over USB as it goes. If a 24 MHz capture aborts, cap the demo SPI clock with SPI_CLOCK_CAP_HZ = 1 MHz and sample at 8 MHz.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PulseView in Six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2590800" cy="1600200"/>
          </a:xfrm>
          <a:prstGeom prst="rect">
            <a:avLst/>
          </a:prstGeom>
          <a:solidFill>
            <a:srgbClr val="253270"/>
          </a:solidFill>
          <a:ln w="25400">
            <a:solidFill>
              <a:srgbClr val="CADCFC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3716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 Connect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fx2lafw, Scan, pick the device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76600" y="1143000"/>
            <a:ext cx="2590800" cy="160020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76600" y="13716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 Rate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13760" y="187452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 and sample count from the table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96000" y="1143000"/>
            <a:ext cx="2590800" cy="160020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96000" y="137160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 Channels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233160" y="187452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them (D0 TX, D1 SDA...), hide the unused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590800" cy="160020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31546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 Trigger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94360" y="365760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edge on the line that starts the event: TX, SDA, CS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76600" y="2926080"/>
            <a:ext cx="2590800" cy="160020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76600" y="31546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 Run, zoom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3413760" y="365760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Wheel zooms, drag pans, cursors measure time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96000" y="2926080"/>
            <a:ext cx="2590800" cy="160020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96000" y="3154680"/>
            <a:ext cx="259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  Decode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33160" y="3657600"/>
            <a:ext cx="2316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UART / I2C / SPI, map channels, set options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Probe Map for Today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66928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280160"/>
                <a:gridCol w="1188720"/>
                <a:gridCol w="1097280"/>
                <a:gridCol w="11887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Pico GPIO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UART0 TX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D/C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Nokia 5110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Nokia 5110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23 or 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143000"/>
            <a:ext cx="2286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harness, three buses. The demo uses all of them at once, so one capture can hold UART, I2C and SPI side by side.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Buses on the Wire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UART, I2C and SPI from your own board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UART: The 8N1 Frame, Measured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21792" y="149275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80160" y="204139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64158" y="1508760"/>
            <a:ext cx="32004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1399032"/>
            <a:ext cx="9144" cy="768096"/>
          </a:xfrm>
          <a:prstGeom prst="rect">
            <a:avLst/>
          </a:prstGeom>
          <a:solidFill>
            <a:srgbClr val="3A4A8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1671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938528" y="204139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938528" y="1399032"/>
            <a:ext cx="9144" cy="768096"/>
          </a:xfrm>
          <a:prstGeom prst="rect">
            <a:avLst/>
          </a:prstGeom>
          <a:solidFill>
            <a:srgbClr val="3A4A8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38528" y="21671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38528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96896" y="204139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96896" y="1399032"/>
            <a:ext cx="9144" cy="768096"/>
          </a:xfrm>
          <a:prstGeom prst="rect">
            <a:avLst/>
          </a:prstGeom>
          <a:solidFill>
            <a:srgbClr val="3A4A8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96896" y="21671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96896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55264" y="149275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39262" y="1508760"/>
            <a:ext cx="32004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55264" y="1399032"/>
            <a:ext cx="9144" cy="768096"/>
          </a:xfrm>
          <a:prstGeom prst="rect">
            <a:avLst/>
          </a:prstGeom>
          <a:solidFill>
            <a:srgbClr val="3A4A8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55264" y="21671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55264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913632" y="204139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97630" y="1508760"/>
            <a:ext cx="32004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13632" y="1399032"/>
            <a:ext cx="9144" cy="768096"/>
          </a:xfrm>
          <a:prstGeom prst="rect">
            <a:avLst/>
          </a:prstGeom>
          <a:solidFill>
            <a:srgbClr val="3A4A8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3632" y="21671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913632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149275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5998" y="1508760"/>
            <a:ext cx="32004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1399032"/>
            <a:ext cx="9144" cy="768096"/>
          </a:xfrm>
          <a:prstGeom prst="rect">
            <a:avLst/>
          </a:prstGeom>
          <a:solidFill>
            <a:srgbClr val="3A4A8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1671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30368" y="204139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14366" y="1508760"/>
            <a:ext cx="32004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230368" y="1399032"/>
            <a:ext cx="9144" cy="768096"/>
          </a:xfrm>
          <a:prstGeom prst="rect">
            <a:avLst/>
          </a:prstGeom>
          <a:solidFill>
            <a:srgbClr val="3A4A8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21671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30368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888736" y="149275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872734" y="1508760"/>
            <a:ext cx="32004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888736" y="1399032"/>
            <a:ext cx="9144" cy="768096"/>
          </a:xfrm>
          <a:prstGeom prst="rect">
            <a:avLst/>
          </a:prstGeom>
          <a:solidFill>
            <a:srgbClr val="3A4A8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88736" y="21671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888736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47104" y="204139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31102" y="1508760"/>
            <a:ext cx="32004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547104" y="1399032"/>
            <a:ext cx="9144" cy="768096"/>
          </a:xfrm>
          <a:prstGeom prst="rect">
            <a:avLst/>
          </a:prstGeom>
          <a:solidFill>
            <a:srgbClr val="3A4A8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47104" y="21671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47104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205472" y="149275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189470" y="1508760"/>
            <a:ext cx="32004" cy="5486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205472" y="1399032"/>
            <a:ext cx="9144" cy="768096"/>
          </a:xfrm>
          <a:prstGeom prst="rect">
            <a:avLst/>
          </a:prstGeom>
          <a:solidFill>
            <a:srgbClr val="3A4A8A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05472" y="21671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205472" y="116128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7863840" y="1492758"/>
            <a:ext cx="658368" cy="32004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1792" y="118872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'T' = 0x54 - the first byte of every demo line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7200" y="283464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 is high. Start bit low, 8 data bits LSB first, stop bit high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narrowest pulse: 8.68 us -&gt; 1 / 8.68 us = 115200 baud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needs the baud rate. When you do not know it, the capture tells you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D0 = TX (GP0), 2 MHz, trigger on the falling edge of D0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I2C: What the Library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5341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73362" y="36314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+ status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864305" y="3631420"/>
            <a:ext cx="31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busy, every 10 ms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36577" y="36314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+ 6 bytes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388620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3886200"/>
            <a:ext cx="64008" cy="73152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39593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50 ms inside getEvent()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42336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polls the busy bit every 10 ms; loop() is blocked meanwhile. Your session 13 Aht10 class does not block.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I2C: Inside One Transaction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474720"/>
                <a:gridCol w="310896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the wire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tells you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 falls while SCL is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transaction begins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+ R/W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0x38 + W is 0x70 on the wire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shows 0x38 in 7-bit mode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receiver holds SDA low on the 9th clock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the address: the device is there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bits MSB first, each with an 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33 00 = trigger a measurement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 leaves SDA high after the last byte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at the end of a 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SDA rises while SCL is 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bus is free again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Capture: D1 = SDA (GP4), D2 = SCL (GP5), 2 MHz, trigger on the falling edge of SDA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 into the trigger write. Then into the 6-byte read: find the status byte and its busy bit.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SPI: Commands and Data on the 5110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 SCK, D4 MOSI, D5 CS, D6 D/C. 24 MHz, trigger on the falling edge of CS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Decoder: SPI, mode 0 (CPOL 0, CPHA 0), MSB first, CS active low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MISO on the 5110: leave it unassigned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decoder does not know D/C. Read it off the trace: low = command, high = data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80560" y="1051560"/>
            <a:ext cx="420624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3A4A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143000"/>
            <a:ext cx="398678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D/C   bytes          meaning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  21 14 20       ext, bias 4, basic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  21 80|vop 20   ext, Vop, basic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  20 0C          basic, normal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  40 80          bank 0, X = 0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  84 bytes       bank 0 columns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           banks 1 .. 5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A8D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  40             one more Set 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80560" y="347472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begin() in Adafruit PCD8544, as seen on the wire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Dirty Rectangle, Visible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280160"/>
                <a:gridCol w="201168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happened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Banks sent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bytes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clearDisplay(); display();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x 84 = 504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x (Set Y, Set X) + 1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value changed; display();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columns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Y, Set X + 1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nothing changed; display();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(the final Set 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514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display() sends one rectangle: the changed columns, in every bank the change touches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Set Y has no data after it. The library source admits nobody knows why it is there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redraws a value only when it changes, so most seconds look like row 2 or row 3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3840480"/>
            <a:ext cx="64008" cy="73152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Try it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5800" y="41879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potentiometer while T is also changing. Two lines change - how many banks, and which columns?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48840"/>
            <a:ext cx="822960" cy="54864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74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97280" y="22402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097280" y="3063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first, conclusion second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Method, Not a Guess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463040" cy="21031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Symptom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user see? Write it down.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148840" y="1188720"/>
            <a:ext cx="1463040" cy="21031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14884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Hypothesis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286000" y="19202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bus, which part of it?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1188720"/>
            <a:ext cx="1463040" cy="21031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4048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Capture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977640" y="19202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lines that test the hypothesis.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32120" y="1188720"/>
            <a:ext cx="1463040" cy="2103120"/>
          </a:xfrm>
          <a:prstGeom prst="rect">
            <a:avLst/>
          </a:prstGeom>
          <a:solidFill>
            <a:srgbClr val="253270"/>
          </a:solidFill>
          <a:ln w="12700">
            <a:solidFill>
              <a:srgbClr val="3A4A8A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53212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Compare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69280" y="19202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a known-good capture.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1188720"/>
            <a:ext cx="1463040" cy="2103120"/>
          </a:xfrm>
          <a:prstGeom prst="rect">
            <a:avLst/>
          </a:prstGeom>
          <a:solidFill>
            <a:srgbClr val="253270"/>
          </a:solidFill>
          <a:ln w="25400">
            <a:solidFill>
              <a:srgbClr val="4CAF5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223760" y="1417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 Conclude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60920" y="1920240"/>
            <a:ext cx="1188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at the samples that prove it.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8229600" cy="822960"/>
          </a:xfrm>
          <a:prstGeom prst="rect">
            <a:avLst/>
          </a:prstGeom>
          <a:solidFill>
            <a:srgbClr val="25327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611880"/>
            <a:ext cx="64008" cy="82296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36850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Known-good first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5800" y="395935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working demo before you touch a broken board. Without a reference every trace looks suspicious.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Good Looks Like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29184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Known-good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 when idle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of one bit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8.68 us (115200 baud)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I2C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9th clock after the address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ACK: SDA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SCK when idle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(mode 0)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MOSI changes 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falling SCK; sampled on rising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around each byte or block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bytes after reset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21 14 20 21 ...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27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Lab: Mystery Firmware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files in lab/: mystery-A.uf2 to mystery-D.uf2. Same wiring as the demo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comes with a bug report from a user (lab/README.md)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file is broken. The firmware will not tell you which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Pairs, two analyzer stations, about 8 minutes per file</a:t>
            </a:r>
            <a:endParaRPr lang="en-US" sz="15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file: symptom, hypothesis, capture settings, evidence, conclusion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8229600" cy="777240"/>
          </a:xfrm>
          <a:prstGeom prst="rect">
            <a:avLst/>
          </a:prstGeom>
          <a:solidFill>
            <a:srgbClr val="253270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429000"/>
            <a:ext cx="64008" cy="777240"/>
          </a:xfrm>
          <a:prstGeom prst="rect">
            <a:avLst/>
          </a:prstGeom>
          <a:solidFill>
            <a:srgbClr val="FF525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5021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accepted as proof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77647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guess from the symptom, a hex editor, or "it works now". The proof is a capture you can point at.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005840" cy="3200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15  |  Logic Analyzer and Bus Diagnosis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SPI0 on GP16-19: library defaults, no collisions, one edge. CS is a plain GPIO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4 - 10 times faster than the bit rate. Samples = rate x time. Trigger on the event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UART: measure one bit. I2C: look for the ACK. SPI: mode, CS and D/C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 hide polling, blocking and extra commands. The analyzer shows them</a:t>
            </a:r>
            <a:endParaRPr lang="en-US" sz="1400" dirty="0"/>
          </a:p>
          <a:p>
            <a:pPr marL="342900" indent="-342900">
              <a:lnSpc>
                <a:spcPct val="135000"/>
              </a:lnSpc>
              <a:buSzPct val="100000"/>
              <a:buChar char="■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K4 is done: timers, UART, I2C, SPI, and a tool to see all of them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solidFill>
            <a:srgbClr val="25327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657600"/>
            <a:ext cx="64008" cy="914400"/>
          </a:xfrm>
          <a:prstGeom prst="rect">
            <a:avLst/>
          </a:prstGeom>
          <a:solidFill>
            <a:srgbClr val="FFB30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373075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Homework: room thermostat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400507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the demo. Pot = setpoint, AHT10 = room, RGB LED = HEAT / OK / COOL with a +-0.5 C dead band, all on the 5110 and the UART line. Spec: homework/README.md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15 - Logic Analyzer and Bus Diagnosis</dc:title>
  <dc:subject>PptxGenJS Presentation</dc:subject>
  <dc:creator>Embedded Software Development in C/C++</dc:creator>
  <cp:lastModifiedBy>Embedded Software Development in C/C++</cp:lastModifiedBy>
  <cp:revision>1</cp:revision>
  <dcterms:created xsi:type="dcterms:W3CDTF">2026-10-19T13:09:12Z</dcterms:created>
  <dcterms:modified xsi:type="dcterms:W3CDTF">2026-10-19T13:09:12Z</dcterms:modified>
</cp:coreProperties>
</file>